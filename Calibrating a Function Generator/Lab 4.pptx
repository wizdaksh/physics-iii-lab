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73" r:id="rId7"/>
    <p:sldId id="274" r:id="rId8"/>
    <p:sldId id="275" r:id="rId9"/>
    <p:sldId id="276" r:id="rId10"/>
    <p:sldId id="278" r:id="rId11"/>
    <p:sldId id="277" r:id="rId12"/>
    <p:sldId id="279" r:id="rId13"/>
    <p:sldId id="28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22" autoAdjust="0"/>
    <p:restoredTop sz="96174"/>
  </p:normalViewPr>
  <p:slideViewPr>
    <p:cSldViewPr snapToGrid="0">
      <p:cViewPr varScale="1">
        <p:scale>
          <a:sx n="118" d="100"/>
          <a:sy n="118" d="100"/>
        </p:scale>
        <p:origin x="114" y="7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4/5/2026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dirty="0"/>
              <a:t>Click to edit Master title style</a:t>
            </a:r>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4/5/2026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AD13-E6BC-79E6-F8E2-3F15168BE759}"/>
              </a:ext>
            </a:extLst>
          </p:cNvPr>
          <p:cNvSpPr>
            <a:spLocks noGrp="1"/>
          </p:cNvSpPr>
          <p:nvPr>
            <p:ph type="ctrTitle"/>
          </p:nvPr>
        </p:nvSpPr>
        <p:spPr/>
        <p:txBody>
          <a:bodyPr>
            <a:normAutofit/>
          </a:bodyPr>
          <a:lstStyle/>
          <a:p>
            <a:r>
              <a:rPr lang="en-US" sz="4400" dirty="0"/>
              <a:t>Lab 4</a:t>
            </a:r>
            <a:br>
              <a:rPr lang="en-US" sz="4400" dirty="0"/>
            </a:br>
            <a:r>
              <a:rPr lang="en-US" sz="4400" dirty="0"/>
              <a:t>Calibrating a function generator</a:t>
            </a:r>
          </a:p>
        </p:txBody>
      </p:sp>
      <p:sp>
        <p:nvSpPr>
          <p:cNvPr id="3" name="Subtitle 2">
            <a:extLst>
              <a:ext uri="{FF2B5EF4-FFF2-40B4-BE49-F238E27FC236}">
                <a16:creationId xmlns:a16="http://schemas.microsoft.com/office/drawing/2014/main" id="{88F7CE5D-381D-9A2D-BABA-991516D7C183}"/>
              </a:ext>
            </a:extLst>
          </p:cNvPr>
          <p:cNvSpPr>
            <a:spLocks noGrp="1"/>
          </p:cNvSpPr>
          <p:nvPr>
            <p:ph type="subTitle" idx="1"/>
          </p:nvPr>
        </p:nvSpPr>
        <p:spPr/>
        <p:txBody>
          <a:bodyPr/>
          <a:lstStyle/>
          <a:p>
            <a:r>
              <a:rPr lang="en-US" dirty="0"/>
              <a:t>By Daksh Khandelwal</a:t>
            </a:r>
          </a:p>
        </p:txBody>
      </p:sp>
    </p:spTree>
    <p:extLst>
      <p:ext uri="{BB962C8B-B14F-4D97-AF65-F5344CB8AC3E}">
        <p14:creationId xmlns:p14="http://schemas.microsoft.com/office/powerpoint/2010/main" val="151686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F161A-66AC-63FC-0CAE-32A661A1D5B2}"/>
              </a:ext>
            </a:extLst>
          </p:cNvPr>
          <p:cNvSpPr>
            <a:spLocks noGrp="1"/>
          </p:cNvSpPr>
          <p:nvPr>
            <p:ph type="title"/>
          </p:nvPr>
        </p:nvSpPr>
        <p:spPr/>
        <p:txBody>
          <a:bodyPr/>
          <a:lstStyle/>
          <a:p>
            <a:r>
              <a:rPr lang="en-US" dirty="0"/>
              <a:t>Objective and Experiment</a:t>
            </a:r>
          </a:p>
        </p:txBody>
      </p:sp>
      <p:sp>
        <p:nvSpPr>
          <p:cNvPr id="3" name="Content Placeholder 2">
            <a:extLst>
              <a:ext uri="{FF2B5EF4-FFF2-40B4-BE49-F238E27FC236}">
                <a16:creationId xmlns:a16="http://schemas.microsoft.com/office/drawing/2014/main" id="{B1C92ABD-1612-B5F6-F88B-704DDB50E916}"/>
              </a:ext>
            </a:extLst>
          </p:cNvPr>
          <p:cNvSpPr>
            <a:spLocks noGrp="1"/>
          </p:cNvSpPr>
          <p:nvPr>
            <p:ph sz="quarter" idx="13"/>
          </p:nvPr>
        </p:nvSpPr>
        <p:spPr/>
        <p:txBody>
          <a:bodyPr>
            <a:normAutofit/>
          </a:bodyPr>
          <a:lstStyle/>
          <a:p>
            <a:pPr marL="0" indent="0">
              <a:buNone/>
            </a:pPr>
            <a:r>
              <a:rPr lang="en-US" cap="none" dirty="0"/>
              <a:t>Objective - To determine the accuracy of a BK precision 4011A function generator across multiple frequency ranges.</a:t>
            </a:r>
          </a:p>
          <a:p>
            <a:pPr marL="0" indent="0">
              <a:buNone/>
            </a:pPr>
            <a:r>
              <a:rPr lang="en-US" cap="none" dirty="0"/>
              <a:t>Experiment - generate 1 </a:t>
            </a:r>
            <a:r>
              <a:rPr lang="en-US" cap="none" dirty="0" err="1"/>
              <a:t>khz</a:t>
            </a:r>
            <a:r>
              <a:rPr lang="en-US" cap="none" dirty="0"/>
              <a:t> and 5 </a:t>
            </a:r>
            <a:r>
              <a:rPr lang="en-US" cap="none" dirty="0" err="1"/>
              <a:t>khz</a:t>
            </a:r>
            <a:r>
              <a:rPr lang="en-US" cap="none" dirty="0"/>
              <a:t> sine waves.</a:t>
            </a:r>
          </a:p>
          <a:p>
            <a:r>
              <a:rPr lang="en-US" cap="none" dirty="0"/>
              <a:t>Compare two measurement techniques:</a:t>
            </a:r>
          </a:p>
          <a:p>
            <a:pPr marL="457200" indent="-457200">
              <a:buFont typeface="+mj-lt"/>
              <a:buAutoNum type="arabicPeriod"/>
            </a:pPr>
            <a:r>
              <a:rPr lang="en-US" cap="none" dirty="0"/>
              <a:t>The </a:t>
            </a:r>
            <a:r>
              <a:rPr lang="en-US" cap="none" dirty="0" err="1"/>
              <a:t>tektronix</a:t>
            </a:r>
            <a:r>
              <a:rPr lang="en-US" cap="none" dirty="0"/>
              <a:t> oscilloscope's built-in, real-time FFT.</a:t>
            </a:r>
          </a:p>
          <a:p>
            <a:pPr marL="457200" indent="-457200">
              <a:buFont typeface="+mj-lt"/>
              <a:buAutoNum type="arabicPeriod"/>
            </a:pPr>
            <a:r>
              <a:rPr lang="en-US" cap="none" dirty="0"/>
              <a:t>An offline </a:t>
            </a:r>
            <a:r>
              <a:rPr lang="en-US" cap="none" dirty="0" err="1"/>
              <a:t>fft</a:t>
            </a:r>
            <a:r>
              <a:rPr lang="en-US" cap="none" dirty="0"/>
              <a:t> calculated in python using the oscilloscope's raw time-domain data.</a:t>
            </a:r>
          </a:p>
        </p:txBody>
      </p:sp>
    </p:spTree>
    <p:extLst>
      <p:ext uri="{BB962C8B-B14F-4D97-AF65-F5344CB8AC3E}">
        <p14:creationId xmlns:p14="http://schemas.microsoft.com/office/powerpoint/2010/main" val="914678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E607C4-A0A1-44FA-981D-EA3B81396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AF74D49-0368-3EC7-FD96-08A591C381D4}"/>
              </a:ext>
            </a:extLst>
          </p:cNvPr>
          <p:cNvPicPr>
            <a:picLocks noChangeAspect="1"/>
          </p:cNvPicPr>
          <p:nvPr/>
        </p:nvPicPr>
        <p:blipFill>
          <a:blip r:embed="rId2"/>
          <a:stretch>
            <a:fillRect/>
          </a:stretch>
        </p:blipFill>
        <p:spPr>
          <a:xfrm>
            <a:off x="1187570" y="643466"/>
            <a:ext cx="9816860" cy="5571067"/>
          </a:xfrm>
          <a:prstGeom prst="rect">
            <a:avLst/>
          </a:prstGeom>
        </p:spPr>
      </p:pic>
      <p:pic>
        <p:nvPicPr>
          <p:cNvPr id="9" name="Picture 8">
            <a:extLst>
              <a:ext uri="{FF2B5EF4-FFF2-40B4-BE49-F238E27FC236}">
                <a16:creationId xmlns:a16="http://schemas.microsoft.com/office/drawing/2014/main" id="{08D97526-B9D9-4257-B6A9-9D798897492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19704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55185833-50A1-4075-9C90-F6E7B153AEE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680F41EF-72A4-4DA7-9DEB-C487B2512FB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7" name="Rectangle 16">
            <a:extLst>
              <a:ext uri="{FF2B5EF4-FFF2-40B4-BE49-F238E27FC236}">
                <a16:creationId xmlns:a16="http://schemas.microsoft.com/office/drawing/2014/main" id="{CE194D91-9FD4-4CB4-AD8E-C842798FF2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a:extLst>
              <a:ext uri="{FF2B5EF4-FFF2-40B4-BE49-F238E27FC236}">
                <a16:creationId xmlns:a16="http://schemas.microsoft.com/office/drawing/2014/main" id="{287B275B-62BF-40C0-95BA-606F0ACCA8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a:extLst>
              <a:ext uri="{FF2B5EF4-FFF2-40B4-BE49-F238E27FC236}">
                <a16:creationId xmlns:a16="http://schemas.microsoft.com/office/drawing/2014/main" id="{49D833E3-EE81-BC31-C646-E0A9F9C85976}"/>
              </a:ext>
            </a:extLst>
          </p:cNvPr>
          <p:cNvPicPr>
            <a:picLocks noChangeAspect="1"/>
          </p:cNvPicPr>
          <p:nvPr/>
        </p:nvPicPr>
        <p:blipFill>
          <a:blip r:embed="rId4"/>
          <a:srcRect l="212" r="2" b="2"/>
          <a:stretch>
            <a:fillRect/>
          </a:stretch>
        </p:blipFill>
        <p:spPr>
          <a:xfrm>
            <a:off x="1" y="10"/>
            <a:ext cx="7479157" cy="3428987"/>
          </a:xfrm>
          <a:prstGeom prst="rect">
            <a:avLst/>
          </a:prstGeom>
        </p:spPr>
      </p:pic>
      <p:cxnSp>
        <p:nvCxnSpPr>
          <p:cNvPr id="21" name="Straight Connector 20">
            <a:extLst>
              <a:ext uri="{FF2B5EF4-FFF2-40B4-BE49-F238E27FC236}">
                <a16:creationId xmlns:a16="http://schemas.microsoft.com/office/drawing/2014/main" id="{2DDE8805-3EA4-4406-A843-10FB62D154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020" y="3429000"/>
            <a:ext cx="7421138" cy="1"/>
          </a:xfrm>
          <a:prstGeom prst="line">
            <a:avLst/>
          </a:prstGeom>
          <a:ln w="82550" cap="sq">
            <a:solidFill>
              <a:srgbClr val="D9D9D9"/>
            </a:solidFill>
            <a:miter lim="800000"/>
          </a:ln>
          <a:scene3d>
            <a:camera prst="orthographicFront"/>
            <a:lightRig rig="threePt" dir="t">
              <a:rot lat="0" lon="0" rev="2700000"/>
            </a:lightRig>
          </a:scene3d>
          <a:sp3d contourW="6350">
            <a:bevelT h="38100"/>
            <a:contourClr>
              <a:srgbClr val="BFBFBF"/>
            </a:contourClr>
          </a:sp3d>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0F72099E-AFE3-450F-AC2A-7A52DE354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791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F2BC5777-6C9B-4A78-9BA6-92FA4E86BD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6CCA8FB9-9207-C3A5-BB62-7BF10767D273}"/>
              </a:ext>
            </a:extLst>
          </p:cNvPr>
          <p:cNvPicPr>
            <a:picLocks noGrp="1" noChangeAspect="1"/>
          </p:cNvPicPr>
          <p:nvPr>
            <p:ph sz="quarter" idx="14"/>
          </p:nvPr>
        </p:nvPicPr>
        <p:blipFill>
          <a:blip r:embed="rId5"/>
          <a:srcRect t="7379" r="1" b="1"/>
          <a:stretch>
            <a:fillRect/>
          </a:stretch>
        </p:blipFill>
        <p:spPr>
          <a:xfrm>
            <a:off x="1" y="3428998"/>
            <a:ext cx="7479157" cy="3429001"/>
          </a:xfrm>
          <a:prstGeom prst="rect">
            <a:avLst/>
          </a:prstGeom>
        </p:spPr>
      </p:pic>
      <p:sp>
        <p:nvSpPr>
          <p:cNvPr id="12" name="Content Placeholder 9">
            <a:extLst>
              <a:ext uri="{FF2B5EF4-FFF2-40B4-BE49-F238E27FC236}">
                <a16:creationId xmlns:a16="http://schemas.microsoft.com/office/drawing/2014/main" id="{925DD205-B049-BC6B-8ABC-028F02083494}"/>
              </a:ext>
            </a:extLst>
          </p:cNvPr>
          <p:cNvSpPr>
            <a:spLocks noGrp="1"/>
          </p:cNvSpPr>
          <p:nvPr>
            <p:ph sz="quarter" idx="13"/>
          </p:nvPr>
        </p:nvSpPr>
        <p:spPr>
          <a:xfrm>
            <a:off x="8138959" y="4165601"/>
            <a:ext cx="2984327" cy="789172"/>
          </a:xfrm>
        </p:spPr>
        <p:txBody>
          <a:bodyPr vert="horz" lIns="91440" tIns="45720" rIns="91440" bIns="45720" rtlCol="0">
            <a:normAutofit/>
          </a:bodyPr>
          <a:lstStyle/>
          <a:p>
            <a:pPr marL="0" indent="0" algn="ctr">
              <a:lnSpc>
                <a:spcPct val="110000"/>
              </a:lnSpc>
              <a:buNone/>
            </a:pPr>
            <a:r>
              <a:rPr lang="en-US" sz="1200" dirty="0">
                <a:solidFill>
                  <a:schemeClr val="bg1">
                    <a:lumMod val="50000"/>
                  </a:schemeClr>
                </a:solidFill>
              </a:rPr>
              <a:t>The raw data from the oscilloscope measures harmonics for the 1 kHz sinewave. </a:t>
            </a:r>
          </a:p>
        </p:txBody>
      </p:sp>
      <p:sp>
        <p:nvSpPr>
          <p:cNvPr id="14" name="Title 1">
            <a:extLst>
              <a:ext uri="{FF2B5EF4-FFF2-40B4-BE49-F238E27FC236}">
                <a16:creationId xmlns:a16="http://schemas.microsoft.com/office/drawing/2014/main" id="{3D2C548E-C503-5701-0487-86D2A950D668}"/>
              </a:ext>
            </a:extLst>
          </p:cNvPr>
          <p:cNvSpPr>
            <a:spLocks noGrp="1"/>
          </p:cNvSpPr>
          <p:nvPr>
            <p:ph type="title"/>
          </p:nvPr>
        </p:nvSpPr>
        <p:spPr>
          <a:xfrm>
            <a:off x="8044674" y="1358901"/>
            <a:ext cx="3172899" cy="2730498"/>
          </a:xfrm>
        </p:spPr>
        <p:txBody>
          <a:bodyPr vert="horz" lIns="91440" tIns="45720" rIns="91440" bIns="45720" rtlCol="0" anchor="b">
            <a:normAutofit/>
          </a:bodyPr>
          <a:lstStyle/>
          <a:p>
            <a:r>
              <a:rPr lang="en-US" sz="4100" dirty="0" err="1"/>
              <a:t>Oscillicope</a:t>
            </a:r>
            <a:r>
              <a:rPr lang="en-US" sz="4100" dirty="0"/>
              <a:t> Data</a:t>
            </a:r>
          </a:p>
        </p:txBody>
      </p:sp>
    </p:spTree>
    <p:extLst>
      <p:ext uri="{BB962C8B-B14F-4D97-AF65-F5344CB8AC3E}">
        <p14:creationId xmlns:p14="http://schemas.microsoft.com/office/powerpoint/2010/main" val="335111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14"/>
                                        </p:tgtEl>
                                        <p:attrNameLst>
                                          <p:attrName>style.visibility</p:attrName>
                                        </p:attrNameLst>
                                      </p:cBhvr>
                                      <p:to>
                                        <p:strVal val="visible"/>
                                      </p:to>
                                    </p:set>
                                    <p:animEffect transition="in" filter="fade">
                                      <p:cBhvr>
                                        <p:cTn id="7" dur="7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14C0A1B0-05CB-92C6-0AEC-096C09F5B887}"/>
            </a:ext>
          </a:extLst>
        </p:cNvPr>
        <p:cNvGrpSpPr/>
        <p:nvPr/>
      </p:nvGrpSpPr>
      <p:grpSpPr>
        <a:xfrm>
          <a:off x="0" y="0"/>
          <a:ext cx="0" cy="0"/>
          <a:chOff x="0" y="0"/>
          <a:chExt cx="0" cy="0"/>
        </a:xfrm>
      </p:grpSpPr>
      <p:pic>
        <p:nvPicPr>
          <p:cNvPr id="30" name="Picture 2">
            <a:extLst>
              <a:ext uri="{FF2B5EF4-FFF2-40B4-BE49-F238E27FC236}">
                <a16:creationId xmlns:a16="http://schemas.microsoft.com/office/drawing/2014/main" id="{55185833-50A1-4075-9C90-F6E7B153AEE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D48F57D9-4797-4D7F-B4C3-17628994F2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34" name="Rectangle 33">
            <a:extLst>
              <a:ext uri="{FF2B5EF4-FFF2-40B4-BE49-F238E27FC236}">
                <a16:creationId xmlns:a16="http://schemas.microsoft.com/office/drawing/2014/main" id="{AE1E30F6-6AE7-4446-BEE0-9C043F3E81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2">
            <a:extLst>
              <a:ext uri="{FF2B5EF4-FFF2-40B4-BE49-F238E27FC236}">
                <a16:creationId xmlns:a16="http://schemas.microsoft.com/office/drawing/2014/main" id="{0F3DD082-FB03-4B74-A3BC-640E042E95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1" name="Content Placeholder 10">
            <a:extLst>
              <a:ext uri="{FF2B5EF4-FFF2-40B4-BE49-F238E27FC236}">
                <a16:creationId xmlns:a16="http://schemas.microsoft.com/office/drawing/2014/main" id="{597F61D8-0CEB-6406-7E1E-BE3C94B8291C}"/>
              </a:ext>
            </a:extLst>
          </p:cNvPr>
          <p:cNvPicPr>
            <a:picLocks noGrp="1" noChangeAspect="1"/>
          </p:cNvPicPr>
          <p:nvPr>
            <p:ph sz="quarter" idx="14"/>
          </p:nvPr>
        </p:nvPicPr>
        <p:blipFill>
          <a:blip r:embed="rId4"/>
          <a:srcRect l="8" r="35" b="-1"/>
          <a:stretch>
            <a:fillRect/>
          </a:stretch>
        </p:blipFill>
        <p:spPr>
          <a:xfrm>
            <a:off x="-23293" y="3429013"/>
            <a:ext cx="6924201" cy="3428988"/>
          </a:xfrm>
          <a:prstGeom prst="rect">
            <a:avLst/>
          </a:prstGeom>
        </p:spPr>
      </p:pic>
      <p:pic>
        <p:nvPicPr>
          <p:cNvPr id="4" name="Picture 3">
            <a:extLst>
              <a:ext uri="{FF2B5EF4-FFF2-40B4-BE49-F238E27FC236}">
                <a16:creationId xmlns:a16="http://schemas.microsoft.com/office/drawing/2014/main" id="{264AC623-09F5-E565-BC93-C816EDB31101}"/>
              </a:ext>
            </a:extLst>
          </p:cNvPr>
          <p:cNvPicPr>
            <a:picLocks noChangeAspect="1"/>
          </p:cNvPicPr>
          <p:nvPr/>
        </p:nvPicPr>
        <p:blipFill>
          <a:blip r:embed="rId5"/>
          <a:srcRect l="7617" r="2" b="2"/>
          <a:stretch>
            <a:fillRect/>
          </a:stretch>
        </p:blipFill>
        <p:spPr>
          <a:xfrm>
            <a:off x="4429" y="-12"/>
            <a:ext cx="6924201" cy="3428998"/>
          </a:xfrm>
          <a:prstGeom prst="rect">
            <a:avLst/>
          </a:prstGeom>
        </p:spPr>
      </p:pic>
      <p:cxnSp>
        <p:nvCxnSpPr>
          <p:cNvPr id="38" name="Straight Connector 37">
            <a:extLst>
              <a:ext uri="{FF2B5EF4-FFF2-40B4-BE49-F238E27FC236}">
                <a16:creationId xmlns:a16="http://schemas.microsoft.com/office/drawing/2014/main" id="{41B910EF-CAAD-4AB5-BF50-FE7BE2F758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5" idx="1"/>
          </p:cNvCxnSpPr>
          <p:nvPr>
            <p:extLst>
              <p:ext uri="{386F3935-93C4-4BCD-93E2-E3B085C9AB24}">
                <p16:designElem xmlns:p16="http://schemas.microsoft.com/office/powerpoint/2015/main" val="1"/>
              </p:ext>
            </p:extLst>
          </p:nvPr>
        </p:nvCxnSpPr>
        <p:spPr>
          <a:xfrm flipV="1">
            <a:off x="58020" y="3428999"/>
            <a:ext cx="6875041" cy="1"/>
          </a:xfrm>
          <a:prstGeom prst="line">
            <a:avLst/>
          </a:prstGeom>
          <a:ln w="82550" cap="sq">
            <a:solidFill>
              <a:srgbClr val="D9D9D9"/>
            </a:solidFill>
            <a:miter lim="800000"/>
          </a:ln>
          <a:scene3d>
            <a:camera prst="orthographicFront"/>
            <a:lightRig rig="threePt" dir="t">
              <a:rot lat="0" lon="0" rev="2700000"/>
            </a:lightRig>
          </a:scene3d>
          <a:sp3d contourW="6350">
            <a:bevelT h="38100"/>
            <a:contourClr>
              <a:srgbClr val="BFBFBF"/>
            </a:contourClr>
          </a:sp3d>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817FF20-BB02-4829-AEDE-9BC028BCA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3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FA61E02E-DFEB-4F7B-9F98-6154C738F9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8860" y="0"/>
            <a:ext cx="12192000" cy="6858000"/>
          </a:xfrm>
          <a:prstGeom prst="rect">
            <a:avLst/>
          </a:prstGeom>
        </p:spPr>
      </p:pic>
      <p:sp>
        <p:nvSpPr>
          <p:cNvPr id="10" name="Content Placeholder 9">
            <a:extLst>
              <a:ext uri="{FF2B5EF4-FFF2-40B4-BE49-F238E27FC236}">
                <a16:creationId xmlns:a16="http://schemas.microsoft.com/office/drawing/2014/main" id="{ABD02EA8-C3B8-34E6-EB55-A8F204B53921}"/>
              </a:ext>
            </a:extLst>
          </p:cNvPr>
          <p:cNvSpPr>
            <a:spLocks noGrp="1"/>
          </p:cNvSpPr>
          <p:nvPr>
            <p:ph sz="quarter" idx="13"/>
          </p:nvPr>
        </p:nvSpPr>
        <p:spPr>
          <a:xfrm>
            <a:off x="8138959" y="4165601"/>
            <a:ext cx="2984327" cy="789172"/>
          </a:xfrm>
        </p:spPr>
        <p:txBody>
          <a:bodyPr vert="horz" lIns="91440" tIns="45720" rIns="91440" bIns="45720" rtlCol="0">
            <a:normAutofit/>
          </a:bodyPr>
          <a:lstStyle/>
          <a:p>
            <a:pPr marL="0" indent="0" algn="ctr">
              <a:lnSpc>
                <a:spcPct val="110000"/>
              </a:lnSpc>
              <a:buNone/>
            </a:pPr>
            <a:r>
              <a:rPr lang="en-US" sz="1200" dirty="0">
                <a:solidFill>
                  <a:schemeClr val="bg1">
                    <a:lumMod val="50000"/>
                  </a:schemeClr>
                </a:solidFill>
              </a:rPr>
              <a:t>The raw data from the oscilloscope measures harmonics for the 5 kHz sinewave. </a:t>
            </a:r>
          </a:p>
        </p:txBody>
      </p:sp>
      <p:sp>
        <p:nvSpPr>
          <p:cNvPr id="2" name="Title 1">
            <a:extLst>
              <a:ext uri="{FF2B5EF4-FFF2-40B4-BE49-F238E27FC236}">
                <a16:creationId xmlns:a16="http://schemas.microsoft.com/office/drawing/2014/main" id="{D4334D81-A7C9-794A-9502-F37E675A0B49}"/>
              </a:ext>
            </a:extLst>
          </p:cNvPr>
          <p:cNvSpPr>
            <a:spLocks noGrp="1"/>
          </p:cNvSpPr>
          <p:nvPr>
            <p:ph type="title"/>
          </p:nvPr>
        </p:nvSpPr>
        <p:spPr>
          <a:xfrm>
            <a:off x="8044674" y="1358901"/>
            <a:ext cx="3172899" cy="2730498"/>
          </a:xfrm>
        </p:spPr>
        <p:txBody>
          <a:bodyPr vert="horz" lIns="91440" tIns="45720" rIns="91440" bIns="45720" rtlCol="0" anchor="b">
            <a:normAutofit/>
          </a:bodyPr>
          <a:lstStyle/>
          <a:p>
            <a:r>
              <a:rPr lang="en-US" sz="4100" dirty="0" err="1"/>
              <a:t>Oscillicope</a:t>
            </a:r>
            <a:r>
              <a:rPr lang="en-US" sz="4100" dirty="0"/>
              <a:t> Data</a:t>
            </a:r>
          </a:p>
        </p:txBody>
      </p:sp>
    </p:spTree>
    <p:extLst>
      <p:ext uri="{BB962C8B-B14F-4D97-AF65-F5344CB8AC3E}">
        <p14:creationId xmlns:p14="http://schemas.microsoft.com/office/powerpoint/2010/main" val="71629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5BBB-A69C-D8B8-1F22-B30C256AB30F}"/>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dk1"/>
          </a:fontRef>
        </p:style>
        <p:txBody>
          <a:bodyPr/>
          <a:lstStyle/>
          <a:p>
            <a:r>
              <a:rPr lang="en-US" cap="none" dirty="0"/>
              <a:t>1 kHz Frequency Calibration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E10D356-2C1E-3510-18B8-A4A0DC658DAA}"/>
                  </a:ext>
                </a:extLst>
              </p:cNvPr>
              <p:cNvSpPr>
                <a:spLocks noGrp="1"/>
              </p:cNvSpPr>
              <p:nvPr>
                <p:ph sz="quarter" idx="13"/>
              </p:nvPr>
            </p:nvSpPr>
            <p:spPr/>
            <p:txBody>
              <a:bodyPr>
                <a:normAutofit/>
              </a:bodyPr>
              <a:lstStyle/>
              <a:p>
                <a:r>
                  <a:rPr lang="en-US" sz="1600" cap="none" dirty="0"/>
                  <a:t>Oscilloscope Built in FFT</a:t>
                </a:r>
              </a:p>
              <a:p>
                <a:pPr lvl="1">
                  <a:lnSpc>
                    <a:spcPct val="100000"/>
                  </a:lnSpc>
                </a:pPr>
                <a:r>
                  <a:rPr lang="en-US" sz="1400" cap="none" dirty="0"/>
                  <a:t>Expected: </a:t>
                </a:r>
                <a14:m>
                  <m:oMath xmlns:m="http://schemas.openxmlformats.org/officeDocument/2006/math">
                    <m:r>
                      <m:rPr>
                        <m:sty m:val="p"/>
                      </m:rPr>
                      <a:rPr lang="en-US" sz="1400" b="0" i="1" cap="none" smtClean="0">
                        <a:latin typeface="Cambria Math" panose="02040503050406030204" pitchFamily="18" charset="0"/>
                      </a:rPr>
                      <m:t>μ</m:t>
                    </m:r>
                    <m:r>
                      <a:rPr lang="en-US" sz="1400" b="0" i="1" cap="none" smtClean="0">
                        <a:latin typeface="Cambria Math" panose="02040503050406030204" pitchFamily="18" charset="0"/>
                      </a:rPr>
                      <m:t>=1000 </m:t>
                    </m:r>
                    <m:r>
                      <m:rPr>
                        <m:sty m:val="p"/>
                      </m:rPr>
                      <a:rPr lang="en-US" sz="1400" b="0" i="1" cap="none" smtClean="0">
                        <a:latin typeface="Cambria Math" panose="02040503050406030204" pitchFamily="18" charset="0"/>
                      </a:rPr>
                      <m:t>Hz</m:t>
                    </m:r>
                  </m:oMath>
                </a14:m>
                <a:endParaRPr lang="en-US" sz="1400" cap="none" dirty="0"/>
              </a:p>
              <a:p>
                <a:pPr lvl="1">
                  <a:lnSpc>
                    <a:spcPct val="100000"/>
                  </a:lnSpc>
                </a:pPr>
                <a:r>
                  <a:rPr lang="en-US" sz="1400" cap="none" dirty="0"/>
                  <a:t>Measured: </a:t>
                </a:r>
                <a14:m>
                  <m:oMath xmlns:m="http://schemas.openxmlformats.org/officeDocument/2006/math">
                    <m:r>
                      <m:rPr>
                        <m:sty m:val="p"/>
                      </m:rPr>
                      <a:rPr lang="en-US" sz="1400" b="0" i="1" cap="none" smtClean="0">
                        <a:latin typeface="Cambria Math" panose="02040503050406030204" pitchFamily="18" charset="0"/>
                      </a:rPr>
                      <m:t>z</m:t>
                    </m:r>
                    <m:r>
                      <a:rPr lang="en-US" sz="1400" b="0" i="1" cap="none" smtClean="0">
                        <a:latin typeface="Cambria Math" panose="02040503050406030204" pitchFamily="18" charset="0"/>
                      </a:rPr>
                      <m:t>=998.76 </m:t>
                    </m:r>
                    <m:r>
                      <m:rPr>
                        <m:sty m:val="p"/>
                      </m:rPr>
                      <a:rPr lang="en-US" sz="1400" b="0" i="1" cap="none" smtClean="0">
                        <a:latin typeface="Cambria Math" panose="02040503050406030204" pitchFamily="18" charset="0"/>
                      </a:rPr>
                      <m:t>Hz</m:t>
                    </m:r>
                  </m:oMath>
                </a14:m>
                <a:endParaRPr lang="en-US" sz="1400" cap="none" dirty="0"/>
              </a:p>
              <a:p>
                <a:pPr lvl="1">
                  <a:lnSpc>
                    <a:spcPct val="100000"/>
                  </a:lnSpc>
                </a:pPr>
                <a:r>
                  <a:rPr lang="en-US" sz="1400" cap="none" dirty="0"/>
                  <a:t>Uncertainty: </a:t>
                </a:r>
                <a14:m>
                  <m:oMath xmlns:m="http://schemas.openxmlformats.org/officeDocument/2006/math">
                    <m:sSub>
                      <m:sSubPr>
                        <m:ctrlPr>
                          <a:rPr lang="en-US" sz="1400" b="0" i="1" cap="none" smtClean="0">
                            <a:latin typeface="Cambria Math" panose="02040503050406030204" pitchFamily="18" charset="0"/>
                          </a:rPr>
                        </m:ctrlPr>
                      </m:sSubPr>
                      <m:e>
                        <m:r>
                          <a:rPr lang="en-US" sz="1400" b="0" i="1" cap="none" smtClean="0">
                            <a:latin typeface="Cambria Math" panose="02040503050406030204" pitchFamily="18" charset="0"/>
                          </a:rPr>
                          <m:t>𝑠</m:t>
                        </m:r>
                      </m:e>
                      <m:sub>
                        <m:r>
                          <a:rPr lang="en-US" sz="1400" b="0" i="1" cap="none" smtClean="0">
                            <a:latin typeface="Cambria Math" panose="02040503050406030204" pitchFamily="18" charset="0"/>
                          </a:rPr>
                          <m:t>𝑧</m:t>
                        </m:r>
                      </m:sub>
                    </m:sSub>
                    <m:r>
                      <a:rPr lang="en-US" sz="1400" b="0" i="1" cap="none" smtClean="0">
                        <a:latin typeface="Cambria Math" panose="02040503050406030204" pitchFamily="18" charset="0"/>
                      </a:rPr>
                      <m:t>=12.33 </m:t>
                    </m:r>
                    <m:r>
                      <m:rPr>
                        <m:sty m:val="p"/>
                      </m:rPr>
                      <a:rPr lang="en-US" sz="1400" b="0" i="0" cap="none" smtClean="0">
                        <a:latin typeface="Cambria Math" panose="02040503050406030204" pitchFamily="18" charset="0"/>
                      </a:rPr>
                      <m:t>Hz</m:t>
                    </m:r>
                  </m:oMath>
                </a14:m>
                <a:endParaRPr lang="en-US" sz="1400" cap="none" dirty="0"/>
              </a:p>
              <a:p>
                <a:pPr lvl="1">
                  <a:lnSpc>
                    <a:spcPct val="100000"/>
                  </a:lnSpc>
                </a:pPr>
                <a14:m>
                  <m:oMath xmlns:m="http://schemas.openxmlformats.org/officeDocument/2006/math">
                    <m:r>
                      <a:rPr lang="en-US" sz="1400" i="1" cap="none" smtClean="0">
                        <a:latin typeface="Cambria Math" panose="02040503050406030204" pitchFamily="18" charset="0"/>
                      </a:rPr>
                      <m:t>𝑡</m:t>
                    </m:r>
                  </m:oMath>
                </a14:m>
                <a:r>
                  <a:rPr lang="en-US" sz="1400" cap="none" dirty="0"/>
                  <a:t>-value </a:t>
                </a:r>
                <a14:m>
                  <m:oMath xmlns:m="http://schemas.openxmlformats.org/officeDocument/2006/math">
                    <m:r>
                      <a:rPr lang="en-US" sz="1400" b="0" i="1" cap="none" smtClean="0">
                        <a:latin typeface="Cambria Math" panose="02040503050406030204" pitchFamily="18" charset="0"/>
                      </a:rPr>
                      <m:t>𝑡</m:t>
                    </m:r>
                    <m:r>
                      <a:rPr lang="en-US" sz="1400" b="0" i="1" cap="none" smtClean="0">
                        <a:latin typeface="Cambria Math" panose="02040503050406030204" pitchFamily="18" charset="0"/>
                      </a:rPr>
                      <m:t>=</m:t>
                    </m:r>
                    <m:f>
                      <m:fPr>
                        <m:ctrlPr>
                          <a:rPr lang="en-US" sz="1400" b="0" i="1" cap="none" smtClean="0">
                            <a:latin typeface="Cambria Math" panose="02040503050406030204" pitchFamily="18" charset="0"/>
                          </a:rPr>
                        </m:ctrlPr>
                      </m:fPr>
                      <m:num>
                        <m:d>
                          <m:dPr>
                            <m:begChr m:val="|"/>
                            <m:endChr m:val="|"/>
                            <m:ctrlPr>
                              <a:rPr lang="en-US" sz="1400" b="0" i="1" cap="none" smtClean="0">
                                <a:latin typeface="Cambria Math" panose="02040503050406030204" pitchFamily="18" charset="0"/>
                              </a:rPr>
                            </m:ctrlPr>
                          </m:dPr>
                          <m:e>
                            <m:r>
                              <a:rPr lang="en-US" sz="1400" b="0" i="1" cap="none" smtClean="0">
                                <a:latin typeface="Cambria Math" panose="02040503050406030204" pitchFamily="18" charset="0"/>
                              </a:rPr>
                              <m:t>1000.00−998.76</m:t>
                            </m:r>
                          </m:e>
                        </m:d>
                      </m:num>
                      <m:den>
                        <m:r>
                          <a:rPr lang="en-US" sz="1400" b="0" i="1" cap="none" smtClean="0">
                            <a:latin typeface="Cambria Math" panose="02040503050406030204" pitchFamily="18" charset="0"/>
                          </a:rPr>
                          <m:t>12.33</m:t>
                        </m:r>
                      </m:den>
                    </m:f>
                    <m:r>
                      <a:rPr lang="en-US" sz="1400" b="0" i="1" cap="none" smtClean="0">
                        <a:latin typeface="Cambria Math" panose="02040503050406030204" pitchFamily="18" charset="0"/>
                      </a:rPr>
                      <m:t>=0.101</m:t>
                    </m:r>
                  </m:oMath>
                </a14:m>
                <a:endParaRPr lang="en-US" sz="1400" cap="none" dirty="0"/>
              </a:p>
              <a:p>
                <a:r>
                  <a:rPr lang="en-US" sz="1600" b="0" cap="none" dirty="0"/>
                  <a:t>Python FFT</a:t>
                </a:r>
              </a:p>
              <a:p>
                <a:pPr lvl="1">
                  <a:lnSpc>
                    <a:spcPct val="100000"/>
                  </a:lnSpc>
                </a:pPr>
                <a:r>
                  <a:rPr lang="en-US" sz="1400" cap="none" dirty="0"/>
                  <a:t>Expected: </a:t>
                </a:r>
                <a14:m>
                  <m:oMath xmlns:m="http://schemas.openxmlformats.org/officeDocument/2006/math">
                    <m:r>
                      <m:rPr>
                        <m:sty m:val="p"/>
                      </m:rPr>
                      <a:rPr lang="en-US" sz="1400" i="1" cap="none">
                        <a:latin typeface="Cambria Math" panose="02040503050406030204" pitchFamily="18" charset="0"/>
                      </a:rPr>
                      <m:t>μ</m:t>
                    </m:r>
                    <m:r>
                      <a:rPr lang="en-US" sz="1400" i="1" cap="none">
                        <a:latin typeface="Cambria Math" panose="02040503050406030204" pitchFamily="18" charset="0"/>
                      </a:rPr>
                      <m:t>=1000 </m:t>
                    </m:r>
                    <m:r>
                      <m:rPr>
                        <m:sty m:val="p"/>
                      </m:rPr>
                      <a:rPr lang="en-US" sz="1400" i="1" cap="none">
                        <a:latin typeface="Cambria Math" panose="02040503050406030204" pitchFamily="18" charset="0"/>
                      </a:rPr>
                      <m:t>Hz</m:t>
                    </m:r>
                  </m:oMath>
                </a14:m>
                <a:endParaRPr lang="en-US" sz="1400" cap="none" dirty="0"/>
              </a:p>
              <a:p>
                <a:pPr lvl="1">
                  <a:lnSpc>
                    <a:spcPct val="100000"/>
                  </a:lnSpc>
                </a:pPr>
                <a:r>
                  <a:rPr lang="en-US" sz="1400" cap="none" dirty="0"/>
                  <a:t>Measured: </a:t>
                </a:r>
                <a14:m>
                  <m:oMath xmlns:m="http://schemas.openxmlformats.org/officeDocument/2006/math">
                    <m:r>
                      <m:rPr>
                        <m:sty m:val="p"/>
                      </m:rPr>
                      <a:rPr lang="en-US" sz="1400" i="1" cap="none">
                        <a:latin typeface="Cambria Math" panose="02040503050406030204" pitchFamily="18" charset="0"/>
                      </a:rPr>
                      <m:t>z</m:t>
                    </m:r>
                    <m:r>
                      <a:rPr lang="en-US" sz="1400" i="1" cap="none">
                        <a:latin typeface="Cambria Math" panose="02040503050406030204" pitchFamily="18" charset="0"/>
                      </a:rPr>
                      <m:t>=10</m:t>
                    </m:r>
                    <m:r>
                      <a:rPr lang="en-US" sz="1400" b="0" i="1" cap="none" smtClean="0">
                        <a:latin typeface="Cambria Math" panose="02040503050406030204" pitchFamily="18" charset="0"/>
                      </a:rPr>
                      <m:t>00 </m:t>
                    </m:r>
                    <m:r>
                      <m:rPr>
                        <m:sty m:val="p"/>
                      </m:rPr>
                      <a:rPr lang="en-US" sz="1400" i="1" cap="none">
                        <a:latin typeface="Cambria Math" panose="02040503050406030204" pitchFamily="18" charset="0"/>
                      </a:rPr>
                      <m:t>Hz</m:t>
                    </m:r>
                  </m:oMath>
                </a14:m>
                <a:endParaRPr lang="en-US" sz="1400" cap="none" dirty="0"/>
              </a:p>
              <a:p>
                <a:pPr lvl="1">
                  <a:lnSpc>
                    <a:spcPct val="100000"/>
                  </a:lnSpc>
                </a:pPr>
                <a:r>
                  <a:rPr lang="en-US" sz="1400" cap="none" dirty="0"/>
                  <a:t>Uncertainty: </a:t>
                </a:r>
                <a14:m>
                  <m:oMath xmlns:m="http://schemas.openxmlformats.org/officeDocument/2006/math">
                    <m:sSub>
                      <m:sSubPr>
                        <m:ctrlPr>
                          <a:rPr lang="en-US" sz="1400" i="1" cap="none">
                            <a:latin typeface="Cambria Math" panose="02040503050406030204" pitchFamily="18" charset="0"/>
                          </a:rPr>
                        </m:ctrlPr>
                      </m:sSubPr>
                      <m:e>
                        <m:r>
                          <a:rPr lang="en-US" sz="1400" i="1" cap="none">
                            <a:latin typeface="Cambria Math" panose="02040503050406030204" pitchFamily="18" charset="0"/>
                          </a:rPr>
                          <m:t>𝑠</m:t>
                        </m:r>
                      </m:e>
                      <m:sub>
                        <m:r>
                          <a:rPr lang="en-US" sz="1400" i="1" cap="none">
                            <a:latin typeface="Cambria Math" panose="02040503050406030204" pitchFamily="18" charset="0"/>
                          </a:rPr>
                          <m:t>𝑧</m:t>
                        </m:r>
                      </m:sub>
                    </m:sSub>
                    <m:r>
                      <a:rPr lang="en-US" sz="1400" i="1" cap="none">
                        <a:latin typeface="Cambria Math" panose="02040503050406030204" pitchFamily="18" charset="0"/>
                      </a:rPr>
                      <m:t>=</m:t>
                    </m:r>
                    <m:r>
                      <a:rPr lang="en-US" sz="1400" b="0" i="1" cap="none" smtClean="0">
                        <a:latin typeface="Cambria Math" panose="02040503050406030204" pitchFamily="18" charset="0"/>
                      </a:rPr>
                      <m:t>200</m:t>
                    </m:r>
                    <m:r>
                      <a:rPr lang="en-US" sz="1400" i="1" cap="none">
                        <a:latin typeface="Cambria Math" panose="02040503050406030204" pitchFamily="18" charset="0"/>
                      </a:rPr>
                      <m:t> </m:t>
                    </m:r>
                    <m:r>
                      <m:rPr>
                        <m:sty m:val="p"/>
                      </m:rPr>
                      <a:rPr lang="en-US" sz="1400" cap="none">
                        <a:latin typeface="Cambria Math" panose="02040503050406030204" pitchFamily="18" charset="0"/>
                      </a:rPr>
                      <m:t>Hz</m:t>
                    </m:r>
                  </m:oMath>
                </a14:m>
                <a:r>
                  <a:rPr lang="en-US" sz="1400" cap="none" dirty="0"/>
                  <a:t> (</a:t>
                </a:r>
                <a14:m>
                  <m:oMath xmlns:m="http://schemas.openxmlformats.org/officeDocument/2006/math">
                    <m:sSub>
                      <m:sSubPr>
                        <m:ctrlPr>
                          <a:rPr lang="en-US" sz="1400" b="0" i="1" cap="none" dirty="0" smtClean="0">
                            <a:latin typeface="Cambria Math" panose="02040503050406030204" pitchFamily="18" charset="0"/>
                          </a:rPr>
                        </m:ctrlPr>
                      </m:sSubPr>
                      <m:e>
                        <m:r>
                          <a:rPr lang="en-US" sz="1400" b="0" i="1" cap="none" dirty="0" smtClean="0">
                            <a:latin typeface="Cambria Math" panose="02040503050406030204" pitchFamily="18" charset="0"/>
                          </a:rPr>
                          <m:t>𝑓</m:t>
                        </m:r>
                      </m:e>
                      <m:sub>
                        <m:r>
                          <a:rPr lang="en-US" sz="1400" b="0" i="1" cap="none" dirty="0" smtClean="0">
                            <a:latin typeface="Cambria Math" panose="02040503050406030204" pitchFamily="18" charset="0"/>
                          </a:rPr>
                          <m:t>𝑠</m:t>
                        </m:r>
                      </m:sub>
                    </m:sSub>
                    <m:r>
                      <a:rPr lang="en-US" sz="1400" b="0" i="1" cap="none" dirty="0" smtClean="0">
                        <a:latin typeface="Cambria Math" panose="02040503050406030204" pitchFamily="18" charset="0"/>
                      </a:rPr>
                      <m:t>=500 </m:t>
                    </m:r>
                    <m:r>
                      <m:rPr>
                        <m:sty m:val="p"/>
                      </m:rPr>
                      <a:rPr lang="en-US" sz="1400" b="0" i="1" cap="none" dirty="0" smtClean="0">
                        <a:latin typeface="Cambria Math" panose="02040503050406030204" pitchFamily="18" charset="0"/>
                      </a:rPr>
                      <m:t>kHz</m:t>
                    </m:r>
                    <m:r>
                      <a:rPr lang="en-US" sz="1400" b="0" i="1" cap="none" dirty="0" smtClean="0">
                        <a:latin typeface="Cambria Math" panose="02040503050406030204" pitchFamily="18" charset="0"/>
                      </a:rPr>
                      <m:t>)</m:t>
                    </m:r>
                  </m:oMath>
                </a14:m>
                <a:endParaRPr lang="en-US" sz="1400" cap="none" dirty="0"/>
              </a:p>
              <a:p>
                <a:pPr lvl="1">
                  <a:lnSpc>
                    <a:spcPct val="100000"/>
                  </a:lnSpc>
                </a:pPr>
                <a14:m>
                  <m:oMath xmlns:m="http://schemas.openxmlformats.org/officeDocument/2006/math">
                    <m:r>
                      <a:rPr lang="en-US" sz="1400" i="1" cap="none">
                        <a:latin typeface="Cambria Math" panose="02040503050406030204" pitchFamily="18" charset="0"/>
                      </a:rPr>
                      <m:t>𝑡</m:t>
                    </m:r>
                  </m:oMath>
                </a14:m>
                <a:r>
                  <a:rPr lang="en-US" sz="1400" cap="none" dirty="0"/>
                  <a:t>-value </a:t>
                </a:r>
                <a14:m>
                  <m:oMath xmlns:m="http://schemas.openxmlformats.org/officeDocument/2006/math">
                    <m:r>
                      <a:rPr lang="en-US" sz="1400" i="1" cap="none">
                        <a:latin typeface="Cambria Math" panose="02040503050406030204" pitchFamily="18" charset="0"/>
                      </a:rPr>
                      <m:t>𝑡</m:t>
                    </m:r>
                    <m:r>
                      <a:rPr lang="en-US" sz="1400" i="1" cap="none">
                        <a:latin typeface="Cambria Math" panose="02040503050406030204" pitchFamily="18" charset="0"/>
                      </a:rPr>
                      <m:t>=</m:t>
                    </m:r>
                    <m:f>
                      <m:fPr>
                        <m:ctrlPr>
                          <a:rPr lang="en-US" sz="1400" i="1" cap="none">
                            <a:latin typeface="Cambria Math" panose="02040503050406030204" pitchFamily="18" charset="0"/>
                          </a:rPr>
                        </m:ctrlPr>
                      </m:fPr>
                      <m:num>
                        <m:d>
                          <m:dPr>
                            <m:begChr m:val="|"/>
                            <m:endChr m:val="|"/>
                            <m:ctrlPr>
                              <a:rPr lang="en-US" sz="1400" i="1" cap="none">
                                <a:latin typeface="Cambria Math" panose="02040503050406030204" pitchFamily="18" charset="0"/>
                              </a:rPr>
                            </m:ctrlPr>
                          </m:dPr>
                          <m:e>
                            <m:r>
                              <a:rPr lang="en-US" sz="1400" i="1" cap="none">
                                <a:latin typeface="Cambria Math" panose="02040503050406030204" pitchFamily="18" charset="0"/>
                              </a:rPr>
                              <m:t>1000.00−</m:t>
                            </m:r>
                            <m:r>
                              <a:rPr lang="en-US" sz="1400" b="0" i="1" cap="none" smtClean="0">
                                <a:latin typeface="Cambria Math" panose="02040503050406030204" pitchFamily="18" charset="0"/>
                              </a:rPr>
                              <m:t>1000.00</m:t>
                            </m:r>
                          </m:e>
                        </m:d>
                      </m:num>
                      <m:den>
                        <m:r>
                          <a:rPr lang="en-US" sz="1400" b="0" i="1" cap="none" smtClean="0">
                            <a:latin typeface="Cambria Math" panose="02040503050406030204" pitchFamily="18" charset="0"/>
                          </a:rPr>
                          <m:t>200</m:t>
                        </m:r>
                      </m:den>
                    </m:f>
                    <m:r>
                      <a:rPr lang="en-US" sz="1400" i="1" cap="none">
                        <a:latin typeface="Cambria Math" panose="02040503050406030204" pitchFamily="18" charset="0"/>
                      </a:rPr>
                      <m:t>=</m:t>
                    </m:r>
                    <m:r>
                      <a:rPr lang="en-US" sz="1400" b="0" i="1" cap="none" smtClean="0">
                        <a:latin typeface="Cambria Math" panose="02040503050406030204" pitchFamily="18" charset="0"/>
                      </a:rPr>
                      <m:t>0.000</m:t>
                    </m:r>
                  </m:oMath>
                </a14:m>
                <a:endParaRPr lang="en-US" sz="1400" b="0" cap="none" dirty="0"/>
              </a:p>
              <a:p>
                <a:pPr>
                  <a:lnSpc>
                    <a:spcPct val="100000"/>
                  </a:lnSpc>
                </a:pPr>
                <a:r>
                  <a:rPr lang="en-US" sz="1600" cap="none" dirty="0"/>
                  <a:t>Quadrature t-test:</a:t>
                </a:r>
              </a:p>
              <a:p>
                <a:pPr lvl="1">
                  <a:lnSpc>
                    <a:spcPct val="100000"/>
                  </a:lnSpc>
                </a:pPr>
                <a14:m>
                  <m:oMath xmlns:m="http://schemas.openxmlformats.org/officeDocument/2006/math">
                    <m:r>
                      <a:rPr lang="en-US" sz="1400" b="0" i="1" cap="none" smtClean="0">
                        <a:latin typeface="Cambria Math" panose="02040503050406030204" pitchFamily="18" charset="0"/>
                      </a:rPr>
                      <m:t>𝑡</m:t>
                    </m:r>
                    <m:r>
                      <a:rPr lang="en-US" sz="1400" b="0" i="1" cap="none" smtClean="0">
                        <a:latin typeface="Cambria Math" panose="02040503050406030204" pitchFamily="18" charset="0"/>
                      </a:rPr>
                      <m:t>=</m:t>
                    </m:r>
                    <m:f>
                      <m:fPr>
                        <m:ctrlPr>
                          <a:rPr lang="en-US" sz="1400" b="0" i="1" cap="none" smtClean="0">
                            <a:latin typeface="Cambria Math" panose="02040503050406030204" pitchFamily="18" charset="0"/>
                          </a:rPr>
                        </m:ctrlPr>
                      </m:fPr>
                      <m:num>
                        <m:r>
                          <a:rPr lang="en-US" sz="1400" b="0" i="1" cap="none" smtClean="0">
                            <a:latin typeface="Cambria Math" panose="02040503050406030204" pitchFamily="18" charset="0"/>
                          </a:rPr>
                          <m:t>|</m:t>
                        </m:r>
                        <m:sSub>
                          <m:sSubPr>
                            <m:ctrlPr>
                              <a:rPr lang="en-US" sz="1400" b="0" i="1" cap="none" smtClean="0">
                                <a:latin typeface="Cambria Math" panose="02040503050406030204" pitchFamily="18" charset="0"/>
                              </a:rPr>
                            </m:ctrlPr>
                          </m:sSubPr>
                          <m:e>
                            <m:r>
                              <a:rPr lang="en-US" sz="1400" b="0" i="1" cap="none" smtClean="0">
                                <a:latin typeface="Cambria Math" panose="02040503050406030204" pitchFamily="18" charset="0"/>
                              </a:rPr>
                              <m:t>𝑧</m:t>
                            </m:r>
                          </m:e>
                          <m:sub>
                            <m:r>
                              <a:rPr lang="en-US" sz="1400" b="0" i="1" cap="none" smtClean="0">
                                <a:latin typeface="Cambria Math" panose="02040503050406030204" pitchFamily="18" charset="0"/>
                              </a:rPr>
                              <m:t>𝑜𝑠𝑐𝑙𝑙𝑖𝑜𝑠𝑐𝑜𝑝𝑒</m:t>
                            </m:r>
                          </m:sub>
                        </m:sSub>
                        <m:r>
                          <a:rPr lang="en-US" sz="1400" b="0" i="1" cap="none" smtClean="0">
                            <a:latin typeface="Cambria Math" panose="02040503050406030204" pitchFamily="18" charset="0"/>
                          </a:rPr>
                          <m:t>−</m:t>
                        </m:r>
                        <m:sSub>
                          <m:sSubPr>
                            <m:ctrlPr>
                              <a:rPr lang="en-US" sz="1400" b="0" i="1" cap="none" smtClean="0">
                                <a:latin typeface="Cambria Math" panose="02040503050406030204" pitchFamily="18" charset="0"/>
                              </a:rPr>
                            </m:ctrlPr>
                          </m:sSubPr>
                          <m:e>
                            <m:r>
                              <a:rPr lang="en-US" sz="1400" b="0" i="1" cap="none" smtClean="0">
                                <a:latin typeface="Cambria Math" panose="02040503050406030204" pitchFamily="18" charset="0"/>
                              </a:rPr>
                              <m:t>𝑧</m:t>
                            </m:r>
                          </m:e>
                          <m:sub>
                            <m:r>
                              <a:rPr lang="en-US" sz="1400" b="0" i="1" cap="none" smtClean="0">
                                <a:latin typeface="Cambria Math" panose="02040503050406030204" pitchFamily="18" charset="0"/>
                              </a:rPr>
                              <m:t>𝑝𝑦𝑡h𝑜𝑛</m:t>
                            </m:r>
                          </m:sub>
                        </m:sSub>
                        <m:r>
                          <a:rPr lang="en-US" sz="1400" b="0" i="1" cap="none" smtClean="0">
                            <a:latin typeface="Cambria Math" panose="02040503050406030204" pitchFamily="18" charset="0"/>
                          </a:rPr>
                          <m:t>|</m:t>
                        </m:r>
                      </m:num>
                      <m:den>
                        <m:rad>
                          <m:radPr>
                            <m:degHide m:val="on"/>
                            <m:ctrlPr>
                              <a:rPr lang="en-US" sz="1400" b="0" i="1" cap="none" smtClean="0">
                                <a:latin typeface="Cambria Math" panose="02040503050406030204" pitchFamily="18" charset="0"/>
                              </a:rPr>
                            </m:ctrlPr>
                          </m:radPr>
                          <m:deg/>
                          <m:e>
                            <m:sSubSup>
                              <m:sSubSupPr>
                                <m:ctrlPr>
                                  <a:rPr lang="en-US" sz="1400" b="0" i="1" cap="none" smtClean="0">
                                    <a:latin typeface="Cambria Math" panose="02040503050406030204" pitchFamily="18" charset="0"/>
                                  </a:rPr>
                                </m:ctrlPr>
                              </m:sSubSupPr>
                              <m:e>
                                <m:r>
                                  <a:rPr lang="en-US" sz="1400" b="0" i="1" cap="none" smtClean="0">
                                    <a:latin typeface="Cambria Math" panose="02040503050406030204" pitchFamily="18" charset="0"/>
                                  </a:rPr>
                                  <m:t>𝑠</m:t>
                                </m:r>
                              </m:e>
                              <m:sub>
                                <m:r>
                                  <a:rPr lang="en-US" sz="1400" b="0" i="1" cap="none" smtClean="0">
                                    <a:latin typeface="Cambria Math" panose="02040503050406030204" pitchFamily="18" charset="0"/>
                                  </a:rPr>
                                  <m:t>𝑜𝑠</m:t>
                                </m:r>
                                <m:r>
                                  <m:rPr>
                                    <m:sty m:val="p"/>
                                  </m:rPr>
                                  <a:rPr lang="en-US" sz="1400" b="0" i="1" cap="none" smtClean="0">
                                    <a:latin typeface="Cambria Math" panose="02040503050406030204" pitchFamily="18" charset="0"/>
                                  </a:rPr>
                                  <m:t>i</m:t>
                                </m:r>
                                <m:r>
                                  <a:rPr lang="en-US" sz="1400" b="0" i="1" cap="none" smtClean="0">
                                    <a:latin typeface="Cambria Math" panose="02040503050406030204" pitchFamily="18" charset="0"/>
                                  </a:rPr>
                                  <m:t>𝑐𝑙𝑙</m:t>
                                </m:r>
                                <m:r>
                                  <m:rPr>
                                    <m:sty m:val="p"/>
                                  </m:rPr>
                                  <a:rPr lang="en-US" sz="1400" b="0" i="1" cap="none" smtClean="0">
                                    <a:latin typeface="Cambria Math" panose="02040503050406030204" pitchFamily="18" charset="0"/>
                                  </a:rPr>
                                  <m:t>o</m:t>
                                </m:r>
                                <m:r>
                                  <a:rPr lang="en-US" sz="1400" b="0" i="1" cap="none" smtClean="0">
                                    <a:latin typeface="Cambria Math" panose="02040503050406030204" pitchFamily="18" charset="0"/>
                                  </a:rPr>
                                  <m:t>𝑠𝑐𝑜𝑝𝑒</m:t>
                                </m:r>
                              </m:sub>
                              <m:sup>
                                <m:r>
                                  <a:rPr lang="en-US" sz="1400" b="0" i="1" cap="none" smtClean="0">
                                    <a:latin typeface="Cambria Math" panose="02040503050406030204" pitchFamily="18" charset="0"/>
                                  </a:rPr>
                                  <m:t>2</m:t>
                                </m:r>
                              </m:sup>
                            </m:sSubSup>
                            <m:r>
                              <a:rPr lang="en-US" sz="1400" b="0" i="1" cap="none" smtClean="0">
                                <a:latin typeface="Cambria Math" panose="02040503050406030204" pitchFamily="18" charset="0"/>
                              </a:rPr>
                              <m:t>+</m:t>
                            </m:r>
                            <m:sSubSup>
                              <m:sSubSupPr>
                                <m:ctrlPr>
                                  <a:rPr lang="en-US" sz="1400" b="0" i="1" cap="none" smtClean="0">
                                    <a:latin typeface="Cambria Math" panose="02040503050406030204" pitchFamily="18" charset="0"/>
                                  </a:rPr>
                                </m:ctrlPr>
                              </m:sSubSupPr>
                              <m:e>
                                <m:r>
                                  <a:rPr lang="en-US" sz="1400" b="0" i="1" cap="none" smtClean="0">
                                    <a:latin typeface="Cambria Math" panose="02040503050406030204" pitchFamily="18" charset="0"/>
                                  </a:rPr>
                                  <m:t>𝑠</m:t>
                                </m:r>
                              </m:e>
                              <m:sub>
                                <m:r>
                                  <a:rPr lang="en-US" sz="1400" b="0" i="1" cap="none" smtClean="0">
                                    <a:latin typeface="Cambria Math" panose="02040503050406030204" pitchFamily="18" charset="0"/>
                                  </a:rPr>
                                  <m:t>𝑝𝑦𝑡h𝑜𝑛</m:t>
                                </m:r>
                              </m:sub>
                              <m:sup>
                                <m:r>
                                  <a:rPr lang="en-US" sz="1400" b="0" i="1" cap="none" smtClean="0">
                                    <a:latin typeface="Cambria Math" panose="02040503050406030204" pitchFamily="18" charset="0"/>
                                  </a:rPr>
                                  <m:t>2</m:t>
                                </m:r>
                              </m:sup>
                            </m:sSubSup>
                          </m:e>
                        </m:rad>
                      </m:den>
                    </m:f>
                    <m:r>
                      <a:rPr lang="en-US" sz="1400" b="0" i="1" cap="none" smtClean="0">
                        <a:latin typeface="Cambria Math" panose="02040503050406030204" pitchFamily="18" charset="0"/>
                      </a:rPr>
                      <m:t>=0.006</m:t>
                    </m:r>
                  </m:oMath>
                </a14:m>
                <a:endParaRPr lang="en-US" sz="1400" b="0" cap="none" dirty="0"/>
              </a:p>
              <a:p>
                <a:r>
                  <a:rPr lang="en-US" sz="1600" b="0" cap="none" dirty="0"/>
                  <a:t>Result: Both </a:t>
                </a:r>
                <a14:m>
                  <m:oMath xmlns:m="http://schemas.openxmlformats.org/officeDocument/2006/math">
                    <m:r>
                      <a:rPr lang="en-US" sz="1600" i="1" cap="none">
                        <a:latin typeface="Cambria Math" panose="02040503050406030204" pitchFamily="18" charset="0"/>
                      </a:rPr>
                      <m:t>𝑡</m:t>
                    </m:r>
                  </m:oMath>
                </a14:m>
                <a:r>
                  <a:rPr lang="en-US" sz="1600" cap="none" dirty="0"/>
                  <a:t>-values are &lt; 1.0. The discrepancy is not statistically significant and falls within the hardware's margin of error for measuring the FFT of a 1 kHz sine wave.</a:t>
                </a:r>
                <a:endParaRPr lang="en-US" sz="1600" b="0" cap="none" dirty="0"/>
              </a:p>
              <a:p>
                <a:pPr lvl="1"/>
                <a:endParaRPr lang="en-US" cap="none" dirty="0"/>
              </a:p>
            </p:txBody>
          </p:sp>
        </mc:Choice>
        <mc:Fallback>
          <p:sp>
            <p:nvSpPr>
              <p:cNvPr id="3" name="Content Placeholder 2">
                <a:extLst>
                  <a:ext uri="{FF2B5EF4-FFF2-40B4-BE49-F238E27FC236}">
                    <a16:creationId xmlns:a16="http://schemas.microsoft.com/office/drawing/2014/main" id="{6E10D356-2C1E-3510-18B8-A4A0DC658DAA}"/>
                  </a:ext>
                </a:extLst>
              </p:cNvPr>
              <p:cNvSpPr>
                <a:spLocks noGrp="1" noRot="1" noChangeAspect="1" noMove="1" noResize="1" noEditPoints="1" noAdjustHandles="1" noChangeArrowheads="1" noChangeShapeType="1" noTextEdit="1"/>
              </p:cNvSpPr>
              <p:nvPr>
                <p:ph sz="quarter" idx="13"/>
              </p:nvPr>
            </p:nvSpPr>
            <p:spPr>
              <a:blipFill>
                <a:blip r:embed="rId2"/>
                <a:stretch>
                  <a:fillRect l="-393" b="-8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B00722C6-1A9E-87F0-F3E8-B8C1605073B7}"/>
                  </a:ext>
                </a:extLst>
              </p:cNvPr>
              <p:cNvSpPr>
                <a:spLocks noGrp="1"/>
              </p:cNvSpPr>
              <p:nvPr>
                <p:ph type="body" sz="half" idx="2"/>
              </p:nvPr>
            </p:nvSpPr>
            <p:spPr>
              <a:xfrm>
                <a:off x="913774" y="2632852"/>
                <a:ext cx="3935689" cy="3848868"/>
              </a:xfrm>
              <a:noFill/>
              <a:ln>
                <a:noFill/>
              </a:ln>
            </p:spPr>
            <p:style>
              <a:lnRef idx="0">
                <a:scrgbClr r="0" g="0" b="0"/>
              </a:lnRef>
              <a:fillRef idx="0">
                <a:scrgbClr r="0" g="0" b="0"/>
              </a:fillRef>
              <a:effectRef idx="0">
                <a:scrgbClr r="0" g="0" b="0"/>
              </a:effectRef>
              <a:fontRef idx="minor">
                <a:schemeClr val="dk1"/>
              </a:fontRef>
            </p:style>
            <p:txBody>
              <a:bodyPr/>
              <a:lstStyle/>
              <a:p>
                <a:pPr algn="l">
                  <a:lnSpc>
                    <a:spcPct val="100000"/>
                  </a:lnSpc>
                  <a:spcBef>
                    <a:spcPts val="0"/>
                  </a:spcBef>
                </a:pPr>
                <a:r>
                  <a:rPr lang="en-US" cap="none" dirty="0"/>
                  <a:t>Determining the measured peak frequencies significantly deviate from the theoretical dial settings using the </a:t>
                </a:r>
                <a14:m>
                  <m:oMath xmlns:m="http://schemas.openxmlformats.org/officeDocument/2006/math">
                    <m:r>
                      <a:rPr lang="en-US" b="0" i="1" cap="none" smtClean="0">
                        <a:latin typeface="Cambria Math" panose="02040503050406030204" pitchFamily="18" charset="0"/>
                      </a:rPr>
                      <m:t>𝑡</m:t>
                    </m:r>
                    <m:r>
                      <a:rPr lang="en-US" b="0" i="1" cap="none" smtClean="0">
                        <a:latin typeface="Cambria Math" panose="02040503050406030204" pitchFamily="18" charset="0"/>
                      </a:rPr>
                      <m:t>-</m:t>
                    </m:r>
                    <m:r>
                      <m:rPr>
                        <m:sty m:val="p"/>
                      </m:rPr>
                      <a:rPr lang="en-US" b="0" i="1" cap="none" smtClean="0">
                        <a:latin typeface="Cambria Math" panose="02040503050406030204" pitchFamily="18" charset="0"/>
                      </a:rPr>
                      <m:t>test</m:t>
                    </m:r>
                  </m:oMath>
                </a14:m>
                <a:endParaRPr lang="en-US" dirty="0"/>
              </a:p>
              <a:p>
                <a:pPr algn="l">
                  <a:lnSpc>
                    <a:spcPct val="100000"/>
                  </a:lnSpc>
                  <a:spcBef>
                    <a:spcPts val="0"/>
                  </a:spcBef>
                </a:pPr>
                <a14:m>
                  <m:oMathPara xmlns:m="http://schemas.openxmlformats.org/officeDocument/2006/math">
                    <m:oMathParaPr>
                      <m:jc m:val="centerGroup"/>
                    </m:oMathParaPr>
                    <m:oMath xmlns:m="http://schemas.openxmlformats.org/officeDocument/2006/math">
                      <m:r>
                        <m:rPr>
                          <m:sty m:val="p"/>
                        </m:rPr>
                        <a:rPr lang="en-US" b="0" i="1" cap="none" smtClean="0">
                          <a:latin typeface="Cambria Math" panose="02040503050406030204" pitchFamily="18" charset="0"/>
                        </a:rPr>
                        <m:t>t</m:t>
                      </m:r>
                      <m:r>
                        <a:rPr lang="en-US" b="0" i="1" cap="none" smtClean="0">
                          <a:latin typeface="Cambria Math" panose="02040503050406030204" pitchFamily="18" charset="0"/>
                        </a:rPr>
                        <m:t>=</m:t>
                      </m:r>
                      <m:f>
                        <m:fPr>
                          <m:ctrlPr>
                            <a:rPr lang="en-US" b="0" i="1" cap="none" smtClean="0">
                              <a:latin typeface="Cambria Math" panose="02040503050406030204" pitchFamily="18" charset="0"/>
                            </a:rPr>
                          </m:ctrlPr>
                        </m:fPr>
                        <m:num>
                          <m:d>
                            <m:dPr>
                              <m:begChr m:val="|"/>
                              <m:endChr m:val="|"/>
                              <m:ctrlPr>
                                <a:rPr lang="en-US" b="0" i="1" cap="none" smtClean="0">
                                  <a:latin typeface="Cambria Math" panose="02040503050406030204" pitchFamily="18" charset="0"/>
                                </a:rPr>
                              </m:ctrlPr>
                            </m:dPr>
                            <m:e>
                              <m:r>
                                <a:rPr lang="en-US" b="0" i="1" cap="none" smtClean="0">
                                  <a:latin typeface="Cambria Math" panose="02040503050406030204" pitchFamily="18" charset="0"/>
                                </a:rPr>
                                <m:t>𝜇</m:t>
                              </m:r>
                              <m:r>
                                <a:rPr lang="en-US" b="0" i="1" cap="none" smtClean="0">
                                  <a:latin typeface="Cambria Math" panose="02040503050406030204" pitchFamily="18" charset="0"/>
                                </a:rPr>
                                <m:t>−</m:t>
                              </m:r>
                              <m:r>
                                <a:rPr lang="en-US" b="0" i="1" cap="none" smtClean="0">
                                  <a:latin typeface="Cambria Math" panose="02040503050406030204" pitchFamily="18" charset="0"/>
                                </a:rPr>
                                <m:t>𝑧</m:t>
                              </m:r>
                            </m:e>
                          </m:d>
                        </m:num>
                        <m:den>
                          <m:sSub>
                            <m:sSubPr>
                              <m:ctrlPr>
                                <a:rPr lang="en-US" b="0" i="1" cap="none" smtClean="0">
                                  <a:latin typeface="Cambria Math" panose="02040503050406030204" pitchFamily="18" charset="0"/>
                                </a:rPr>
                              </m:ctrlPr>
                            </m:sSubPr>
                            <m:e>
                              <m:r>
                                <a:rPr lang="en-US" b="0" i="1" cap="none" smtClean="0">
                                  <a:latin typeface="Cambria Math" panose="02040503050406030204" pitchFamily="18" charset="0"/>
                                </a:rPr>
                                <m:t>𝑠</m:t>
                              </m:r>
                            </m:e>
                            <m:sub>
                              <m:r>
                                <a:rPr lang="en-US" b="0" i="1" cap="none" smtClean="0">
                                  <a:latin typeface="Cambria Math" panose="02040503050406030204" pitchFamily="18" charset="0"/>
                                </a:rPr>
                                <m:t>𝑧</m:t>
                              </m:r>
                            </m:sub>
                          </m:sSub>
                        </m:den>
                      </m:f>
                    </m:oMath>
                  </m:oMathPara>
                </a14:m>
                <a:endParaRPr lang="en-US" b="0" cap="none" dirty="0"/>
              </a:p>
              <a:p>
                <a:pPr marL="285750" indent="-285750" algn="l">
                  <a:lnSpc>
                    <a:spcPct val="100000"/>
                  </a:lnSpc>
                  <a:spcBef>
                    <a:spcPts val="0"/>
                  </a:spcBef>
                  <a:buFont typeface="Arial" panose="020B0604020202020204" pitchFamily="34" charset="0"/>
                  <a:buChar char="•"/>
                </a:pPr>
                <a14:m>
                  <m:oMath xmlns:m="http://schemas.openxmlformats.org/officeDocument/2006/math">
                    <m:r>
                      <m:rPr>
                        <m:sty m:val="p"/>
                      </m:rPr>
                      <a:rPr lang="en-US" b="0" i="1" cap="none" smtClean="0">
                        <a:latin typeface="Cambria Math" panose="02040503050406030204" pitchFamily="18" charset="0"/>
                      </a:rPr>
                      <m:t>μ</m:t>
                    </m:r>
                  </m:oMath>
                </a14:m>
                <a:r>
                  <a:rPr lang="en-US" b="0" cap="none" dirty="0"/>
                  <a:t> is the expected theoretical frequency</a:t>
                </a:r>
              </a:p>
              <a:p>
                <a:pPr marL="285750" indent="-285750" algn="l">
                  <a:lnSpc>
                    <a:spcPct val="100000"/>
                  </a:lnSpc>
                  <a:spcBef>
                    <a:spcPts val="0"/>
                  </a:spcBef>
                  <a:buFont typeface="Arial" panose="020B0604020202020204" pitchFamily="34" charset="0"/>
                  <a:buChar char="•"/>
                </a:pPr>
                <a14:m>
                  <m:oMath xmlns:m="http://schemas.openxmlformats.org/officeDocument/2006/math">
                    <m:r>
                      <a:rPr lang="en-US" b="0" i="1" cap="none" smtClean="0">
                        <a:latin typeface="Cambria Math" panose="02040503050406030204" pitchFamily="18" charset="0"/>
                      </a:rPr>
                      <m:t>𝑧</m:t>
                    </m:r>
                  </m:oMath>
                </a14:m>
                <a:r>
                  <a:rPr lang="en-US" cap="none" dirty="0"/>
                  <a:t> is the measured peak frequency</a:t>
                </a:r>
              </a:p>
              <a:p>
                <a:pPr marL="285750" indent="-285750" algn="l">
                  <a:lnSpc>
                    <a:spcPct val="100000"/>
                  </a:lnSpc>
                  <a:spcBef>
                    <a:spcPts val="0"/>
                  </a:spcBef>
                  <a:buFont typeface="Arial" panose="020B0604020202020204" pitchFamily="34" charset="0"/>
                  <a:buChar char="•"/>
                </a:pPr>
                <a14:m>
                  <m:oMath xmlns:m="http://schemas.openxmlformats.org/officeDocument/2006/math">
                    <m:sSub>
                      <m:sSubPr>
                        <m:ctrlPr>
                          <a:rPr lang="en-US" b="0" i="1" cap="none" smtClean="0">
                            <a:latin typeface="Cambria Math" panose="02040503050406030204" pitchFamily="18" charset="0"/>
                          </a:rPr>
                        </m:ctrlPr>
                      </m:sSubPr>
                      <m:e>
                        <m:r>
                          <a:rPr lang="en-US" b="0" i="1" cap="none" smtClean="0">
                            <a:latin typeface="Cambria Math" panose="02040503050406030204" pitchFamily="18" charset="0"/>
                          </a:rPr>
                          <m:t>𝑠</m:t>
                        </m:r>
                      </m:e>
                      <m:sub>
                        <m:r>
                          <a:rPr lang="en-US" b="0" i="1" cap="none" smtClean="0">
                            <a:latin typeface="Cambria Math" panose="02040503050406030204" pitchFamily="18" charset="0"/>
                          </a:rPr>
                          <m:t>𝑧</m:t>
                        </m:r>
                      </m:sub>
                    </m:sSub>
                  </m:oMath>
                </a14:m>
                <a:r>
                  <a:rPr lang="en-US" b="0" cap="none" dirty="0"/>
                  <a:t> is the Instrumental uncertainty</a:t>
                </a:r>
              </a:p>
              <a:p>
                <a:pPr algn="l">
                  <a:lnSpc>
                    <a:spcPct val="100000"/>
                  </a:lnSpc>
                  <a:spcBef>
                    <a:spcPts val="0"/>
                  </a:spcBef>
                </a:pPr>
                <a:r>
                  <a:rPr lang="en-US" cap="none" dirty="0"/>
                  <a:t>For a Fast Fourier Transform, the measurement uncertainty is equal to the frequency resolution:</a:t>
                </a:r>
              </a:p>
              <a:p>
                <a:pPr marL="285750" indent="-285750" algn="l">
                  <a:lnSpc>
                    <a:spcPct val="100000"/>
                  </a:lnSpc>
                  <a:spcBef>
                    <a:spcPts val="0"/>
                  </a:spcBef>
                  <a:buFont typeface="Arial" panose="020B0604020202020204" pitchFamily="34" charset="0"/>
                  <a:buChar char="•"/>
                </a:pPr>
                <a:r>
                  <a:rPr lang="en-US" cap="none" dirty="0"/>
                  <a:t>Oscilloscope: Distance between adjacent data rows in Hz</a:t>
                </a:r>
              </a:p>
              <a:p>
                <a:pPr marL="285750" indent="-285750" algn="l">
                  <a:lnSpc>
                    <a:spcPct val="100000"/>
                  </a:lnSpc>
                  <a:spcBef>
                    <a:spcPts val="0"/>
                  </a:spcBef>
                  <a:buFont typeface="Arial" panose="020B0604020202020204" pitchFamily="34" charset="0"/>
                  <a:buChar char="•"/>
                </a:pPr>
                <a:r>
                  <a:rPr lang="en-US" b="0" cap="none" dirty="0"/>
                  <a:t>Python</a:t>
                </a:r>
                <a:r>
                  <a:rPr lang="en-US" cap="none" dirty="0"/>
                  <a:t>: </a:t>
                </a:r>
                <a14:m>
                  <m:oMath xmlns:m="http://schemas.openxmlformats.org/officeDocument/2006/math">
                    <m:sSub>
                      <m:sSubPr>
                        <m:ctrlPr>
                          <a:rPr lang="en-US" b="0" i="1" cap="none" smtClean="0">
                            <a:latin typeface="Cambria Math" panose="02040503050406030204" pitchFamily="18" charset="0"/>
                          </a:rPr>
                        </m:ctrlPr>
                      </m:sSubPr>
                      <m:e>
                        <m:r>
                          <a:rPr lang="en-US" b="0" i="1" cap="none" smtClean="0">
                            <a:latin typeface="Cambria Math" panose="02040503050406030204" pitchFamily="18" charset="0"/>
                          </a:rPr>
                          <m:t>𝑓</m:t>
                        </m:r>
                      </m:e>
                      <m:sub>
                        <m:r>
                          <a:rPr lang="en-US" b="0" i="1" cap="none" smtClean="0">
                            <a:latin typeface="Cambria Math" panose="02040503050406030204" pitchFamily="18" charset="0"/>
                          </a:rPr>
                          <m:t>𝑠</m:t>
                        </m:r>
                      </m:sub>
                    </m:sSub>
                    <m:r>
                      <m:rPr>
                        <m:lit/>
                      </m:rPr>
                      <a:rPr lang="en-US" b="0" i="1" cap="none" smtClean="0">
                        <a:latin typeface="Cambria Math" panose="02040503050406030204" pitchFamily="18" charset="0"/>
                      </a:rPr>
                      <m:t>/</m:t>
                    </m:r>
                    <m:r>
                      <a:rPr lang="en-US" b="0" i="1" cap="none" smtClean="0">
                        <a:latin typeface="Cambria Math" panose="02040503050406030204" pitchFamily="18" charset="0"/>
                      </a:rPr>
                      <m:t>𝑁</m:t>
                    </m:r>
                  </m:oMath>
                </a14:m>
                <a:endParaRPr lang="en-US" b="0" cap="none" dirty="0"/>
              </a:p>
              <a:p>
                <a:pPr marL="285750" indent="-285750" algn="l">
                  <a:lnSpc>
                    <a:spcPct val="100000"/>
                  </a:lnSpc>
                  <a:spcBef>
                    <a:spcPts val="0"/>
                  </a:spcBef>
                  <a:buFont typeface="Arial" panose="020B0604020202020204" pitchFamily="34" charset="0"/>
                  <a:buChar char="•"/>
                </a:pPr>
                <a:endParaRPr lang="en-US" b="0" cap="none" dirty="0"/>
              </a:p>
              <a:p>
                <a:pPr algn="l"/>
                <a:endParaRPr lang="en-US" b="0" cap="none" dirty="0"/>
              </a:p>
              <a:p>
                <a:pPr algn="l"/>
                <a:endParaRPr lang="en-US" b="0" cap="none" dirty="0"/>
              </a:p>
              <a:p>
                <a:pPr algn="l"/>
                <a:endParaRPr lang="en-US" cap="none" dirty="0"/>
              </a:p>
            </p:txBody>
          </p:sp>
        </mc:Choice>
        <mc:Fallback>
          <p:sp>
            <p:nvSpPr>
              <p:cNvPr id="4" name="Text Placeholder 3">
                <a:extLst>
                  <a:ext uri="{FF2B5EF4-FFF2-40B4-BE49-F238E27FC236}">
                    <a16:creationId xmlns:a16="http://schemas.microsoft.com/office/drawing/2014/main" id="{B00722C6-1A9E-87F0-F3E8-B8C1605073B7}"/>
                  </a:ext>
                </a:extLst>
              </p:cNvPr>
              <p:cNvSpPr>
                <a:spLocks noGrp="1" noRot="1" noChangeAspect="1" noMove="1" noResize="1" noEditPoints="1" noAdjustHandles="1" noChangeArrowheads="1" noChangeShapeType="1" noTextEdit="1"/>
              </p:cNvSpPr>
              <p:nvPr>
                <p:ph type="body" sz="half" idx="2"/>
              </p:nvPr>
            </p:nvSpPr>
            <p:spPr>
              <a:xfrm>
                <a:off x="913774" y="2632852"/>
                <a:ext cx="3935689" cy="3848868"/>
              </a:xfrm>
              <a:blipFill>
                <a:blip r:embed="rId3"/>
                <a:stretch>
                  <a:fillRect l="-929" t="-475" r="-139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301696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93274B0C-1CB3-4AA4-A183-20B7FE5DB1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2E640319-3BB6-49BF-BAF4-D63FEC73E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ontent Placeholder 6">
            <a:extLst>
              <a:ext uri="{FF2B5EF4-FFF2-40B4-BE49-F238E27FC236}">
                <a16:creationId xmlns:a16="http://schemas.microsoft.com/office/drawing/2014/main" id="{AC98D2C6-4783-23F3-BC28-7A908DF54F0B}"/>
              </a:ext>
            </a:extLst>
          </p:cNvPr>
          <p:cNvSpPr>
            <a:spLocks noGrp="1"/>
          </p:cNvSpPr>
          <p:nvPr>
            <p:ph sz="quarter" idx="13"/>
          </p:nvPr>
        </p:nvSpPr>
        <p:spPr/>
        <p:txBody>
          <a:bodyPr/>
          <a:lstStyle/>
          <a:p>
            <a:endParaRPr lang="en-US"/>
          </a:p>
        </p:txBody>
      </p:sp>
      <p:pic>
        <p:nvPicPr>
          <p:cNvPr id="9" name="Picture 8">
            <a:extLst>
              <a:ext uri="{FF2B5EF4-FFF2-40B4-BE49-F238E27FC236}">
                <a16:creationId xmlns:a16="http://schemas.microsoft.com/office/drawing/2014/main" id="{37044282-0A77-0BCC-FBA8-EC37528C77C6}"/>
              </a:ext>
            </a:extLst>
          </p:cNvPr>
          <p:cNvPicPr>
            <a:picLocks noChangeAspect="1"/>
          </p:cNvPicPr>
          <p:nvPr/>
        </p:nvPicPr>
        <p:blipFill>
          <a:blip r:embed="rId4"/>
          <a:stretch>
            <a:fillRect/>
          </a:stretch>
        </p:blipFill>
        <p:spPr>
          <a:xfrm>
            <a:off x="433387" y="619125"/>
            <a:ext cx="11325225" cy="5619750"/>
          </a:xfrm>
          <a:prstGeom prst="rect">
            <a:avLst/>
          </a:prstGeom>
        </p:spPr>
      </p:pic>
    </p:spTree>
    <p:extLst>
      <p:ext uri="{BB962C8B-B14F-4D97-AF65-F5344CB8AC3E}">
        <p14:creationId xmlns:p14="http://schemas.microsoft.com/office/powerpoint/2010/main" val="2602679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6B2F6-E278-BE22-73C1-EEFFFC7EA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A5F55-ACB0-95BB-4BF0-15831EEBDA8B}"/>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dk1"/>
          </a:fontRef>
        </p:style>
        <p:txBody>
          <a:bodyPr/>
          <a:lstStyle/>
          <a:p>
            <a:r>
              <a:rPr lang="en-US" cap="none" dirty="0"/>
              <a:t>5 kHz Frequency Calibration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4DED5C-2899-E242-AC58-7F05D818C5C5}"/>
                  </a:ext>
                </a:extLst>
              </p:cNvPr>
              <p:cNvSpPr>
                <a:spLocks noGrp="1"/>
              </p:cNvSpPr>
              <p:nvPr>
                <p:ph sz="quarter" idx="13"/>
              </p:nvPr>
            </p:nvSpPr>
            <p:spPr/>
            <p:txBody>
              <a:bodyPr>
                <a:normAutofit fontScale="92500" lnSpcReduction="10000"/>
              </a:bodyPr>
              <a:lstStyle/>
              <a:p>
                <a:r>
                  <a:rPr lang="en-US" sz="1800" cap="none" dirty="0"/>
                  <a:t>Oscilloscope Built in FFT</a:t>
                </a:r>
              </a:p>
              <a:p>
                <a:pPr lvl="1">
                  <a:lnSpc>
                    <a:spcPct val="100000"/>
                  </a:lnSpc>
                </a:pPr>
                <a:r>
                  <a:rPr lang="en-US" sz="1600" cap="none" dirty="0"/>
                  <a:t>Expected: </a:t>
                </a:r>
                <a14:m>
                  <m:oMath xmlns:m="http://schemas.openxmlformats.org/officeDocument/2006/math">
                    <m:r>
                      <m:rPr>
                        <m:sty m:val="p"/>
                      </m:rPr>
                      <a:rPr lang="en-US" sz="1600" b="0" i="1" cap="none" smtClean="0">
                        <a:latin typeface="Cambria Math" panose="02040503050406030204" pitchFamily="18" charset="0"/>
                      </a:rPr>
                      <m:t>μ</m:t>
                    </m:r>
                    <m:r>
                      <a:rPr lang="en-US" sz="1600" b="0" i="1" cap="none" smtClean="0">
                        <a:latin typeface="Cambria Math" panose="02040503050406030204" pitchFamily="18" charset="0"/>
                      </a:rPr>
                      <m:t>=50</m:t>
                    </m:r>
                    <m:r>
                      <a:rPr lang="en-US" sz="1600" b="0" i="1" cap="none" smtClean="0">
                        <a:latin typeface="Cambria Math" panose="02040503050406030204" pitchFamily="18" charset="0"/>
                      </a:rPr>
                      <m:t>00 </m:t>
                    </m:r>
                    <m:r>
                      <m:rPr>
                        <m:sty m:val="p"/>
                      </m:rPr>
                      <a:rPr lang="en-US" sz="1600" b="0" i="1" cap="none" smtClean="0">
                        <a:latin typeface="Cambria Math" panose="02040503050406030204" pitchFamily="18" charset="0"/>
                      </a:rPr>
                      <m:t>Hz</m:t>
                    </m:r>
                  </m:oMath>
                </a14:m>
                <a:endParaRPr lang="en-US" sz="1600" cap="none" dirty="0"/>
              </a:p>
              <a:p>
                <a:pPr lvl="1">
                  <a:lnSpc>
                    <a:spcPct val="100000"/>
                  </a:lnSpc>
                </a:pPr>
                <a:r>
                  <a:rPr lang="en-US" sz="1600" cap="none" dirty="0"/>
                  <a:t>Measured: </a:t>
                </a:r>
                <a14:m>
                  <m:oMath xmlns:m="http://schemas.openxmlformats.org/officeDocument/2006/math">
                    <m:r>
                      <m:rPr>
                        <m:sty m:val="p"/>
                      </m:rPr>
                      <a:rPr lang="en-US" sz="1600" b="0" i="1" cap="none" smtClean="0">
                        <a:latin typeface="Cambria Math" panose="02040503050406030204" pitchFamily="18" charset="0"/>
                      </a:rPr>
                      <m:t>z</m:t>
                    </m:r>
                    <m:r>
                      <a:rPr lang="en-US" sz="1600" b="0" i="1" cap="none" smtClean="0">
                        <a:latin typeface="Cambria Math" panose="02040503050406030204" pitchFamily="18" charset="0"/>
                      </a:rPr>
                      <m:t>=49</m:t>
                    </m:r>
                    <m:r>
                      <a:rPr lang="en-US" sz="1600" b="0" i="1" cap="none" smtClean="0">
                        <a:latin typeface="Cambria Math" panose="02040503050406030204" pitchFamily="18" charset="0"/>
                      </a:rPr>
                      <m:t>81</m:t>
                    </m:r>
                    <m:r>
                      <a:rPr lang="en-US" sz="1600" b="0" i="1" cap="none" smtClean="0">
                        <a:latin typeface="Cambria Math" panose="02040503050406030204" pitchFamily="18" charset="0"/>
                      </a:rPr>
                      <m:t>.</m:t>
                    </m:r>
                    <m:r>
                      <a:rPr lang="en-US" sz="1600" b="0" i="1" cap="none" smtClean="0">
                        <a:latin typeface="Cambria Math" panose="02040503050406030204" pitchFamily="18" charset="0"/>
                      </a:rPr>
                      <m:t>4</m:t>
                    </m:r>
                    <m:r>
                      <a:rPr lang="en-US" sz="1600" b="0" i="1" cap="none" smtClean="0">
                        <a:latin typeface="Cambria Math" panose="02040503050406030204" pitchFamily="18" charset="0"/>
                      </a:rPr>
                      <m:t>6 </m:t>
                    </m:r>
                    <m:r>
                      <m:rPr>
                        <m:sty m:val="p"/>
                      </m:rPr>
                      <a:rPr lang="en-US" sz="1600" b="0" i="1" cap="none" smtClean="0">
                        <a:latin typeface="Cambria Math" panose="02040503050406030204" pitchFamily="18" charset="0"/>
                      </a:rPr>
                      <m:t>Hz</m:t>
                    </m:r>
                  </m:oMath>
                </a14:m>
                <a:endParaRPr lang="en-US" sz="1600" cap="none" dirty="0"/>
              </a:p>
              <a:p>
                <a:pPr lvl="1">
                  <a:lnSpc>
                    <a:spcPct val="100000"/>
                  </a:lnSpc>
                </a:pPr>
                <a:r>
                  <a:rPr lang="en-US" sz="1600" cap="none" dirty="0"/>
                  <a:t>Uncertainty: </a:t>
                </a:r>
                <a14:m>
                  <m:oMath xmlns:m="http://schemas.openxmlformats.org/officeDocument/2006/math">
                    <m:sSub>
                      <m:sSubPr>
                        <m:ctrlPr>
                          <a:rPr lang="en-US" sz="1600" b="0" i="1" cap="none" smtClean="0">
                            <a:latin typeface="Cambria Math" panose="02040503050406030204" pitchFamily="18" charset="0"/>
                          </a:rPr>
                        </m:ctrlPr>
                      </m:sSubPr>
                      <m:e>
                        <m:r>
                          <a:rPr lang="en-US" sz="1600" b="0" i="1" cap="none" smtClean="0">
                            <a:latin typeface="Cambria Math" panose="02040503050406030204" pitchFamily="18" charset="0"/>
                          </a:rPr>
                          <m:t>𝑠</m:t>
                        </m:r>
                      </m:e>
                      <m:sub>
                        <m:r>
                          <a:rPr lang="en-US" sz="1600" b="0" i="1" cap="none" smtClean="0">
                            <a:latin typeface="Cambria Math" panose="02040503050406030204" pitchFamily="18" charset="0"/>
                          </a:rPr>
                          <m:t>𝑧</m:t>
                        </m:r>
                      </m:sub>
                    </m:sSub>
                    <m:r>
                      <a:rPr lang="en-US" sz="1600" b="0" i="1" cap="none" smtClean="0">
                        <a:latin typeface="Cambria Math" panose="02040503050406030204" pitchFamily="18" charset="0"/>
                      </a:rPr>
                      <m:t>=</m:t>
                    </m:r>
                    <m:r>
                      <a:rPr lang="en-US" sz="1600" b="0" i="1" cap="none" smtClean="0">
                        <a:latin typeface="Cambria Math" panose="02040503050406030204" pitchFamily="18" charset="0"/>
                      </a:rPr>
                      <m:t>49</m:t>
                    </m:r>
                    <m:r>
                      <a:rPr lang="en-US" sz="1600" b="0" i="1" cap="none" smtClean="0">
                        <a:latin typeface="Cambria Math" panose="02040503050406030204" pitchFamily="18" charset="0"/>
                      </a:rPr>
                      <m:t>.3</m:t>
                    </m:r>
                    <m:r>
                      <a:rPr lang="en-US" sz="1600" b="0" i="1" cap="none" smtClean="0">
                        <a:latin typeface="Cambria Math" panose="02040503050406030204" pitchFamily="18" charset="0"/>
                      </a:rPr>
                      <m:t>2</m:t>
                    </m:r>
                    <m:r>
                      <a:rPr lang="en-US" sz="1600" b="0" i="1" cap="none" smtClean="0">
                        <a:latin typeface="Cambria Math" panose="02040503050406030204" pitchFamily="18" charset="0"/>
                      </a:rPr>
                      <m:t> </m:t>
                    </m:r>
                    <m:r>
                      <m:rPr>
                        <m:sty m:val="p"/>
                      </m:rPr>
                      <a:rPr lang="en-US" sz="1600" b="0" i="0" cap="none" smtClean="0">
                        <a:latin typeface="Cambria Math" panose="02040503050406030204" pitchFamily="18" charset="0"/>
                      </a:rPr>
                      <m:t>Hz</m:t>
                    </m:r>
                  </m:oMath>
                </a14:m>
                <a:endParaRPr lang="en-US" sz="1600" cap="none" dirty="0"/>
              </a:p>
              <a:p>
                <a:pPr lvl="1">
                  <a:lnSpc>
                    <a:spcPct val="100000"/>
                  </a:lnSpc>
                </a:pPr>
                <a14:m>
                  <m:oMath xmlns:m="http://schemas.openxmlformats.org/officeDocument/2006/math">
                    <m:r>
                      <a:rPr lang="en-US" sz="1600" i="1" cap="none" smtClean="0">
                        <a:latin typeface="Cambria Math" panose="02040503050406030204" pitchFamily="18" charset="0"/>
                      </a:rPr>
                      <m:t>𝑡</m:t>
                    </m:r>
                  </m:oMath>
                </a14:m>
                <a:r>
                  <a:rPr lang="en-US" sz="1600" cap="none" dirty="0"/>
                  <a:t>-value </a:t>
                </a:r>
                <a14:m>
                  <m:oMath xmlns:m="http://schemas.openxmlformats.org/officeDocument/2006/math">
                    <m:r>
                      <a:rPr lang="en-US" sz="1600" b="0" i="1" cap="none" smtClean="0">
                        <a:latin typeface="Cambria Math" panose="02040503050406030204" pitchFamily="18" charset="0"/>
                      </a:rPr>
                      <m:t>𝑡</m:t>
                    </m:r>
                    <m:r>
                      <a:rPr lang="en-US" sz="1600" b="0" i="1" cap="none" smtClean="0">
                        <a:latin typeface="Cambria Math" panose="02040503050406030204" pitchFamily="18" charset="0"/>
                      </a:rPr>
                      <m:t>=</m:t>
                    </m:r>
                    <m:f>
                      <m:fPr>
                        <m:ctrlPr>
                          <a:rPr lang="en-US" sz="1600" b="0" i="1" cap="none" smtClean="0">
                            <a:latin typeface="Cambria Math" panose="02040503050406030204" pitchFamily="18" charset="0"/>
                          </a:rPr>
                        </m:ctrlPr>
                      </m:fPr>
                      <m:num>
                        <m:d>
                          <m:dPr>
                            <m:begChr m:val="|"/>
                            <m:endChr m:val="|"/>
                            <m:ctrlPr>
                              <a:rPr lang="en-US" sz="1600" b="0" i="1" cap="none" smtClean="0">
                                <a:latin typeface="Cambria Math" panose="02040503050406030204" pitchFamily="18" charset="0"/>
                              </a:rPr>
                            </m:ctrlPr>
                          </m:dPr>
                          <m:e>
                            <m:r>
                              <a:rPr lang="en-US" sz="1600" b="0" i="1" cap="none" smtClean="0">
                                <a:latin typeface="Cambria Math" panose="02040503050406030204" pitchFamily="18" charset="0"/>
                              </a:rPr>
                              <m:t>5</m:t>
                            </m:r>
                            <m:r>
                              <a:rPr lang="en-US" sz="1600" b="0" i="1" cap="none" smtClean="0">
                                <a:latin typeface="Cambria Math" panose="02040503050406030204" pitchFamily="18" charset="0"/>
                              </a:rPr>
                              <m:t>000.00−</m:t>
                            </m:r>
                            <m:r>
                              <a:rPr lang="en-US" sz="1600" b="0" i="1" cap="none" smtClean="0">
                                <a:latin typeface="Cambria Math" panose="02040503050406030204" pitchFamily="18" charset="0"/>
                              </a:rPr>
                              <m:t>4</m:t>
                            </m:r>
                            <m:r>
                              <a:rPr lang="en-US" sz="1600" b="0" i="1" cap="none" smtClean="0">
                                <a:latin typeface="Cambria Math" panose="02040503050406030204" pitchFamily="18" charset="0"/>
                              </a:rPr>
                              <m:t>9</m:t>
                            </m:r>
                            <m:r>
                              <a:rPr lang="en-US" sz="1600" b="0" i="1" cap="none" smtClean="0">
                                <a:latin typeface="Cambria Math" panose="02040503050406030204" pitchFamily="18" charset="0"/>
                              </a:rPr>
                              <m:t>81</m:t>
                            </m:r>
                            <m:r>
                              <a:rPr lang="en-US" sz="1600" b="0" i="1" cap="none" smtClean="0">
                                <a:latin typeface="Cambria Math" panose="02040503050406030204" pitchFamily="18" charset="0"/>
                              </a:rPr>
                              <m:t>.</m:t>
                            </m:r>
                            <m:r>
                              <a:rPr lang="en-US" sz="1600" b="0" i="1" cap="none" smtClean="0">
                                <a:latin typeface="Cambria Math" panose="02040503050406030204" pitchFamily="18" charset="0"/>
                              </a:rPr>
                              <m:t>4</m:t>
                            </m:r>
                            <m:r>
                              <a:rPr lang="en-US" sz="1600" b="0" i="1" cap="none" smtClean="0">
                                <a:latin typeface="Cambria Math" panose="02040503050406030204" pitchFamily="18" charset="0"/>
                              </a:rPr>
                              <m:t>6</m:t>
                            </m:r>
                          </m:e>
                        </m:d>
                      </m:num>
                      <m:den>
                        <m:r>
                          <a:rPr lang="en-US" sz="1600" b="0" i="1" cap="none" smtClean="0">
                            <a:latin typeface="Cambria Math" panose="02040503050406030204" pitchFamily="18" charset="0"/>
                          </a:rPr>
                          <m:t>49.32</m:t>
                        </m:r>
                      </m:den>
                    </m:f>
                    <m:r>
                      <a:rPr lang="en-US" sz="1600" b="0" i="1" cap="none" smtClean="0">
                        <a:latin typeface="Cambria Math" panose="02040503050406030204" pitchFamily="18" charset="0"/>
                      </a:rPr>
                      <m:t>=0.</m:t>
                    </m:r>
                    <m:r>
                      <a:rPr lang="en-US" sz="1600" b="0" i="1" cap="none" smtClean="0">
                        <a:latin typeface="Cambria Math" panose="02040503050406030204" pitchFamily="18" charset="0"/>
                      </a:rPr>
                      <m:t>376</m:t>
                    </m:r>
                  </m:oMath>
                </a14:m>
                <a:endParaRPr lang="en-US" sz="1600" cap="none" dirty="0"/>
              </a:p>
              <a:p>
                <a:r>
                  <a:rPr lang="en-US" sz="1800" b="0" cap="none" dirty="0"/>
                  <a:t>Python FFT</a:t>
                </a:r>
              </a:p>
              <a:p>
                <a:pPr lvl="1">
                  <a:lnSpc>
                    <a:spcPct val="100000"/>
                  </a:lnSpc>
                </a:pPr>
                <a:r>
                  <a:rPr lang="en-US" sz="1600" cap="none" dirty="0"/>
                  <a:t>Expected: </a:t>
                </a:r>
                <a14:m>
                  <m:oMath xmlns:m="http://schemas.openxmlformats.org/officeDocument/2006/math">
                    <m:r>
                      <m:rPr>
                        <m:sty m:val="p"/>
                      </m:rPr>
                      <a:rPr lang="en-US" sz="1600" i="1" cap="none">
                        <a:latin typeface="Cambria Math" panose="02040503050406030204" pitchFamily="18" charset="0"/>
                      </a:rPr>
                      <m:t>μ</m:t>
                    </m:r>
                    <m:r>
                      <a:rPr lang="en-US" sz="1600" i="1" cap="none">
                        <a:latin typeface="Cambria Math" panose="02040503050406030204" pitchFamily="18" charset="0"/>
                      </a:rPr>
                      <m:t>=50</m:t>
                    </m:r>
                    <m:r>
                      <a:rPr lang="en-US" sz="1600" i="1" cap="none">
                        <a:latin typeface="Cambria Math" panose="02040503050406030204" pitchFamily="18" charset="0"/>
                      </a:rPr>
                      <m:t>00 </m:t>
                    </m:r>
                    <m:r>
                      <m:rPr>
                        <m:sty m:val="p"/>
                      </m:rPr>
                      <a:rPr lang="en-US" sz="1600" i="1" cap="none">
                        <a:latin typeface="Cambria Math" panose="02040503050406030204" pitchFamily="18" charset="0"/>
                      </a:rPr>
                      <m:t>Hz</m:t>
                    </m:r>
                  </m:oMath>
                </a14:m>
                <a:endParaRPr lang="en-US" sz="1600" cap="none" dirty="0"/>
              </a:p>
              <a:p>
                <a:pPr lvl="1">
                  <a:lnSpc>
                    <a:spcPct val="100000"/>
                  </a:lnSpc>
                </a:pPr>
                <a:r>
                  <a:rPr lang="en-US" sz="1600" cap="none" dirty="0"/>
                  <a:t>Measured: </a:t>
                </a:r>
                <a14:m>
                  <m:oMath xmlns:m="http://schemas.openxmlformats.org/officeDocument/2006/math">
                    <m:r>
                      <m:rPr>
                        <m:sty m:val="p"/>
                      </m:rPr>
                      <a:rPr lang="en-US" sz="1600" i="1" cap="none">
                        <a:latin typeface="Cambria Math" panose="02040503050406030204" pitchFamily="18" charset="0"/>
                      </a:rPr>
                      <m:t>z</m:t>
                    </m:r>
                    <m:r>
                      <a:rPr lang="en-US" sz="1600" i="1" cap="none">
                        <a:latin typeface="Cambria Math" panose="02040503050406030204" pitchFamily="18" charset="0"/>
                      </a:rPr>
                      <m:t>=50</m:t>
                    </m:r>
                    <m:r>
                      <a:rPr lang="en-US" sz="1600" b="0" i="1" cap="none" smtClean="0">
                        <a:latin typeface="Cambria Math" panose="02040503050406030204" pitchFamily="18" charset="0"/>
                      </a:rPr>
                      <m:t>00 </m:t>
                    </m:r>
                    <m:r>
                      <m:rPr>
                        <m:sty m:val="p"/>
                      </m:rPr>
                      <a:rPr lang="en-US" sz="1600" i="1" cap="none">
                        <a:latin typeface="Cambria Math" panose="02040503050406030204" pitchFamily="18" charset="0"/>
                      </a:rPr>
                      <m:t>Hz</m:t>
                    </m:r>
                  </m:oMath>
                </a14:m>
                <a:endParaRPr lang="en-US" sz="1600" cap="none" dirty="0"/>
              </a:p>
              <a:p>
                <a:pPr lvl="1">
                  <a:lnSpc>
                    <a:spcPct val="100000"/>
                  </a:lnSpc>
                </a:pPr>
                <a:r>
                  <a:rPr lang="en-US" sz="1600" cap="none" dirty="0"/>
                  <a:t>Uncertainty: </a:t>
                </a:r>
                <a14:m>
                  <m:oMath xmlns:m="http://schemas.openxmlformats.org/officeDocument/2006/math">
                    <m:sSub>
                      <m:sSubPr>
                        <m:ctrlPr>
                          <a:rPr lang="en-US" sz="1600" i="1" cap="none">
                            <a:latin typeface="Cambria Math" panose="02040503050406030204" pitchFamily="18" charset="0"/>
                          </a:rPr>
                        </m:ctrlPr>
                      </m:sSubPr>
                      <m:e>
                        <m:r>
                          <a:rPr lang="en-US" sz="1600" i="1" cap="none">
                            <a:latin typeface="Cambria Math" panose="02040503050406030204" pitchFamily="18" charset="0"/>
                          </a:rPr>
                          <m:t>𝑠</m:t>
                        </m:r>
                      </m:e>
                      <m:sub>
                        <m:r>
                          <a:rPr lang="en-US" sz="1600" i="1" cap="none">
                            <a:latin typeface="Cambria Math" panose="02040503050406030204" pitchFamily="18" charset="0"/>
                          </a:rPr>
                          <m:t>𝑧</m:t>
                        </m:r>
                      </m:sub>
                    </m:sSub>
                    <m:r>
                      <a:rPr lang="en-US" sz="1600" i="1" cap="none">
                        <a:latin typeface="Cambria Math" panose="02040503050406030204" pitchFamily="18" charset="0"/>
                      </a:rPr>
                      <m:t>=</m:t>
                    </m:r>
                    <m:r>
                      <a:rPr lang="en-US" sz="1600" b="0" i="1" cap="none" smtClean="0">
                        <a:latin typeface="Cambria Math" panose="02040503050406030204" pitchFamily="18" charset="0"/>
                      </a:rPr>
                      <m:t>200</m:t>
                    </m:r>
                    <m:r>
                      <a:rPr lang="en-US" sz="1600" i="1" cap="none">
                        <a:latin typeface="Cambria Math" panose="02040503050406030204" pitchFamily="18" charset="0"/>
                      </a:rPr>
                      <m:t> </m:t>
                    </m:r>
                    <m:r>
                      <m:rPr>
                        <m:sty m:val="p"/>
                      </m:rPr>
                      <a:rPr lang="en-US" sz="1600" cap="none">
                        <a:latin typeface="Cambria Math" panose="02040503050406030204" pitchFamily="18" charset="0"/>
                      </a:rPr>
                      <m:t>Hz</m:t>
                    </m:r>
                  </m:oMath>
                </a14:m>
                <a:r>
                  <a:rPr lang="en-US" sz="1600" cap="none" dirty="0"/>
                  <a:t> (</a:t>
                </a:r>
                <a14:m>
                  <m:oMath xmlns:m="http://schemas.openxmlformats.org/officeDocument/2006/math">
                    <m:sSub>
                      <m:sSubPr>
                        <m:ctrlPr>
                          <a:rPr lang="en-US" sz="1600" b="0" i="1" cap="none" dirty="0" smtClean="0">
                            <a:latin typeface="Cambria Math" panose="02040503050406030204" pitchFamily="18" charset="0"/>
                          </a:rPr>
                        </m:ctrlPr>
                      </m:sSubPr>
                      <m:e>
                        <m:r>
                          <a:rPr lang="en-US" sz="1600" b="0" i="1" cap="none" dirty="0" smtClean="0">
                            <a:latin typeface="Cambria Math" panose="02040503050406030204" pitchFamily="18" charset="0"/>
                          </a:rPr>
                          <m:t>𝑓</m:t>
                        </m:r>
                      </m:e>
                      <m:sub>
                        <m:r>
                          <a:rPr lang="en-US" sz="1600" b="0" i="1" cap="none" dirty="0" smtClean="0">
                            <a:latin typeface="Cambria Math" panose="02040503050406030204" pitchFamily="18" charset="0"/>
                          </a:rPr>
                          <m:t>𝑠</m:t>
                        </m:r>
                      </m:sub>
                    </m:sSub>
                    <m:r>
                      <a:rPr lang="en-US" sz="1600" b="0" i="1" cap="none" dirty="0" smtClean="0">
                        <a:latin typeface="Cambria Math" panose="02040503050406030204" pitchFamily="18" charset="0"/>
                      </a:rPr>
                      <m:t>=500 </m:t>
                    </m:r>
                    <m:r>
                      <m:rPr>
                        <m:sty m:val="p"/>
                      </m:rPr>
                      <a:rPr lang="en-US" sz="1600" b="0" i="1" cap="none" dirty="0" smtClean="0">
                        <a:latin typeface="Cambria Math" panose="02040503050406030204" pitchFamily="18" charset="0"/>
                      </a:rPr>
                      <m:t>kHz</m:t>
                    </m:r>
                    <m:r>
                      <a:rPr lang="en-US" sz="1600" b="0" i="1" cap="none" dirty="0" smtClean="0">
                        <a:latin typeface="Cambria Math" panose="02040503050406030204" pitchFamily="18" charset="0"/>
                      </a:rPr>
                      <m:t>)</m:t>
                    </m:r>
                  </m:oMath>
                </a14:m>
                <a:endParaRPr lang="en-US" sz="1600" cap="none" dirty="0"/>
              </a:p>
              <a:p>
                <a:pPr lvl="1">
                  <a:lnSpc>
                    <a:spcPct val="100000"/>
                  </a:lnSpc>
                </a:pPr>
                <a14:m>
                  <m:oMath xmlns:m="http://schemas.openxmlformats.org/officeDocument/2006/math">
                    <m:r>
                      <a:rPr lang="en-US" sz="1600" i="1" cap="none">
                        <a:latin typeface="Cambria Math" panose="02040503050406030204" pitchFamily="18" charset="0"/>
                      </a:rPr>
                      <m:t>𝑡</m:t>
                    </m:r>
                  </m:oMath>
                </a14:m>
                <a:r>
                  <a:rPr lang="en-US" sz="1600" cap="none" dirty="0"/>
                  <a:t>-value </a:t>
                </a:r>
                <a14:m>
                  <m:oMath xmlns:m="http://schemas.openxmlformats.org/officeDocument/2006/math">
                    <m:r>
                      <a:rPr lang="en-US" sz="1600" i="1" cap="none">
                        <a:latin typeface="Cambria Math" panose="02040503050406030204" pitchFamily="18" charset="0"/>
                      </a:rPr>
                      <m:t>𝑡</m:t>
                    </m:r>
                    <m:r>
                      <a:rPr lang="en-US" sz="1600" i="1" cap="none">
                        <a:latin typeface="Cambria Math" panose="02040503050406030204" pitchFamily="18" charset="0"/>
                      </a:rPr>
                      <m:t>=</m:t>
                    </m:r>
                    <m:f>
                      <m:fPr>
                        <m:ctrlPr>
                          <a:rPr lang="en-US" sz="1600" i="1" cap="none">
                            <a:latin typeface="Cambria Math" panose="02040503050406030204" pitchFamily="18" charset="0"/>
                          </a:rPr>
                        </m:ctrlPr>
                      </m:fPr>
                      <m:num>
                        <m:d>
                          <m:dPr>
                            <m:begChr m:val="|"/>
                            <m:endChr m:val="|"/>
                            <m:ctrlPr>
                              <a:rPr lang="en-US" sz="1600" i="1" cap="none">
                                <a:latin typeface="Cambria Math" panose="02040503050406030204" pitchFamily="18" charset="0"/>
                              </a:rPr>
                            </m:ctrlPr>
                          </m:dPr>
                          <m:e>
                            <m:r>
                              <a:rPr lang="en-US" sz="1600" b="0" i="1" cap="none" smtClean="0">
                                <a:latin typeface="Cambria Math" panose="02040503050406030204" pitchFamily="18" charset="0"/>
                              </a:rPr>
                              <m:t>5</m:t>
                            </m:r>
                            <m:r>
                              <a:rPr lang="en-US" sz="1600" i="1" cap="none">
                                <a:latin typeface="Cambria Math" panose="02040503050406030204" pitchFamily="18" charset="0"/>
                              </a:rPr>
                              <m:t>000.00−</m:t>
                            </m:r>
                            <m:r>
                              <a:rPr lang="en-US" sz="1600" b="0" i="1" cap="none" smtClean="0">
                                <a:latin typeface="Cambria Math" panose="02040503050406030204" pitchFamily="18" charset="0"/>
                              </a:rPr>
                              <m:t>5</m:t>
                            </m:r>
                            <m:r>
                              <a:rPr lang="en-US" sz="1600" b="0" i="1" cap="none" smtClean="0">
                                <a:latin typeface="Cambria Math" panose="02040503050406030204" pitchFamily="18" charset="0"/>
                              </a:rPr>
                              <m:t>000.00</m:t>
                            </m:r>
                          </m:e>
                        </m:d>
                      </m:num>
                      <m:den>
                        <m:r>
                          <a:rPr lang="en-US" sz="1600" b="0" i="1" cap="none" smtClean="0">
                            <a:latin typeface="Cambria Math" panose="02040503050406030204" pitchFamily="18" charset="0"/>
                          </a:rPr>
                          <m:t>10</m:t>
                        </m:r>
                        <m:r>
                          <a:rPr lang="en-US" sz="1600" b="0" i="1" cap="none" smtClean="0">
                            <a:latin typeface="Cambria Math" panose="02040503050406030204" pitchFamily="18" charset="0"/>
                          </a:rPr>
                          <m:t>00</m:t>
                        </m:r>
                      </m:den>
                    </m:f>
                    <m:r>
                      <a:rPr lang="en-US" sz="1600" i="1" cap="none">
                        <a:latin typeface="Cambria Math" panose="02040503050406030204" pitchFamily="18" charset="0"/>
                      </a:rPr>
                      <m:t>=</m:t>
                    </m:r>
                    <m:r>
                      <a:rPr lang="en-US" sz="1600" b="0" i="1" cap="none" smtClean="0">
                        <a:latin typeface="Cambria Math" panose="02040503050406030204" pitchFamily="18" charset="0"/>
                      </a:rPr>
                      <m:t>0.000</m:t>
                    </m:r>
                  </m:oMath>
                </a14:m>
                <a:endParaRPr lang="en-US" sz="1600" cap="none" dirty="0"/>
              </a:p>
              <a:p>
                <a:pPr>
                  <a:lnSpc>
                    <a:spcPct val="100000"/>
                  </a:lnSpc>
                </a:pPr>
                <a:r>
                  <a:rPr lang="en-US" sz="1600" cap="none" dirty="0"/>
                  <a:t>Quadrature t-test:</a:t>
                </a:r>
              </a:p>
              <a:p>
                <a:pPr lvl="1">
                  <a:lnSpc>
                    <a:spcPct val="100000"/>
                  </a:lnSpc>
                </a:pPr>
                <a14:m>
                  <m:oMath xmlns:m="http://schemas.openxmlformats.org/officeDocument/2006/math">
                    <m:r>
                      <a:rPr lang="en-US" sz="1400" i="1" cap="none">
                        <a:latin typeface="Cambria Math" panose="02040503050406030204" pitchFamily="18" charset="0"/>
                      </a:rPr>
                      <m:t>𝑡</m:t>
                    </m:r>
                    <m:r>
                      <a:rPr lang="en-US" sz="1400" i="1" cap="none">
                        <a:latin typeface="Cambria Math" panose="02040503050406030204" pitchFamily="18" charset="0"/>
                      </a:rPr>
                      <m:t>=</m:t>
                    </m:r>
                    <m:f>
                      <m:fPr>
                        <m:ctrlPr>
                          <a:rPr lang="en-US" sz="1400" i="1" cap="none">
                            <a:latin typeface="Cambria Math" panose="02040503050406030204" pitchFamily="18" charset="0"/>
                          </a:rPr>
                        </m:ctrlPr>
                      </m:fPr>
                      <m:num>
                        <m:r>
                          <a:rPr lang="en-US" sz="1400" i="1" cap="none">
                            <a:latin typeface="Cambria Math" panose="02040503050406030204" pitchFamily="18" charset="0"/>
                          </a:rPr>
                          <m:t>|</m:t>
                        </m:r>
                        <m:sSub>
                          <m:sSubPr>
                            <m:ctrlPr>
                              <a:rPr lang="en-US" sz="1400" i="1" cap="none">
                                <a:latin typeface="Cambria Math" panose="02040503050406030204" pitchFamily="18" charset="0"/>
                              </a:rPr>
                            </m:ctrlPr>
                          </m:sSubPr>
                          <m:e>
                            <m:r>
                              <a:rPr lang="en-US" sz="1400" i="1" cap="none">
                                <a:latin typeface="Cambria Math" panose="02040503050406030204" pitchFamily="18" charset="0"/>
                              </a:rPr>
                              <m:t>𝑧</m:t>
                            </m:r>
                          </m:e>
                          <m:sub>
                            <m:r>
                              <a:rPr lang="en-US" sz="1400" i="1" cap="none">
                                <a:latin typeface="Cambria Math" panose="02040503050406030204" pitchFamily="18" charset="0"/>
                              </a:rPr>
                              <m:t>𝑜𝑠𝑐𝑙𝑙𝑖𝑜𝑠𝑐𝑜𝑝𝑒</m:t>
                            </m:r>
                          </m:sub>
                        </m:sSub>
                        <m:r>
                          <a:rPr lang="en-US" sz="1400" i="1" cap="none">
                            <a:latin typeface="Cambria Math" panose="02040503050406030204" pitchFamily="18" charset="0"/>
                          </a:rPr>
                          <m:t>−</m:t>
                        </m:r>
                        <m:sSub>
                          <m:sSubPr>
                            <m:ctrlPr>
                              <a:rPr lang="en-US" sz="1400" i="1" cap="none">
                                <a:latin typeface="Cambria Math" panose="02040503050406030204" pitchFamily="18" charset="0"/>
                              </a:rPr>
                            </m:ctrlPr>
                          </m:sSubPr>
                          <m:e>
                            <m:r>
                              <a:rPr lang="en-US" sz="1400" i="1" cap="none">
                                <a:latin typeface="Cambria Math" panose="02040503050406030204" pitchFamily="18" charset="0"/>
                              </a:rPr>
                              <m:t>𝑧</m:t>
                            </m:r>
                          </m:e>
                          <m:sub>
                            <m:r>
                              <a:rPr lang="en-US" sz="1400" i="1" cap="none">
                                <a:latin typeface="Cambria Math" panose="02040503050406030204" pitchFamily="18" charset="0"/>
                              </a:rPr>
                              <m:t>𝑝𝑦𝑡h𝑜𝑛</m:t>
                            </m:r>
                          </m:sub>
                        </m:sSub>
                        <m:r>
                          <a:rPr lang="en-US" sz="1400" i="1" cap="none">
                            <a:latin typeface="Cambria Math" panose="02040503050406030204" pitchFamily="18" charset="0"/>
                          </a:rPr>
                          <m:t>|</m:t>
                        </m:r>
                      </m:num>
                      <m:den>
                        <m:rad>
                          <m:radPr>
                            <m:degHide m:val="on"/>
                            <m:ctrlPr>
                              <a:rPr lang="en-US" sz="1400" i="1" cap="none">
                                <a:latin typeface="Cambria Math" panose="02040503050406030204" pitchFamily="18" charset="0"/>
                              </a:rPr>
                            </m:ctrlPr>
                          </m:radPr>
                          <m:deg/>
                          <m:e>
                            <m:sSubSup>
                              <m:sSubSupPr>
                                <m:ctrlPr>
                                  <a:rPr lang="en-US" sz="1400" i="1" cap="none">
                                    <a:latin typeface="Cambria Math" panose="02040503050406030204" pitchFamily="18" charset="0"/>
                                  </a:rPr>
                                </m:ctrlPr>
                              </m:sSubSupPr>
                              <m:e>
                                <m:r>
                                  <a:rPr lang="en-US" sz="1400" i="1" cap="none">
                                    <a:latin typeface="Cambria Math" panose="02040503050406030204" pitchFamily="18" charset="0"/>
                                  </a:rPr>
                                  <m:t>𝑠</m:t>
                                </m:r>
                              </m:e>
                              <m:sub>
                                <m:r>
                                  <a:rPr lang="en-US" sz="1400" i="1" cap="none">
                                    <a:latin typeface="Cambria Math" panose="02040503050406030204" pitchFamily="18" charset="0"/>
                                  </a:rPr>
                                  <m:t>𝑜𝑠</m:t>
                                </m:r>
                                <m:r>
                                  <m:rPr>
                                    <m:sty m:val="p"/>
                                  </m:rPr>
                                  <a:rPr lang="en-US" sz="1400" i="1" cap="none">
                                    <a:latin typeface="Cambria Math" panose="02040503050406030204" pitchFamily="18" charset="0"/>
                                  </a:rPr>
                                  <m:t>i</m:t>
                                </m:r>
                                <m:r>
                                  <a:rPr lang="en-US" sz="1400" i="1" cap="none">
                                    <a:latin typeface="Cambria Math" panose="02040503050406030204" pitchFamily="18" charset="0"/>
                                  </a:rPr>
                                  <m:t>𝑐𝑙𝑙</m:t>
                                </m:r>
                                <m:r>
                                  <m:rPr>
                                    <m:sty m:val="p"/>
                                  </m:rPr>
                                  <a:rPr lang="en-US" sz="1400" i="1" cap="none">
                                    <a:latin typeface="Cambria Math" panose="02040503050406030204" pitchFamily="18" charset="0"/>
                                  </a:rPr>
                                  <m:t>o</m:t>
                                </m:r>
                                <m:r>
                                  <a:rPr lang="en-US" sz="1400" i="1" cap="none">
                                    <a:latin typeface="Cambria Math" panose="02040503050406030204" pitchFamily="18" charset="0"/>
                                  </a:rPr>
                                  <m:t>𝑠𝑐𝑜𝑝𝑒</m:t>
                                </m:r>
                              </m:sub>
                              <m:sup>
                                <m:r>
                                  <a:rPr lang="en-US" sz="1400" i="1" cap="none">
                                    <a:latin typeface="Cambria Math" panose="02040503050406030204" pitchFamily="18" charset="0"/>
                                  </a:rPr>
                                  <m:t>2</m:t>
                                </m:r>
                              </m:sup>
                            </m:sSubSup>
                            <m:r>
                              <a:rPr lang="en-US" sz="1400" i="1" cap="none">
                                <a:latin typeface="Cambria Math" panose="02040503050406030204" pitchFamily="18" charset="0"/>
                              </a:rPr>
                              <m:t>+</m:t>
                            </m:r>
                            <m:sSubSup>
                              <m:sSubSupPr>
                                <m:ctrlPr>
                                  <a:rPr lang="en-US" sz="1400" i="1" cap="none">
                                    <a:latin typeface="Cambria Math" panose="02040503050406030204" pitchFamily="18" charset="0"/>
                                  </a:rPr>
                                </m:ctrlPr>
                              </m:sSubSupPr>
                              <m:e>
                                <m:r>
                                  <a:rPr lang="en-US" sz="1400" i="1" cap="none">
                                    <a:latin typeface="Cambria Math" panose="02040503050406030204" pitchFamily="18" charset="0"/>
                                  </a:rPr>
                                  <m:t>𝑠</m:t>
                                </m:r>
                              </m:e>
                              <m:sub>
                                <m:r>
                                  <a:rPr lang="en-US" sz="1400" i="1" cap="none">
                                    <a:latin typeface="Cambria Math" panose="02040503050406030204" pitchFamily="18" charset="0"/>
                                  </a:rPr>
                                  <m:t>𝑝𝑦𝑡h𝑜𝑛</m:t>
                                </m:r>
                              </m:sub>
                              <m:sup>
                                <m:r>
                                  <a:rPr lang="en-US" sz="1400" i="1" cap="none">
                                    <a:latin typeface="Cambria Math" panose="02040503050406030204" pitchFamily="18" charset="0"/>
                                  </a:rPr>
                                  <m:t>2</m:t>
                                </m:r>
                              </m:sup>
                            </m:sSubSup>
                          </m:e>
                        </m:rad>
                      </m:den>
                    </m:f>
                    <m:r>
                      <a:rPr lang="en-US" sz="1400" i="1" cap="none">
                        <a:latin typeface="Cambria Math" panose="02040503050406030204" pitchFamily="18" charset="0"/>
                      </a:rPr>
                      <m:t>=0.0</m:t>
                    </m:r>
                    <m:r>
                      <a:rPr lang="en-US" sz="1400" b="0" i="1" cap="none" smtClean="0">
                        <a:latin typeface="Cambria Math" panose="02040503050406030204" pitchFamily="18" charset="0"/>
                      </a:rPr>
                      <m:t>90</m:t>
                    </m:r>
                  </m:oMath>
                </a14:m>
                <a:endParaRPr lang="en-US" sz="1800" b="0" cap="none" dirty="0"/>
              </a:p>
              <a:p>
                <a:r>
                  <a:rPr lang="en-US" sz="1600" b="0" cap="none" dirty="0"/>
                  <a:t>Result: The oscilloscope drifts further from the target at higher frequencies (</a:t>
                </a:r>
                <a14:m>
                  <m:oMath xmlns:m="http://schemas.openxmlformats.org/officeDocument/2006/math">
                    <m:r>
                      <a:rPr lang="en-US" sz="1600" b="0" i="1" cap="none" smtClean="0">
                        <a:latin typeface="Cambria Math" panose="02040503050406030204" pitchFamily="18" charset="0"/>
                      </a:rPr>
                      <m:t>18.54 </m:t>
                    </m:r>
                    <m:r>
                      <m:rPr>
                        <m:sty m:val="p"/>
                      </m:rPr>
                      <a:rPr lang="en-US" sz="1600" b="0" i="1" cap="none" smtClean="0">
                        <a:latin typeface="Cambria Math" panose="02040503050406030204" pitchFamily="18" charset="0"/>
                      </a:rPr>
                      <m:t>Hz</m:t>
                    </m:r>
                    <m:r>
                      <a:rPr lang="en-US" sz="1600" b="0" i="1" cap="none" smtClean="0">
                        <a:latin typeface="Cambria Math" panose="02040503050406030204" pitchFamily="18" charset="0"/>
                      </a:rPr>
                      <m:t> </m:t>
                    </m:r>
                    <m:r>
                      <m:rPr>
                        <m:sty m:val="p"/>
                      </m:rPr>
                      <a:rPr lang="en-US" sz="1600" b="0" i="1" cap="none" smtClean="0">
                        <a:latin typeface="Cambria Math" panose="02040503050406030204" pitchFamily="18" charset="0"/>
                      </a:rPr>
                      <m:t>error</m:t>
                    </m:r>
                    <m:r>
                      <a:rPr lang="en-US" sz="1600" b="0" i="1" cap="none" smtClean="0">
                        <a:latin typeface="Cambria Math" panose="02040503050406030204" pitchFamily="18" charset="0"/>
                      </a:rPr>
                      <m:t>)</m:t>
                    </m:r>
                  </m:oMath>
                </a14:m>
                <a:r>
                  <a:rPr lang="en-US" sz="1600" cap="none" dirty="0"/>
                  <a:t> but the instrument scales it’s bin resolution (49.32 Hz) to compensate, keeping t &lt; 1.0. </a:t>
                </a:r>
              </a:p>
            </p:txBody>
          </p:sp>
        </mc:Choice>
        <mc:Fallback>
          <p:sp>
            <p:nvSpPr>
              <p:cNvPr id="3" name="Content Placeholder 2">
                <a:extLst>
                  <a:ext uri="{FF2B5EF4-FFF2-40B4-BE49-F238E27FC236}">
                    <a16:creationId xmlns:a16="http://schemas.microsoft.com/office/drawing/2014/main" id="{F14DED5C-2899-E242-AC58-7F05D818C5C5}"/>
                  </a:ext>
                </a:extLst>
              </p:cNvPr>
              <p:cNvSpPr>
                <a:spLocks noGrp="1" noRot="1" noChangeAspect="1" noMove="1" noResize="1" noEditPoints="1" noAdjustHandles="1" noChangeArrowheads="1" noChangeShapeType="1" noTextEdit="1"/>
              </p:cNvSpPr>
              <p:nvPr>
                <p:ph sz="quarter" idx="13"/>
              </p:nvPr>
            </p:nvSpPr>
            <p:spPr>
              <a:blipFill>
                <a:blip r:embed="rId2"/>
                <a:stretch>
                  <a:fillRect l="-492" t="-1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92010EEC-2E25-E7BD-A3AC-726806A90017}"/>
                  </a:ext>
                </a:extLst>
              </p:cNvPr>
              <p:cNvSpPr>
                <a:spLocks noGrp="1"/>
              </p:cNvSpPr>
              <p:nvPr>
                <p:ph type="body" sz="half" idx="2"/>
              </p:nvPr>
            </p:nvSpPr>
            <p:spPr>
              <a:xfrm>
                <a:off x="913774" y="2632852"/>
                <a:ext cx="3935689" cy="3848868"/>
              </a:xfrm>
              <a:noFill/>
              <a:ln>
                <a:noFill/>
              </a:ln>
            </p:spPr>
            <p:style>
              <a:lnRef idx="0">
                <a:scrgbClr r="0" g="0" b="0"/>
              </a:lnRef>
              <a:fillRef idx="0">
                <a:scrgbClr r="0" g="0" b="0"/>
              </a:fillRef>
              <a:effectRef idx="0">
                <a:scrgbClr r="0" g="0" b="0"/>
              </a:effectRef>
              <a:fontRef idx="minor">
                <a:schemeClr val="dk1"/>
              </a:fontRef>
            </p:style>
            <p:txBody>
              <a:bodyPr/>
              <a:lstStyle/>
              <a:p>
                <a:pPr marL="285750" indent="-285750" algn="l">
                  <a:lnSpc>
                    <a:spcPct val="100000"/>
                  </a:lnSpc>
                  <a:spcBef>
                    <a:spcPts val="0"/>
                  </a:spcBef>
                  <a:buFont typeface="Arial" panose="020B0604020202020204" pitchFamily="34" charset="0"/>
                  <a:buChar char="•"/>
                </a:pPr>
                <a:r>
                  <a:rPr lang="en-US" b="0" cap="none" dirty="0"/>
                  <a:t>To determine if the Oscilloscope FFT and Python FFT methods are statistically consistent with each other, we perform a t-test comparing two measured values. The uncertainty for the difference between two measurements is the quadrature sum of their individual uncertainties.</a:t>
                </a:r>
              </a:p>
              <a:p>
                <a:pPr marL="285750" indent="-285750" algn="l">
                  <a:lnSpc>
                    <a:spcPct val="100000"/>
                  </a:lnSpc>
                  <a:spcBef>
                    <a:spcPts val="0"/>
                  </a:spcBef>
                  <a:buFont typeface="Arial" panose="020B0604020202020204" pitchFamily="34" charset="0"/>
                  <a:buChar char="•"/>
                </a:pPr>
                <a:endParaRPr lang="en-US" i="1" cap="none" dirty="0">
                  <a:latin typeface="Cambria Math" panose="02040503050406030204" pitchFamily="18" charset="0"/>
                </a:endParaRPr>
              </a:p>
              <a:p>
                <a:pPr algn="l">
                  <a:lnSpc>
                    <a:spcPct val="100000"/>
                  </a:lnSpc>
                  <a:spcBef>
                    <a:spcPts val="0"/>
                  </a:spcBef>
                </a:pPr>
                <a14:m>
                  <m:oMathPara xmlns:m="http://schemas.openxmlformats.org/officeDocument/2006/math">
                    <m:oMathParaPr>
                      <m:jc m:val="centerGroup"/>
                    </m:oMathParaPr>
                    <m:oMath xmlns:m="http://schemas.openxmlformats.org/officeDocument/2006/math">
                      <m:r>
                        <a:rPr lang="en-US" i="1" cap="none">
                          <a:latin typeface="Cambria Math" panose="02040503050406030204" pitchFamily="18" charset="0"/>
                        </a:rPr>
                        <m:t>𝑡</m:t>
                      </m:r>
                      <m:r>
                        <a:rPr lang="en-US" i="1" cap="none">
                          <a:latin typeface="Cambria Math" panose="02040503050406030204" pitchFamily="18" charset="0"/>
                        </a:rPr>
                        <m:t>=</m:t>
                      </m:r>
                      <m:f>
                        <m:fPr>
                          <m:ctrlPr>
                            <a:rPr lang="en-US" i="1" cap="none">
                              <a:latin typeface="Cambria Math" panose="02040503050406030204" pitchFamily="18" charset="0"/>
                            </a:rPr>
                          </m:ctrlPr>
                        </m:fPr>
                        <m:num>
                          <m:r>
                            <a:rPr lang="en-US" i="1" cap="none">
                              <a:latin typeface="Cambria Math" panose="02040503050406030204" pitchFamily="18" charset="0"/>
                            </a:rPr>
                            <m:t>|</m:t>
                          </m:r>
                          <m:sSub>
                            <m:sSubPr>
                              <m:ctrlPr>
                                <a:rPr lang="en-US" i="1" cap="none">
                                  <a:latin typeface="Cambria Math" panose="02040503050406030204" pitchFamily="18" charset="0"/>
                                </a:rPr>
                              </m:ctrlPr>
                            </m:sSubPr>
                            <m:e>
                              <m:r>
                                <a:rPr lang="en-US" i="1" cap="none">
                                  <a:latin typeface="Cambria Math" panose="02040503050406030204" pitchFamily="18" charset="0"/>
                                </a:rPr>
                                <m:t>𝑧</m:t>
                              </m:r>
                            </m:e>
                            <m:sub>
                              <m:r>
                                <a:rPr lang="en-US" i="1" cap="none">
                                  <a:latin typeface="Cambria Math" panose="02040503050406030204" pitchFamily="18" charset="0"/>
                                </a:rPr>
                                <m:t>𝑜𝑠𝑐𝑙𝑙𝑖𝑜𝑠𝑐𝑜𝑝𝑒</m:t>
                              </m:r>
                            </m:sub>
                          </m:sSub>
                          <m:r>
                            <a:rPr lang="en-US" i="1" cap="none">
                              <a:latin typeface="Cambria Math" panose="02040503050406030204" pitchFamily="18" charset="0"/>
                            </a:rPr>
                            <m:t>−</m:t>
                          </m:r>
                          <m:sSub>
                            <m:sSubPr>
                              <m:ctrlPr>
                                <a:rPr lang="en-US" i="1" cap="none">
                                  <a:latin typeface="Cambria Math" panose="02040503050406030204" pitchFamily="18" charset="0"/>
                                </a:rPr>
                              </m:ctrlPr>
                            </m:sSubPr>
                            <m:e>
                              <m:r>
                                <a:rPr lang="en-US" i="1" cap="none">
                                  <a:latin typeface="Cambria Math" panose="02040503050406030204" pitchFamily="18" charset="0"/>
                                </a:rPr>
                                <m:t>𝑧</m:t>
                              </m:r>
                            </m:e>
                            <m:sub>
                              <m:r>
                                <a:rPr lang="en-US" i="1" cap="none">
                                  <a:latin typeface="Cambria Math" panose="02040503050406030204" pitchFamily="18" charset="0"/>
                                </a:rPr>
                                <m:t>𝑝𝑦𝑡h𝑜𝑛</m:t>
                              </m:r>
                            </m:sub>
                          </m:sSub>
                          <m:r>
                            <a:rPr lang="en-US" i="1" cap="none">
                              <a:latin typeface="Cambria Math" panose="02040503050406030204" pitchFamily="18" charset="0"/>
                            </a:rPr>
                            <m:t>|</m:t>
                          </m:r>
                        </m:num>
                        <m:den>
                          <m:rad>
                            <m:radPr>
                              <m:degHide m:val="on"/>
                              <m:ctrlPr>
                                <a:rPr lang="en-US" i="1" cap="none">
                                  <a:latin typeface="Cambria Math" panose="02040503050406030204" pitchFamily="18" charset="0"/>
                                </a:rPr>
                              </m:ctrlPr>
                            </m:radPr>
                            <m:deg/>
                            <m:e>
                              <m:sSubSup>
                                <m:sSubSupPr>
                                  <m:ctrlPr>
                                    <a:rPr lang="en-US" i="1" cap="none">
                                      <a:latin typeface="Cambria Math" panose="02040503050406030204" pitchFamily="18" charset="0"/>
                                    </a:rPr>
                                  </m:ctrlPr>
                                </m:sSubSupPr>
                                <m:e>
                                  <m:r>
                                    <a:rPr lang="en-US" i="1" cap="none">
                                      <a:latin typeface="Cambria Math" panose="02040503050406030204" pitchFamily="18" charset="0"/>
                                    </a:rPr>
                                    <m:t>𝑠</m:t>
                                  </m:r>
                                </m:e>
                                <m:sub>
                                  <m:r>
                                    <a:rPr lang="en-US" i="1" cap="none">
                                      <a:latin typeface="Cambria Math" panose="02040503050406030204" pitchFamily="18" charset="0"/>
                                    </a:rPr>
                                    <m:t>𝑜𝑠</m:t>
                                  </m:r>
                                  <m:r>
                                    <m:rPr>
                                      <m:sty m:val="p"/>
                                    </m:rPr>
                                    <a:rPr lang="en-US" i="1" cap="none">
                                      <a:latin typeface="Cambria Math" panose="02040503050406030204" pitchFamily="18" charset="0"/>
                                    </a:rPr>
                                    <m:t>i</m:t>
                                  </m:r>
                                  <m:r>
                                    <a:rPr lang="en-US" i="1" cap="none">
                                      <a:latin typeface="Cambria Math" panose="02040503050406030204" pitchFamily="18" charset="0"/>
                                    </a:rPr>
                                    <m:t>𝑐𝑙𝑙</m:t>
                                  </m:r>
                                  <m:r>
                                    <m:rPr>
                                      <m:sty m:val="p"/>
                                    </m:rPr>
                                    <a:rPr lang="en-US" i="1" cap="none">
                                      <a:latin typeface="Cambria Math" panose="02040503050406030204" pitchFamily="18" charset="0"/>
                                    </a:rPr>
                                    <m:t>o</m:t>
                                  </m:r>
                                  <m:r>
                                    <a:rPr lang="en-US" i="1" cap="none">
                                      <a:latin typeface="Cambria Math" panose="02040503050406030204" pitchFamily="18" charset="0"/>
                                    </a:rPr>
                                    <m:t>𝑠𝑐𝑜𝑝𝑒</m:t>
                                  </m:r>
                                </m:sub>
                                <m:sup>
                                  <m:r>
                                    <a:rPr lang="en-US" i="1" cap="none">
                                      <a:latin typeface="Cambria Math" panose="02040503050406030204" pitchFamily="18" charset="0"/>
                                    </a:rPr>
                                    <m:t>2</m:t>
                                  </m:r>
                                </m:sup>
                              </m:sSubSup>
                              <m:r>
                                <a:rPr lang="en-US" i="1" cap="none">
                                  <a:latin typeface="Cambria Math" panose="02040503050406030204" pitchFamily="18" charset="0"/>
                                </a:rPr>
                                <m:t>+</m:t>
                              </m:r>
                              <m:sSubSup>
                                <m:sSubSupPr>
                                  <m:ctrlPr>
                                    <a:rPr lang="en-US" i="1" cap="none">
                                      <a:latin typeface="Cambria Math" panose="02040503050406030204" pitchFamily="18" charset="0"/>
                                    </a:rPr>
                                  </m:ctrlPr>
                                </m:sSubSupPr>
                                <m:e>
                                  <m:r>
                                    <a:rPr lang="en-US" i="1" cap="none">
                                      <a:latin typeface="Cambria Math" panose="02040503050406030204" pitchFamily="18" charset="0"/>
                                    </a:rPr>
                                    <m:t>𝑠</m:t>
                                  </m:r>
                                </m:e>
                                <m:sub>
                                  <m:r>
                                    <a:rPr lang="en-US" i="1" cap="none">
                                      <a:latin typeface="Cambria Math" panose="02040503050406030204" pitchFamily="18" charset="0"/>
                                    </a:rPr>
                                    <m:t>𝑝𝑦𝑡h𝑜𝑛</m:t>
                                  </m:r>
                                </m:sub>
                                <m:sup>
                                  <m:r>
                                    <a:rPr lang="en-US" i="1" cap="none">
                                      <a:latin typeface="Cambria Math" panose="02040503050406030204" pitchFamily="18" charset="0"/>
                                    </a:rPr>
                                    <m:t>2</m:t>
                                  </m:r>
                                </m:sup>
                              </m:sSubSup>
                            </m:e>
                          </m:rad>
                        </m:den>
                      </m:f>
                    </m:oMath>
                  </m:oMathPara>
                </a14:m>
                <a:endParaRPr lang="en-US" b="0" cap="none" dirty="0"/>
              </a:p>
              <a:p>
                <a:pPr algn="l"/>
                <a:endParaRPr lang="en-US" b="0" cap="none" dirty="0"/>
              </a:p>
              <a:p>
                <a:pPr algn="l"/>
                <a:endParaRPr lang="en-US" b="0" cap="none" dirty="0"/>
              </a:p>
              <a:p>
                <a:pPr algn="l"/>
                <a:endParaRPr lang="en-US" cap="none" dirty="0"/>
              </a:p>
            </p:txBody>
          </p:sp>
        </mc:Choice>
        <mc:Fallback>
          <p:sp>
            <p:nvSpPr>
              <p:cNvPr id="4" name="Text Placeholder 3">
                <a:extLst>
                  <a:ext uri="{FF2B5EF4-FFF2-40B4-BE49-F238E27FC236}">
                    <a16:creationId xmlns:a16="http://schemas.microsoft.com/office/drawing/2014/main" id="{92010EEC-2E25-E7BD-A3AC-726806A90017}"/>
                  </a:ext>
                </a:extLst>
              </p:cNvPr>
              <p:cNvSpPr>
                <a:spLocks noGrp="1" noRot="1" noChangeAspect="1" noMove="1" noResize="1" noEditPoints="1" noAdjustHandles="1" noChangeArrowheads="1" noChangeShapeType="1" noTextEdit="1"/>
              </p:cNvSpPr>
              <p:nvPr>
                <p:ph type="body" sz="half" idx="2"/>
              </p:nvPr>
            </p:nvSpPr>
            <p:spPr>
              <a:xfrm>
                <a:off x="913774" y="2632852"/>
                <a:ext cx="3935689" cy="3848868"/>
              </a:xfrm>
              <a:blipFill>
                <a:blip r:embed="rId3"/>
                <a:stretch>
                  <a:fillRect l="-619" t="-475" r="-201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634437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6C469D-36E4-C9E0-36EE-D0572E7AFFCE}"/>
              </a:ext>
            </a:extLst>
          </p:cNvPr>
          <p:cNvPicPr>
            <a:picLocks noChangeAspect="1"/>
          </p:cNvPicPr>
          <p:nvPr/>
        </p:nvPicPr>
        <p:blipFill>
          <a:blip r:embed="rId2"/>
          <a:stretch>
            <a:fillRect/>
          </a:stretch>
        </p:blipFill>
        <p:spPr>
          <a:xfrm>
            <a:off x="538118" y="673411"/>
            <a:ext cx="11115764" cy="5511177"/>
          </a:xfrm>
          <a:prstGeom prst="rect">
            <a:avLst/>
          </a:prstGeom>
        </p:spPr>
      </p:pic>
    </p:spTree>
    <p:extLst>
      <p:ext uri="{BB962C8B-B14F-4D97-AF65-F5344CB8AC3E}">
        <p14:creationId xmlns:p14="http://schemas.microsoft.com/office/powerpoint/2010/main" val="2292594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39" name="Picture 2">
            <a:extLst>
              <a:ext uri="{FF2B5EF4-FFF2-40B4-BE49-F238E27FC236}">
                <a16:creationId xmlns:a16="http://schemas.microsoft.com/office/drawing/2014/main" id="{E1408BAF-1350-4BC5-9C72-82A08BB07B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a:extLst>
              <a:ext uri="{FF2B5EF4-FFF2-40B4-BE49-F238E27FC236}">
                <a16:creationId xmlns:a16="http://schemas.microsoft.com/office/drawing/2014/main" id="{44E843C5-E258-463E-B6A7-03E24286BC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1" name="Rectangle 40">
            <a:extLst>
              <a:ext uri="{FF2B5EF4-FFF2-40B4-BE49-F238E27FC236}">
                <a16:creationId xmlns:a16="http://schemas.microsoft.com/office/drawing/2014/main" id="{5D2CA358-2EA6-49C2-AAEF-0C79C1F76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2">
            <a:extLst>
              <a:ext uri="{FF2B5EF4-FFF2-40B4-BE49-F238E27FC236}">
                <a16:creationId xmlns:a16="http://schemas.microsoft.com/office/drawing/2014/main" id="{AAD74829-8970-4A28-B5F6-387E0E313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3"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9002FFE-B08A-BA32-C3B7-5C69BECABC0E}"/>
              </a:ext>
            </a:extLst>
          </p:cNvPr>
          <p:cNvPicPr>
            <a:picLocks noChangeAspect="1"/>
          </p:cNvPicPr>
          <p:nvPr/>
        </p:nvPicPr>
        <p:blipFill>
          <a:blip r:embed="rId4"/>
          <a:stretch>
            <a:fillRect/>
          </a:stretch>
        </p:blipFill>
        <p:spPr>
          <a:xfrm>
            <a:off x="6875079" y="3752784"/>
            <a:ext cx="4973238" cy="2461752"/>
          </a:xfrm>
          <a:prstGeom prst="rect">
            <a:avLst/>
          </a:prstGeom>
        </p:spPr>
      </p:pic>
      <p:pic>
        <p:nvPicPr>
          <p:cNvPr id="43" name="Picture 42">
            <a:extLst>
              <a:ext uri="{FF2B5EF4-FFF2-40B4-BE49-F238E27FC236}">
                <a16:creationId xmlns:a16="http://schemas.microsoft.com/office/drawing/2014/main" id="{D976ACB9-C2D4-45C2-924A-2CF7CFF5112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2"/>
            <a:ext cx="12192000" cy="6858000"/>
          </a:xfrm>
          <a:prstGeom prst="rect">
            <a:avLst/>
          </a:prstGeom>
        </p:spPr>
      </p:pic>
      <p:pic>
        <p:nvPicPr>
          <p:cNvPr id="6" name="Content Placeholder 5">
            <a:extLst>
              <a:ext uri="{FF2B5EF4-FFF2-40B4-BE49-F238E27FC236}">
                <a16:creationId xmlns:a16="http://schemas.microsoft.com/office/drawing/2014/main" id="{323558B6-57B6-9745-6A0B-38EC6ABE83FB}"/>
              </a:ext>
            </a:extLst>
          </p:cNvPr>
          <p:cNvPicPr>
            <a:picLocks noGrp="1" noChangeAspect="1"/>
          </p:cNvPicPr>
          <p:nvPr>
            <p:ph sz="quarter" idx="13"/>
          </p:nvPr>
        </p:nvPicPr>
        <p:blipFill>
          <a:blip r:embed="rId5"/>
          <a:stretch>
            <a:fillRect/>
          </a:stretch>
        </p:blipFill>
        <p:spPr>
          <a:xfrm>
            <a:off x="6870936" y="942302"/>
            <a:ext cx="5023632" cy="2486697"/>
          </a:xfrm>
          <a:prstGeom prst="rect">
            <a:avLst/>
          </a:prstGeom>
        </p:spPr>
      </p:pic>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66E7C63C-D817-1325-F087-DAAB6B6CE622}"/>
                  </a:ext>
                </a:extLst>
              </p:cNvPr>
              <p:cNvSpPr>
                <a:spLocks noGrp="1"/>
              </p:cNvSpPr>
              <p:nvPr>
                <p:ph type="body" sz="half" idx="2"/>
              </p:nvPr>
            </p:nvSpPr>
            <p:spPr>
              <a:xfrm>
                <a:off x="1054065" y="2367092"/>
                <a:ext cx="5855415" cy="3847444"/>
              </a:xfrm>
            </p:spPr>
            <p:txBody>
              <a:bodyPr vert="horz" lIns="91440" tIns="45720" rIns="91440" bIns="45720" rtlCol="0">
                <a:normAutofit/>
              </a:bodyPr>
              <a:lstStyle/>
              <a:p>
                <a:pPr marL="285750" indent="-228600" algn="l">
                  <a:lnSpc>
                    <a:spcPct val="110000"/>
                  </a:lnSpc>
                  <a:buFont typeface="Arial" panose="020B0604020202020204" pitchFamily="34" charset="0"/>
                  <a:buChar char="•"/>
                </a:pPr>
                <a:r>
                  <a:rPr lang="en-US" sz="1500" cap="none" dirty="0"/>
                  <a:t>Sample rate choice: increasing the sample rate </a:t>
                </a:r>
                <a14:m>
                  <m:oMath xmlns:m="http://schemas.openxmlformats.org/officeDocument/2006/math">
                    <m:d>
                      <m:dPr>
                        <m:ctrlPr>
                          <a:rPr lang="en-US" sz="1500" i="1" cap="none" dirty="0">
                            <a:latin typeface="Cambria Math" panose="02040503050406030204" pitchFamily="18" charset="0"/>
                          </a:rPr>
                        </m:ctrlPr>
                      </m:dPr>
                      <m:e>
                        <m:sSub>
                          <m:sSubPr>
                            <m:ctrlPr>
                              <a:rPr lang="en-US" sz="1500" i="1" cap="none" dirty="0">
                                <a:latin typeface="Cambria Math" panose="02040503050406030204" pitchFamily="18" charset="0"/>
                              </a:rPr>
                            </m:ctrlPr>
                          </m:sSubPr>
                          <m:e>
                            <m:r>
                              <a:rPr lang="en-US" sz="1500" i="1" cap="none" dirty="0">
                                <a:latin typeface="Cambria Math" panose="02040503050406030204" pitchFamily="18" charset="0"/>
                              </a:rPr>
                              <m:t>𝑓</m:t>
                            </m:r>
                          </m:e>
                          <m:sub>
                            <m:r>
                              <a:rPr lang="en-US" sz="1500" i="1" cap="none" dirty="0">
                                <a:latin typeface="Cambria Math" panose="02040503050406030204" pitchFamily="18" charset="0"/>
                              </a:rPr>
                              <m:t>𝑠</m:t>
                            </m:r>
                          </m:sub>
                        </m:sSub>
                      </m:e>
                    </m:d>
                  </m:oMath>
                </a14:m>
                <a:r>
                  <a:rPr lang="en-US" sz="1500" cap="none" dirty="0"/>
                  <a:t> alone does not improve frequency resolution, it only increases the maximum frequency range (bandwidth) that can be captured. To improve resolution and achieve narrower, sharper peaks, you must increase the total observation time </a:t>
                </a:r>
                <a14:m>
                  <m:oMath xmlns:m="http://schemas.openxmlformats.org/officeDocument/2006/math">
                    <m:r>
                      <a:rPr lang="en-US" sz="1500" i="1" cap="none" dirty="0">
                        <a:latin typeface="Cambria Math" panose="02040503050406030204" pitchFamily="18" charset="0"/>
                      </a:rPr>
                      <m:t>(</m:t>
                    </m:r>
                    <m:r>
                      <a:rPr lang="en-US" sz="1500" i="1" cap="none" dirty="0">
                        <a:latin typeface="Cambria Math" panose="02040503050406030204" pitchFamily="18" charset="0"/>
                      </a:rPr>
                      <m:t>𝑇</m:t>
                    </m:r>
                    <m:r>
                      <a:rPr lang="en-US" sz="1500" i="1" cap="none" dirty="0">
                        <a:latin typeface="Cambria Math" panose="02040503050406030204" pitchFamily="18" charset="0"/>
                      </a:rPr>
                      <m:t>)</m:t>
                    </m:r>
                  </m:oMath>
                </a14:m>
                <a:r>
                  <a:rPr lang="en-US" sz="1500" cap="none" dirty="0"/>
                  <a:t> of the signal.</a:t>
                </a:r>
              </a:p>
              <a:p>
                <a:pPr marL="285750" indent="-228600" algn="l">
                  <a:lnSpc>
                    <a:spcPct val="110000"/>
                  </a:lnSpc>
                  <a:buFont typeface="Arial" panose="020B0604020202020204" pitchFamily="34" charset="0"/>
                  <a:buChar char="•"/>
                </a:pPr>
                <a:r>
                  <a:rPr lang="en-US" sz="1500" cap="none" dirty="0"/>
                  <a:t>The visual width of a frequency peak is determined by the size of the frequency bins, which is defined as </a:t>
                </a:r>
                <a14:m>
                  <m:oMath xmlns:m="http://schemas.openxmlformats.org/officeDocument/2006/math">
                    <m:r>
                      <m:rPr>
                        <m:sty m:val="p"/>
                      </m:rPr>
                      <a:rPr lang="en-US" sz="1500" b="0" i="0" dirty="0">
                        <a:latin typeface="Cambria Math" panose="02040503050406030204" pitchFamily="18" charset="0"/>
                      </a:rPr>
                      <m:t>Δ</m:t>
                    </m:r>
                    <m:r>
                      <a:rPr lang="en-US" sz="1500" b="0" i="1" dirty="0">
                        <a:latin typeface="Cambria Math" panose="02040503050406030204" pitchFamily="18" charset="0"/>
                      </a:rPr>
                      <m:t>𝑓</m:t>
                    </m:r>
                    <m:r>
                      <a:rPr lang="en-US" sz="1500" b="0" i="1" dirty="0">
                        <a:latin typeface="Cambria Math" panose="02040503050406030204" pitchFamily="18" charset="0"/>
                      </a:rPr>
                      <m:t> = 1</m:t>
                    </m:r>
                    <m:r>
                      <m:rPr>
                        <m:lit/>
                      </m:rPr>
                      <a:rPr lang="en-US" sz="1500" b="0" i="1" dirty="0">
                        <a:latin typeface="Cambria Math" panose="02040503050406030204" pitchFamily="18" charset="0"/>
                      </a:rPr>
                      <m:t>/</m:t>
                    </m:r>
                    <m:r>
                      <a:rPr lang="en-US" sz="1500" b="0" i="1" dirty="0">
                        <a:latin typeface="Cambria Math" panose="02040503050406030204" pitchFamily="18" charset="0"/>
                      </a:rPr>
                      <m:t>𝑇</m:t>
                    </m:r>
                  </m:oMath>
                </a14:m>
                <a:r>
                  <a:rPr lang="en-US" sz="1500" cap="none" dirty="0"/>
                  <a:t>. The python fft often appears fatter than a hardware oscilloscope FFT because the total duration of the exported time-domain signal is shorter than the internal processing window of the oscilloscope. This shorter window creates larger frequency bins, causing the signal energy to be distributed over a wider visual range. </a:t>
                </a:r>
                <a:endParaRPr lang="en-US" sz="1500" dirty="0"/>
              </a:p>
            </p:txBody>
          </p:sp>
        </mc:Choice>
        <mc:Fallback>
          <p:sp>
            <p:nvSpPr>
              <p:cNvPr id="4" name="Text Placeholder 3">
                <a:extLst>
                  <a:ext uri="{FF2B5EF4-FFF2-40B4-BE49-F238E27FC236}">
                    <a16:creationId xmlns:a16="http://schemas.microsoft.com/office/drawing/2014/main" id="{66E7C63C-D817-1325-F087-DAAB6B6CE622}"/>
                  </a:ext>
                </a:extLst>
              </p:cNvPr>
              <p:cNvSpPr>
                <a:spLocks noGrp="1" noRot="1" noChangeAspect="1" noMove="1" noResize="1" noEditPoints="1" noAdjustHandles="1" noChangeArrowheads="1" noChangeShapeType="1" noTextEdit="1"/>
              </p:cNvSpPr>
              <p:nvPr>
                <p:ph type="body" sz="half" idx="2"/>
              </p:nvPr>
            </p:nvSpPr>
            <p:spPr>
              <a:xfrm>
                <a:off x="1054065" y="2367092"/>
                <a:ext cx="5855415" cy="3847444"/>
              </a:xfrm>
              <a:blipFill>
                <a:blip r:embed="rId6"/>
                <a:stretch>
                  <a:fillRect r="-1354"/>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F0A18193-AFC4-8A31-3A5A-7FEC80A6BE6D}"/>
              </a:ext>
            </a:extLst>
          </p:cNvPr>
          <p:cNvSpPr>
            <a:spLocks noGrp="1"/>
          </p:cNvSpPr>
          <p:nvPr>
            <p:ph type="title"/>
          </p:nvPr>
        </p:nvSpPr>
        <p:spPr>
          <a:xfrm>
            <a:off x="1054064" y="618517"/>
            <a:ext cx="5855416" cy="1596177"/>
          </a:xfrm>
        </p:spPr>
        <p:txBody>
          <a:bodyPr vert="horz" lIns="91440" tIns="45720" rIns="91440" bIns="45720" rtlCol="0" anchor="ctr">
            <a:normAutofit/>
          </a:bodyPr>
          <a:lstStyle/>
          <a:p>
            <a:r>
              <a:rPr lang="en-US" sz="3600"/>
              <a:t>The shape of ffts</a:t>
            </a:r>
          </a:p>
        </p:txBody>
      </p:sp>
    </p:spTree>
    <p:extLst>
      <p:ext uri="{BB962C8B-B14F-4D97-AF65-F5344CB8AC3E}">
        <p14:creationId xmlns:p14="http://schemas.microsoft.com/office/powerpoint/2010/main" val="3460835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3B7CC-0FB2-A644-1834-C73A30CD5C06}"/>
              </a:ext>
            </a:extLst>
          </p:cNvPr>
          <p:cNvSpPr>
            <a:spLocks noGrp="1"/>
          </p:cNvSpPr>
          <p:nvPr>
            <p:ph type="title"/>
          </p:nvPr>
        </p:nvSpPr>
        <p:spPr/>
        <p:txBody>
          <a:bodyPr/>
          <a:lstStyle/>
          <a:p>
            <a:r>
              <a:rPr lang="en-US" dirty="0"/>
              <a:t>Discussion and Comparison</a:t>
            </a:r>
          </a:p>
        </p:txBody>
      </p:sp>
      <p:sp>
        <p:nvSpPr>
          <p:cNvPr id="3" name="Content Placeholder 2">
            <a:extLst>
              <a:ext uri="{FF2B5EF4-FFF2-40B4-BE49-F238E27FC236}">
                <a16:creationId xmlns:a16="http://schemas.microsoft.com/office/drawing/2014/main" id="{FF32ABBA-BEBC-2F45-312D-B6B974B72911}"/>
              </a:ext>
            </a:extLst>
          </p:cNvPr>
          <p:cNvSpPr>
            <a:spLocks noGrp="1"/>
          </p:cNvSpPr>
          <p:nvPr>
            <p:ph sz="quarter" idx="13"/>
          </p:nvPr>
        </p:nvSpPr>
        <p:spPr/>
        <p:txBody>
          <a:bodyPr/>
          <a:lstStyle/>
          <a:p>
            <a:pPr marL="0" indent="0">
              <a:buNone/>
            </a:pPr>
            <a:r>
              <a:rPr lang="en-US" cap="none" dirty="0"/>
              <a:t>Oscilloscope FFT: Excellent for real-time, high-precision visualization, though it showed a minor (but acceptable) drift of 18.54 Hz at higher frequencies.</a:t>
            </a:r>
          </a:p>
          <a:p>
            <a:pPr marL="0" indent="0">
              <a:buNone/>
            </a:pPr>
            <a:r>
              <a:rPr lang="en-US" cap="none" dirty="0"/>
              <a:t>Python FFT: Provides a robust offline check. While the peaks are wider due to the 200 Hz bin size, the calculation consistently yielded a t-value of zero.</a:t>
            </a:r>
          </a:p>
          <a:p>
            <a:pPr marL="0" indent="0">
              <a:buNone/>
            </a:pPr>
            <a:r>
              <a:rPr lang="en-US" cap="none" dirty="0"/>
              <a:t>Summary: The equipment is operating within its specified instrumental uncertainty, and the two measurement methods successfully cross-validate one another.</a:t>
            </a:r>
          </a:p>
        </p:txBody>
      </p:sp>
      <p:sp>
        <p:nvSpPr>
          <p:cNvPr id="4" name="Text Placeholder 3">
            <a:extLst>
              <a:ext uri="{FF2B5EF4-FFF2-40B4-BE49-F238E27FC236}">
                <a16:creationId xmlns:a16="http://schemas.microsoft.com/office/drawing/2014/main" id="{540239A4-0C4E-8897-B86E-416768D5BBC0}"/>
              </a:ext>
            </a:extLst>
          </p:cNvPr>
          <p:cNvSpPr>
            <a:spLocks noGrp="1"/>
          </p:cNvSpPr>
          <p:nvPr>
            <p:ph type="body" sz="half" idx="2"/>
          </p:nvPr>
        </p:nvSpPr>
        <p:spPr/>
        <p:txBody>
          <a:bodyPr/>
          <a:lstStyle/>
          <a:p>
            <a:pPr algn="l"/>
            <a:r>
              <a:rPr lang="en-US" cap="none" dirty="0"/>
              <a:t>The BK Precision 4011A was verified across both 1 kHz and 5 kHz ranges. All t-values remained significantly below 1.0, confirming that the function generator’s output is statistically consistent with its dial settings.</a:t>
            </a:r>
          </a:p>
        </p:txBody>
      </p:sp>
    </p:spTree>
    <p:extLst>
      <p:ext uri="{BB962C8B-B14F-4D97-AF65-F5344CB8AC3E}">
        <p14:creationId xmlns:p14="http://schemas.microsoft.com/office/powerpoint/2010/main" val="19594212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64525cb-669c-474a-bb1c-a1df3ff42bd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0CEFF5852D694286F2BC0CE7A6C997" ma:contentTypeVersion="6" ma:contentTypeDescription="Create a new document." ma:contentTypeScope="" ma:versionID="526a12cdb4104c8474d1a1c7b98d28ce">
  <xsd:schema xmlns:xsd="http://www.w3.org/2001/XMLSchema" xmlns:xs="http://www.w3.org/2001/XMLSchema" xmlns:p="http://schemas.microsoft.com/office/2006/metadata/properties" xmlns:ns3="c64525cb-669c-474a-bb1c-a1df3ff42bd0" targetNamespace="http://schemas.microsoft.com/office/2006/metadata/properties" ma:root="true" ma:fieldsID="bbbd96e4c2bf71238f876c69fa445afd" ns3:_="">
    <xsd:import namespace="c64525cb-669c-474a-bb1c-a1df3ff42bd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4525cb-669c-474a-bb1c-a1df3ff42bd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12DD3B-FC0C-42E4-A0E5-A7F5E43A6E5A}">
  <ds:schemaRef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www.w3.org/XML/1998/namespace"/>
    <ds:schemaRef ds:uri="http://purl.org/dc/dcmitype/"/>
    <ds:schemaRef ds:uri="http://schemas.microsoft.com/office/2006/metadata/properties"/>
    <ds:schemaRef ds:uri="c64525cb-669c-474a-bb1c-a1df3ff42bd0"/>
    <ds:schemaRef ds:uri="http://purl.org/dc/elements/1.1/"/>
  </ds:schemaRefs>
</ds:datastoreItem>
</file>

<file path=customXml/itemProps2.xml><?xml version="1.0" encoding="utf-8"?>
<ds:datastoreItem xmlns:ds="http://schemas.openxmlformats.org/officeDocument/2006/customXml" ds:itemID="{4437C8FD-C768-4F57-B223-C8CB82EB0968}">
  <ds:schemaRefs>
    <ds:schemaRef ds:uri="http://schemas.microsoft.com/sharepoint/v3/contenttype/forms"/>
  </ds:schemaRefs>
</ds:datastoreItem>
</file>

<file path=customXml/itemProps3.xml><?xml version="1.0" encoding="utf-8"?>
<ds:datastoreItem xmlns:ds="http://schemas.openxmlformats.org/officeDocument/2006/customXml" ds:itemID="{737607DC-AD28-4B6A-9497-E6CBE4D39B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4525cb-669c-474a-bb1c-a1df3ff42b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pressure-and-temperature_presentation</Template>
  <TotalTime>211</TotalTime>
  <Words>694</Words>
  <Application>Microsoft Office PowerPoint</Application>
  <PresentationFormat>Widescreen</PresentationFormat>
  <Paragraphs>62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Cambria Math</vt:lpstr>
      <vt:lpstr>Tw Cen MT</vt:lpstr>
      <vt:lpstr>Droplet</vt:lpstr>
      <vt:lpstr>Lab 4 Calibrating a function generator</vt:lpstr>
      <vt:lpstr>Objective and Experiment</vt:lpstr>
      <vt:lpstr>PowerPoint Presentation</vt:lpstr>
      <vt:lpstr>Oscillicope Data</vt:lpstr>
      <vt:lpstr>Oscillicope Data</vt:lpstr>
      <vt:lpstr>1 kHz Frequency Calibration</vt:lpstr>
      <vt:lpstr>PowerPoint Presentation</vt:lpstr>
      <vt:lpstr>5 kHz Frequency Calibration</vt:lpstr>
      <vt:lpstr>PowerPoint Presentation</vt:lpstr>
      <vt:lpstr>The shape of ffts</vt:lpstr>
      <vt:lpstr>Discussion and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Daksh Khandelwal</dc:creator>
  <cp:lastModifiedBy>Daksh Khandelwal</cp:lastModifiedBy>
  <cp:revision>28</cp:revision>
  <dcterms:created xsi:type="dcterms:W3CDTF">2026-03-22T19:27:30Z</dcterms:created>
  <dcterms:modified xsi:type="dcterms:W3CDTF">2026-04-05T19:19:54Z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0x010100300CEFF5852D694286F2BC0CE7A6C997</vt:lpwstr>
  </property>
</Properties>
</file>