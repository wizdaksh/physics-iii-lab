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4"/>
  </p:sldMasterIdLst>
  <p:sldIdLst>
    <p:sldId id="256" r:id="rId5"/>
    <p:sldId id="257" r:id="rId6"/>
    <p:sldId id="273" r:id="rId7"/>
    <p:sldId id="274" r:id="rId8"/>
    <p:sldId id="275" r:id="rId9"/>
    <p:sldId id="277" r:id="rId10"/>
    <p:sldId id="276" r:id="rId11"/>
    <p:sldId id="271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722" autoAdjust="0"/>
    <p:restoredTop sz="96174"/>
  </p:normalViewPr>
  <p:slideViewPr>
    <p:cSldViewPr snapToGrid="0">
      <p:cViewPr>
        <p:scale>
          <a:sx n="103" d="100"/>
          <a:sy n="103" d="100"/>
        </p:scale>
        <p:origin x="144" y="6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presProps" Target="pres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2" Type="http://schemas.openxmlformats.org/officeDocument/2006/relationships/customXml" Target="../customXml/item2.xml"/><Relationship Id="rId16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theme" Target="theme/theme1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HD-Title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51012" y="1300785"/>
            <a:ext cx="8689976" cy="2509213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51012" y="3886200"/>
            <a:ext cx="8689976" cy="1371599"/>
          </a:xfrm>
        </p:spPr>
        <p:txBody>
          <a:bodyPr>
            <a:normAutofit/>
          </a:bodyPr>
          <a:lstStyle>
            <a:lvl1pPr marL="0" indent="0" algn="ctr">
              <a:buNone/>
              <a:defRPr sz="22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4/5/26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2367092"/>
            <a:ext cx="10363826" cy="34241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4/5/26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828563"/>
            <a:ext cx="10351752" cy="2736819"/>
          </a:xfrm>
        </p:spPr>
        <p:txBody>
          <a:bodyPr anchor="b"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74" y="3657457"/>
            <a:ext cx="10351752" cy="1368183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4/5/26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2367092"/>
            <a:ext cx="5106026" cy="34241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Content Placeholder 3"/>
          <p:cNvSpPr>
            <a:spLocks noGrp="1"/>
          </p:cNvSpPr>
          <p:nvPr>
            <p:ph sz="quarter" idx="14"/>
          </p:nvPr>
        </p:nvSpPr>
        <p:spPr>
          <a:xfrm>
            <a:off x="6172200" y="2367092"/>
            <a:ext cx="5105400" cy="34241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4/5/26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6328" y="2371018"/>
            <a:ext cx="4873474" cy="679994"/>
          </a:xfrm>
        </p:spPr>
        <p:txBody>
          <a:bodyPr anchor="b">
            <a:noAutofit/>
          </a:bodyPr>
          <a:lstStyle>
            <a:lvl1pPr marL="0" indent="0">
              <a:lnSpc>
                <a:spcPct val="8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Content Placeholder 3"/>
          <p:cNvSpPr>
            <a:spLocks noGrp="1"/>
          </p:cNvSpPr>
          <p:nvPr>
            <p:ph sz="quarter" idx="13"/>
          </p:nvPr>
        </p:nvSpPr>
        <p:spPr>
          <a:xfrm>
            <a:off x="913774" y="3051012"/>
            <a:ext cx="5106027" cy="27401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96423" y="2371018"/>
            <a:ext cx="4881804" cy="679994"/>
          </a:xfrm>
        </p:spPr>
        <p:txBody>
          <a:bodyPr anchor="b">
            <a:noAutofit/>
          </a:bodyPr>
          <a:lstStyle>
            <a:lvl1pPr marL="0" indent="0">
              <a:lnSpc>
                <a:spcPct val="8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Content Placeholder 5"/>
          <p:cNvSpPr>
            <a:spLocks noGrp="1"/>
          </p:cNvSpPr>
          <p:nvPr>
            <p:ph sz="quarter" idx="14"/>
          </p:nvPr>
        </p:nvSpPr>
        <p:spPr>
          <a:xfrm>
            <a:off x="6172200" y="3051012"/>
            <a:ext cx="5105401" cy="27401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4/5/26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4/5/26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4/5/26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5" y="609600"/>
            <a:ext cx="3935688" cy="2023252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Content Placeholder 2"/>
          <p:cNvSpPr>
            <a:spLocks noGrp="1"/>
          </p:cNvSpPr>
          <p:nvPr>
            <p:ph sz="quarter" idx="13"/>
          </p:nvPr>
        </p:nvSpPr>
        <p:spPr>
          <a:xfrm>
            <a:off x="5078062" y="609600"/>
            <a:ext cx="6200163" cy="51815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2632852"/>
            <a:ext cx="3935689" cy="3158348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4/5/26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609600"/>
            <a:ext cx="5934969" cy="2023254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24803" y="609601"/>
            <a:ext cx="3255358" cy="5181600"/>
          </a:xfrm>
          <a:prstGeom prst="roundRect">
            <a:avLst>
              <a:gd name="adj" fmla="val 4943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2632852"/>
            <a:ext cx="5934949" cy="3158347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4/5/26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4289374"/>
            <a:ext cx="10364432" cy="81161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84744" y="698261"/>
            <a:ext cx="9822532" cy="3214136"/>
          </a:xfrm>
          <a:prstGeom prst="roundRect">
            <a:avLst>
              <a:gd name="adj" fmla="val 4944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5108728"/>
            <a:ext cx="10364452" cy="682472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4/5/26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609599"/>
            <a:ext cx="10364452" cy="3427245"/>
          </a:xfrm>
        </p:spPr>
        <p:txBody>
          <a:bodyPr anchor="ctr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5" y="4204821"/>
            <a:ext cx="10364452" cy="1586380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4/5/26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9478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4372796"/>
            <a:ext cx="10364452" cy="1421053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4/5/26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sp>
        <p:nvSpPr>
          <p:cNvPr id="13" name="TextBox 12"/>
          <p:cNvSpPr txBox="1"/>
          <p:nvPr/>
        </p:nvSpPr>
        <p:spPr>
          <a:xfrm>
            <a:off x="1001488" y="75416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57558" y="29935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5" y="2138721"/>
            <a:ext cx="10364452" cy="2511835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5" y="4662335"/>
            <a:ext cx="10364452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4/5/26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74" y="609600"/>
            <a:ext cx="10364452" cy="160509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74" y="2367093"/>
            <a:ext cx="3298976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74" y="2943355"/>
            <a:ext cx="3298976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52389" y="2367093"/>
            <a:ext cx="329152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348" y="2943355"/>
            <a:ext cx="3303351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2367093"/>
            <a:ext cx="33049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73298" y="2943355"/>
            <a:ext cx="3304928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4/5/26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74" y="610772"/>
            <a:ext cx="10364452" cy="160392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74" y="4204820"/>
            <a:ext cx="3296409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913774" y="2367093"/>
            <a:ext cx="3296409" cy="1524000"/>
          </a:xfrm>
          <a:prstGeom prst="roundRect">
            <a:avLst>
              <a:gd name="adj" fmla="val 9363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74" y="4781082"/>
            <a:ext cx="3296409" cy="101011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59" y="4204820"/>
            <a:ext cx="33018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41348" y="2367093"/>
            <a:ext cx="3303352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348" y="4781080"/>
            <a:ext cx="3303352" cy="1010119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4204820"/>
            <a:ext cx="330068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973298" y="2367093"/>
            <a:ext cx="3304928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73173" y="4781078"/>
            <a:ext cx="3305053" cy="1010121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4/5/26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913775" y="2367093"/>
            <a:ext cx="10364452" cy="342410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4/5/26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609601"/>
            <a:ext cx="2553326" cy="518159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913775" y="609601"/>
            <a:ext cx="7658724" cy="518159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4/5/26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75" y="2367093"/>
            <a:ext cx="10364452" cy="34241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48A87A34-81AB-432B-8DAE-1953F412C126}" type="datetimeFigureOut">
              <a:rPr lang="en-US" dirty="0"/>
              <a:pPr/>
              <a:t>4/5/26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74" y="5883275"/>
            <a:ext cx="667288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6421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6" r:id="rId12"/>
    <p:sldLayoutId id="2147483663" r:id="rId13"/>
    <p:sldLayoutId id="2147483667" r:id="rId14"/>
    <p:sldLayoutId id="2147483668" r:id="rId15"/>
    <p:sldLayoutId id="2147483658" r:id="rId16"/>
    <p:sldLayoutId id="2147483659" r:id="rId17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tx1"/>
        </a:buClr>
        <a:buFont typeface="Arial" panose="020B0604020202020204" pitchFamily="34" charset="0"/>
        <a:buChar char="•"/>
        <a:defRPr sz="20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8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6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0.png"/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EBAD13-E6BC-79E6-F8E2-3F15168BE75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4400" dirty="0"/>
              <a:t>Lab 4</a:t>
            </a:r>
            <a:br>
              <a:rPr lang="en-US" sz="4400" dirty="0"/>
            </a:br>
            <a:r>
              <a:rPr lang="en-US" sz="4400" dirty="0"/>
              <a:t>Calibrating a function generator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8F7CE5D-381D-9A2D-BABA-991516D7C18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By Daksh Khandelwal</a:t>
            </a:r>
          </a:p>
        </p:txBody>
      </p:sp>
    </p:spTree>
    <p:extLst>
      <p:ext uri="{BB962C8B-B14F-4D97-AF65-F5344CB8AC3E}">
        <p14:creationId xmlns:p14="http://schemas.microsoft.com/office/powerpoint/2010/main" val="1516869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2F161A-66AC-63FC-0CAE-32A661A1D5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Objective and Experiment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C92ABD-1612-B5F6-F88B-704DDB50E916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cap="none" dirty="0"/>
              <a:t>Objective - To determine the accuracy of a BK precision 4011A function generator across multiple frequency ranges.</a:t>
            </a:r>
          </a:p>
          <a:p>
            <a:pPr marL="0" indent="0">
              <a:buNone/>
            </a:pPr>
            <a:r>
              <a:rPr lang="en-US" cap="none" dirty="0"/>
              <a:t>Experiment - generate 1 </a:t>
            </a:r>
            <a:r>
              <a:rPr lang="en-US" cap="none" dirty="0" err="1"/>
              <a:t>khz</a:t>
            </a:r>
            <a:r>
              <a:rPr lang="en-US" cap="none" dirty="0"/>
              <a:t> and 5 </a:t>
            </a:r>
            <a:r>
              <a:rPr lang="en-US" cap="none" dirty="0" err="1"/>
              <a:t>khz</a:t>
            </a:r>
            <a:r>
              <a:rPr lang="en-US" cap="none" dirty="0"/>
              <a:t> sine waves.</a:t>
            </a:r>
          </a:p>
          <a:p>
            <a:r>
              <a:rPr lang="en-US" cap="none" dirty="0"/>
              <a:t>Compare two measurement techniques:</a:t>
            </a:r>
          </a:p>
          <a:p>
            <a:pPr marL="457200" indent="-457200">
              <a:buFont typeface="+mj-lt"/>
              <a:buAutoNum type="arabicPeriod"/>
            </a:pPr>
            <a:r>
              <a:rPr lang="en-US" cap="none" dirty="0"/>
              <a:t>The </a:t>
            </a:r>
            <a:r>
              <a:rPr lang="en-US" cap="none" dirty="0" err="1"/>
              <a:t>tektronix</a:t>
            </a:r>
            <a:r>
              <a:rPr lang="en-US" cap="none" dirty="0"/>
              <a:t> oscilloscope's built-in, real-time FFT.</a:t>
            </a:r>
          </a:p>
          <a:p>
            <a:pPr marL="457200" indent="-457200">
              <a:buFont typeface="+mj-lt"/>
              <a:buAutoNum type="arabicPeriod"/>
            </a:pPr>
            <a:r>
              <a:rPr lang="en-US" cap="none" dirty="0"/>
              <a:t>An offline </a:t>
            </a:r>
            <a:r>
              <a:rPr lang="en-US" cap="none" dirty="0" err="1"/>
              <a:t>fft</a:t>
            </a:r>
            <a:r>
              <a:rPr lang="en-US" cap="none" dirty="0"/>
              <a:t> calculated in python using the oscilloscope's raw time-domain data.</a:t>
            </a:r>
          </a:p>
        </p:txBody>
      </p:sp>
    </p:spTree>
    <p:extLst>
      <p:ext uri="{BB962C8B-B14F-4D97-AF65-F5344CB8AC3E}">
        <p14:creationId xmlns:p14="http://schemas.microsoft.com/office/powerpoint/2010/main" val="91467867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57E607C4-A0A1-44FA-981D-EA3B813963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3AF74D49-0368-3EC7-FD96-08A591C381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7570" y="643466"/>
            <a:ext cx="9816860" cy="557106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8D97526-B9D9-4257-B6A9-9D79889749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97046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1">
                <a:tint val="90000"/>
                <a:lumMod val="110000"/>
              </a:schemeClr>
            </a:gs>
            <a:gs pos="100000">
              <a:schemeClr val="bg1">
                <a:shade val="64000"/>
                <a:lumMod val="88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2">
            <a:extLst>
              <a:ext uri="{FF2B5EF4-FFF2-40B4-BE49-F238E27FC236}">
                <a16:creationId xmlns:a16="http://schemas.microsoft.com/office/drawing/2014/main" id="{55185833-50A1-4075-9C90-F6E7B153AE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680F41EF-72A4-4DA7-9DEB-C487B2512F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CE194D91-9FD4-4CB4-AD8E-C842798FF2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9" name="Picture 2">
            <a:extLst>
              <a:ext uri="{FF2B5EF4-FFF2-40B4-BE49-F238E27FC236}">
                <a16:creationId xmlns:a16="http://schemas.microsoft.com/office/drawing/2014/main" id="{287B275B-62BF-40C0-95BA-606F0ACCA8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alphaModFix amt="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9D833E3-EE81-BC31-C646-E0A9F9C85976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12" r="2" b="2"/>
          <a:stretch>
            <a:fillRect/>
          </a:stretch>
        </p:blipFill>
        <p:spPr>
          <a:xfrm>
            <a:off x="1" y="10"/>
            <a:ext cx="7479157" cy="3428987"/>
          </a:xfrm>
          <a:prstGeom prst="rect">
            <a:avLst/>
          </a:prstGeom>
        </p:spPr>
      </p:pic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2DDE8805-3EA4-4406-A843-10FB62D154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58020" y="3429000"/>
            <a:ext cx="7421138" cy="1"/>
          </a:xfrm>
          <a:prstGeom prst="line">
            <a:avLst/>
          </a:prstGeom>
          <a:ln w="82550" cap="sq">
            <a:solidFill>
              <a:srgbClr val="D9D9D9"/>
            </a:solidFill>
            <a:miter lim="800000"/>
          </a:ln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BFBFBF"/>
            </a:contourClr>
          </a:sp3d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Rectangle 22">
            <a:extLst>
              <a:ext uri="{FF2B5EF4-FFF2-40B4-BE49-F238E27FC236}">
                <a16:creationId xmlns:a16="http://schemas.microsoft.com/office/drawing/2014/main" id="{0F72099E-AFE3-450F-AC2A-7A52DE3546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479161" y="-2"/>
            <a:ext cx="81313" cy="6858002"/>
          </a:xfrm>
          <a:prstGeom prst="rect">
            <a:avLst/>
          </a:prstGeom>
          <a:gradFill flip="none" rotWithShape="1">
            <a:gsLst>
              <a:gs pos="84000">
                <a:srgbClr val="B5B5B5"/>
              </a:gs>
              <a:gs pos="60159">
                <a:srgbClr val="D5D5D5"/>
              </a:gs>
              <a:gs pos="50447">
                <a:srgbClr val="E6E6E6"/>
              </a:gs>
              <a:gs pos="44260">
                <a:srgbClr val="D5D5D5"/>
              </a:gs>
              <a:gs pos="15928">
                <a:srgbClr val="B5B5B5"/>
              </a:gs>
              <a:gs pos="7000">
                <a:srgbClr val="8A8A8A"/>
              </a:gs>
              <a:gs pos="0">
                <a:srgbClr val="BBBBBB"/>
              </a:gs>
              <a:gs pos="93000">
                <a:srgbClr val="8A8A8A"/>
              </a:gs>
              <a:gs pos="100000">
                <a:srgbClr val="BBBBBB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F2BC5777-6C9B-4A78-9BA6-92FA4E86BD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6CCA8FB9-9207-C3A5-BB62-7BF10767D273}"/>
              </a:ext>
            </a:extLst>
          </p:cNvPr>
          <p:cNvPicPr>
            <a:picLocks noGrp="1" noChangeAspect="1"/>
          </p:cNvPicPr>
          <p:nvPr>
            <p:ph sz="quarter" idx="14"/>
          </p:nvPr>
        </p:nvPicPr>
        <p:blipFill>
          <a:blip r:embed="rId5"/>
          <a:srcRect t="7379" r="1" b="1"/>
          <a:stretch>
            <a:fillRect/>
          </a:stretch>
        </p:blipFill>
        <p:spPr>
          <a:xfrm>
            <a:off x="1" y="3428998"/>
            <a:ext cx="7479157" cy="3429001"/>
          </a:xfrm>
          <a:prstGeom prst="rect">
            <a:avLst/>
          </a:prstGeom>
        </p:spPr>
      </p:pic>
      <p:sp>
        <p:nvSpPr>
          <p:cNvPr id="12" name="Content Placeholder 9">
            <a:extLst>
              <a:ext uri="{FF2B5EF4-FFF2-40B4-BE49-F238E27FC236}">
                <a16:creationId xmlns:a16="http://schemas.microsoft.com/office/drawing/2014/main" id="{925DD205-B049-BC6B-8ABC-028F0208349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138959" y="4165601"/>
            <a:ext cx="2984327" cy="789172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200" dirty="0">
                <a:solidFill>
                  <a:schemeClr val="bg1">
                    <a:lumMod val="50000"/>
                  </a:schemeClr>
                </a:solidFill>
              </a:rPr>
              <a:t>The raw data from the oscilloscope measures harmonics for the 1 kHz sinewave. </a:t>
            </a:r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3D2C548E-C503-5701-0487-86D2A950D6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44674" y="1358901"/>
            <a:ext cx="3172899" cy="2730498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100" dirty="0" err="1"/>
              <a:t>Oscillicope</a:t>
            </a:r>
            <a:r>
              <a:rPr lang="en-US" sz="4100" dirty="0"/>
              <a:t> Data</a:t>
            </a:r>
          </a:p>
        </p:txBody>
      </p:sp>
    </p:spTree>
    <p:extLst>
      <p:ext uri="{BB962C8B-B14F-4D97-AF65-F5344CB8AC3E}">
        <p14:creationId xmlns:p14="http://schemas.microsoft.com/office/powerpoint/2010/main" val="33511128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1">
                <a:tint val="90000"/>
                <a:lumMod val="110000"/>
              </a:schemeClr>
            </a:gs>
            <a:gs pos="100000">
              <a:schemeClr val="bg1">
                <a:shade val="64000"/>
                <a:lumMod val="88000"/>
              </a:schemeClr>
            </a:gs>
          </a:gsLst>
          <a:lin ang="5400000" scaled="0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4C0A1B0-05CB-92C6-0AEC-096C09F5B8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Picture 2">
            <a:extLst>
              <a:ext uri="{FF2B5EF4-FFF2-40B4-BE49-F238E27FC236}">
                <a16:creationId xmlns:a16="http://schemas.microsoft.com/office/drawing/2014/main" id="{55185833-50A1-4075-9C90-F6E7B153AE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D48F57D9-4797-4D7F-B4C3-17628994F2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 useBgFill="1">
        <p:nvSpPr>
          <p:cNvPr id="34" name="Rectangle 33">
            <a:extLst>
              <a:ext uri="{FF2B5EF4-FFF2-40B4-BE49-F238E27FC236}">
                <a16:creationId xmlns:a16="http://schemas.microsoft.com/office/drawing/2014/main" id="{AE1E30F6-6AE7-4446-BEE0-9C043F3E81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6" name="Picture 2">
            <a:extLst>
              <a:ext uri="{FF2B5EF4-FFF2-40B4-BE49-F238E27FC236}">
                <a16:creationId xmlns:a16="http://schemas.microsoft.com/office/drawing/2014/main" id="{0F3DD082-FB03-4B74-A3BC-640E042E95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Content Placeholder 10">
            <a:extLst>
              <a:ext uri="{FF2B5EF4-FFF2-40B4-BE49-F238E27FC236}">
                <a16:creationId xmlns:a16="http://schemas.microsoft.com/office/drawing/2014/main" id="{597F61D8-0CEB-6406-7E1E-BE3C94B8291C}"/>
              </a:ext>
            </a:extLst>
          </p:cNvPr>
          <p:cNvPicPr>
            <a:picLocks noGrp="1" noChangeAspect="1"/>
          </p:cNvPicPr>
          <p:nvPr>
            <p:ph sz="quarter" idx="14"/>
          </p:nvPr>
        </p:nvPicPr>
        <p:blipFill>
          <a:blip r:embed="rId4"/>
          <a:srcRect l="8" r="35" b="-1"/>
          <a:stretch>
            <a:fillRect/>
          </a:stretch>
        </p:blipFill>
        <p:spPr>
          <a:xfrm>
            <a:off x="-23293" y="3429013"/>
            <a:ext cx="6924201" cy="3428988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264AC623-09F5-E565-BC93-C816EDB31101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7617" r="2" b="2"/>
          <a:stretch>
            <a:fillRect/>
          </a:stretch>
        </p:blipFill>
        <p:spPr>
          <a:xfrm>
            <a:off x="4429" y="-12"/>
            <a:ext cx="6924201" cy="3428998"/>
          </a:xfrm>
          <a:prstGeom prst="rect">
            <a:avLst/>
          </a:prstGeom>
        </p:spPr>
      </p:pic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41B910EF-CAAD-4AB5-BF50-FE7BE2F758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  <a:endCxn id="15" idx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58020" y="3428999"/>
            <a:ext cx="6875041" cy="1"/>
          </a:xfrm>
          <a:prstGeom prst="line">
            <a:avLst/>
          </a:prstGeom>
          <a:ln w="82550" cap="sq">
            <a:solidFill>
              <a:srgbClr val="D9D9D9"/>
            </a:solidFill>
            <a:miter lim="800000"/>
          </a:ln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BFBFBF"/>
            </a:contourClr>
          </a:sp3d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Rectangle 39">
            <a:extLst>
              <a:ext uri="{FF2B5EF4-FFF2-40B4-BE49-F238E27FC236}">
                <a16:creationId xmlns:a16="http://schemas.microsoft.com/office/drawing/2014/main" id="{B817FF20-BB02-4829-AEDE-9BC028BCA2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933061" y="-2"/>
            <a:ext cx="81313" cy="6858002"/>
          </a:xfrm>
          <a:prstGeom prst="rect">
            <a:avLst/>
          </a:prstGeom>
          <a:gradFill flip="none" rotWithShape="1">
            <a:gsLst>
              <a:gs pos="84000">
                <a:srgbClr val="B5B5B5"/>
              </a:gs>
              <a:gs pos="60159">
                <a:srgbClr val="D5D5D5"/>
              </a:gs>
              <a:gs pos="50447">
                <a:srgbClr val="E6E6E6"/>
              </a:gs>
              <a:gs pos="44260">
                <a:srgbClr val="D5D5D5"/>
              </a:gs>
              <a:gs pos="15928">
                <a:srgbClr val="B5B5B5"/>
              </a:gs>
              <a:gs pos="7000">
                <a:srgbClr val="8A8A8A"/>
              </a:gs>
              <a:gs pos="0">
                <a:srgbClr val="BBBBBB"/>
              </a:gs>
              <a:gs pos="93000">
                <a:srgbClr val="8A8A8A"/>
              </a:gs>
              <a:gs pos="100000">
                <a:srgbClr val="BBBBBB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2" name="Picture 41">
            <a:extLst>
              <a:ext uri="{FF2B5EF4-FFF2-40B4-BE49-F238E27FC236}">
                <a16:creationId xmlns:a16="http://schemas.microsoft.com/office/drawing/2014/main" id="{FA61E02E-DFEB-4F7B-9F98-6154C738F9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60" y="0"/>
            <a:ext cx="12192000" cy="6858000"/>
          </a:xfrm>
          <a:prstGeom prst="rect">
            <a:avLst/>
          </a:prstGeom>
        </p:spPr>
      </p:pic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ABD02EA8-C3B8-34E6-EB55-A8F204B53921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138959" y="4165601"/>
            <a:ext cx="2984327" cy="789172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200" dirty="0">
                <a:solidFill>
                  <a:schemeClr val="bg1">
                    <a:lumMod val="50000"/>
                  </a:schemeClr>
                </a:solidFill>
              </a:rPr>
              <a:t>The raw data from the oscilloscope measures harmonics for the 5 kHz sinewave. 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4334D81-A7C9-794A-9502-F37E675A0B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44674" y="1358901"/>
            <a:ext cx="3172899" cy="2730498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100" dirty="0" err="1"/>
              <a:t>Oscillicope</a:t>
            </a:r>
            <a:r>
              <a:rPr lang="en-US" sz="4100" dirty="0"/>
              <a:t> Data</a:t>
            </a:r>
          </a:p>
        </p:txBody>
      </p:sp>
    </p:spTree>
    <p:extLst>
      <p:ext uri="{BB962C8B-B14F-4D97-AF65-F5344CB8AC3E}">
        <p14:creationId xmlns:p14="http://schemas.microsoft.com/office/powerpoint/2010/main" val="7162951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E41C4B-6463-8EDF-5237-068A573C24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Uncertainty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 Placeholder 3">
                <a:extLst>
                  <a:ext uri="{FF2B5EF4-FFF2-40B4-BE49-F238E27FC236}">
                    <a16:creationId xmlns:a16="http://schemas.microsoft.com/office/drawing/2014/main" id="{A90712EA-21C2-2BCA-A6D9-469AD535DD46}"/>
                  </a:ext>
                </a:extLst>
              </p:cNvPr>
              <p:cNvSpPr>
                <a:spLocks noGrp="1"/>
              </p:cNvSpPr>
              <p:nvPr>
                <p:ph type="body" sz="half" idx="2"/>
              </p:nvPr>
            </p:nvSpPr>
            <p:spPr/>
            <p:txBody>
              <a:bodyPr>
                <a:normAutofit/>
              </a:bodyPr>
              <a:lstStyle/>
              <a:p>
                <a:pPr algn="l"/>
                <a:r>
                  <a:rPr lang="en-US" cap="none" dirty="0"/>
                  <a:t>Uncertainty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cap="none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cap="none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i="1" cap="none">
                            <a:latin typeface="Cambria Math" panose="02040503050406030204" pitchFamily="18" charset="0"/>
                          </a:rPr>
                          <m:t>𝑧</m:t>
                        </m:r>
                      </m:sub>
                    </m:sSub>
                  </m:oMath>
                </a14:m>
                <a:r>
                  <a:rPr lang="en-US" cap="none" dirty="0"/>
                  <a:t>: for a fast fourier transform, the uncertainty is equal to the frequency resolution (the width of one bin).</a:t>
                </a:r>
              </a:p>
              <a:p>
                <a:pPr marL="285750" indent="-285750" algn="l">
                  <a:buFont typeface="Arial" panose="020B0604020202020204" pitchFamily="34" charset="0"/>
                  <a:buChar char="•"/>
                </a:pPr>
                <a:r>
                  <a:rPr lang="en-US" cap="none" dirty="0"/>
                  <a:t>Oscilloscope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i="1" cap="none" dirty="0" smtClean="0">
                        <a:latin typeface="Cambria Math" panose="02040503050406030204" pitchFamily="18" charset="0"/>
                      </a:rPr>
                      <m:t>Δ</m:t>
                    </m:r>
                    <m:r>
                      <a:rPr lang="en-US" i="1" cap="none"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en-US" cap="none" dirty="0"/>
                  <a:t>: 12.33 hz (at 1 khz) and 49.32 hz (at 5 </a:t>
                </a:r>
                <a:r>
                  <a:rPr lang="en-US" cap="none" dirty="0" err="1"/>
                  <a:t>khz</a:t>
                </a:r>
                <a:r>
                  <a:rPr lang="en-US" cap="none" dirty="0"/>
                  <a:t>). </a:t>
                </a:r>
              </a:p>
              <a:p>
                <a:pPr marL="285750" indent="-285750" algn="l">
                  <a:buFont typeface="Arial" panose="020B0604020202020204" pitchFamily="34" charset="0"/>
                  <a:buChar char="•"/>
                </a:pPr>
                <a:r>
                  <a:rPr lang="en-US" cap="none" dirty="0"/>
                  <a:t>Python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cap="none">
                        <a:latin typeface="Cambria Math" panose="02040503050406030204" pitchFamily="18" charset="0"/>
                      </a:rPr>
                      <m:t>Δ</m:t>
                    </m:r>
                    <m:r>
                      <a:rPr lang="en-US" i="1" cap="none"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en-US" cap="none" dirty="0"/>
                  <a:t>: defined by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cap="none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cap="none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i="1" cap="none">
                            <a:latin typeface="Cambria Math" panose="02040503050406030204" pitchFamily="18" charset="0"/>
                          </a:rPr>
                          <m:t>𝑠</m:t>
                        </m:r>
                      </m:sub>
                    </m:sSub>
                    <m:r>
                      <m:rPr>
                        <m:lit/>
                      </m:rPr>
                      <a:rPr lang="en-US" i="1" cap="none">
                        <a:latin typeface="Cambria Math" panose="02040503050406030204" pitchFamily="18" charset="0"/>
                      </a:rPr>
                      <m:t>/</m:t>
                    </m:r>
                    <m:r>
                      <a:rPr lang="en-US" i="1" cap="none" smtClean="0"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endParaRPr lang="en-US" cap="none" dirty="0"/>
              </a:p>
              <a:p>
                <a:pPr marL="285750" indent="-285750" algn="l">
                  <a:buFont typeface="Arial" panose="020B0604020202020204" pitchFamily="34" charset="0"/>
                  <a:buChar char="•"/>
                </a:pPr>
                <a:r>
                  <a:rPr lang="en-US" cap="none" dirty="0"/>
                  <a:t>Where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cap="none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cap="none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i="1" cap="none">
                            <a:latin typeface="Cambria Math" panose="02040503050406030204" pitchFamily="18" charset="0"/>
                          </a:rPr>
                          <m:t>𝑠</m:t>
                        </m:r>
                      </m:sub>
                    </m:sSub>
                  </m:oMath>
                </a14:m>
                <a:r>
                  <a:rPr lang="en-US" cap="none" dirty="0"/>
                  <a:t> is the sample rate and </a:t>
                </a:r>
                <a14:m>
                  <m:oMath xmlns:m="http://schemas.openxmlformats.org/officeDocument/2006/math">
                    <m:r>
                      <a:rPr lang="en-US" i="1" cap="none"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en-US" cap="none" dirty="0"/>
                  <a:t> is the number of samples</a:t>
                </a:r>
              </a:p>
            </p:txBody>
          </p:sp>
        </mc:Choice>
        <mc:Fallback>
          <p:sp>
            <p:nvSpPr>
              <p:cNvPr id="4" name="Text Placeholder 3">
                <a:extLst>
                  <a:ext uri="{FF2B5EF4-FFF2-40B4-BE49-F238E27FC236}">
                    <a16:creationId xmlns:a16="http://schemas.microsoft.com/office/drawing/2014/main" id="{A90712EA-21C2-2BCA-A6D9-469AD535DD4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half" idx="2"/>
              </p:nvPr>
            </p:nvSpPr>
            <p:spPr>
              <a:blipFill>
                <a:blip r:embed="rId2"/>
                <a:stretch>
                  <a:fillRect l="-96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Content Placeholder 6">
                <a:extLst>
                  <a:ext uri="{FF2B5EF4-FFF2-40B4-BE49-F238E27FC236}">
                    <a16:creationId xmlns:a16="http://schemas.microsoft.com/office/drawing/2014/main" id="{2A738C74-3616-8B95-B98F-9F23CA6CFE36}"/>
                  </a:ext>
                </a:extLst>
              </p:cNvPr>
              <p:cNvSpPr>
                <a:spLocks noGrp="1"/>
              </p:cNvSpPr>
              <p:nvPr>
                <p:ph sz="quarter" idx="13"/>
              </p:nvPr>
            </p:nvSpPr>
            <p:spPr/>
            <p:txBody>
              <a:bodyPr/>
              <a:lstStyle/>
              <a:p>
                <a:r>
                  <a:rPr lang="en-US" cap="none" dirty="0"/>
                  <a:t>Statistical Significance: </a:t>
                </a:r>
                <a14:m>
                  <m:oMath xmlns:m="http://schemas.openxmlformats.org/officeDocument/2006/math">
                    <m:r>
                      <a:rPr lang="en-US" b="0" i="1" cap="none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b="0" i="1" cap="none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cap="none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cap="none" smtClean="0"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US" b="0" i="1" cap="none" smtClean="0">
                            <a:latin typeface="Cambria Math" panose="02040503050406030204" pitchFamily="18" charset="0"/>
                          </a:rPr>
                          <m:t>𝜇</m:t>
                        </m:r>
                        <m:r>
                          <a:rPr lang="en-US" b="0" i="1" cap="none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b="0" i="1" cap="none" smtClean="0"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a:rPr lang="en-US" b="0" i="1" cap="none" smtClean="0">
                            <a:latin typeface="Cambria Math" panose="02040503050406030204" pitchFamily="18" charset="0"/>
                          </a:rPr>
                          <m:t>|</m:t>
                        </m:r>
                      </m:num>
                      <m:den>
                        <m:sSub>
                          <m:sSubPr>
                            <m:ctrlPr>
                              <a:rPr lang="en-US" b="0" i="1" cap="none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cap="none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US" b="0" i="1" cap="none" smtClean="0">
                                <a:latin typeface="Cambria Math" panose="02040503050406030204" pitchFamily="18" charset="0"/>
                              </a:rPr>
                              <m:t>𝑧</m:t>
                            </m:r>
                          </m:sub>
                        </m:sSub>
                      </m:den>
                    </m:f>
                  </m:oMath>
                </a14:m>
                <a:endParaRPr lang="en-US" b="0" i="1" cap="none" dirty="0">
                  <a:latin typeface="Cambria Math" panose="02040503050406030204" pitchFamily="18" charset="0"/>
                </a:endParaRPr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US" cap="none" dirty="0"/>
                  <a:t>For a 1 kHz Signal </a:t>
                </a:r>
              </a:p>
              <a:p>
                <a:pPr marL="0" indent="0">
                  <a:buNone/>
                </a:pPr>
                <a:r>
                  <a:rPr lang="en-US" cap="none" dirty="0"/>
                  <a:t> A. </a:t>
                </a:r>
                <a14:m>
                  <m:oMath xmlns:m="http://schemas.openxmlformats.org/officeDocument/2006/math">
                    <m:r>
                      <a:rPr lang="en-US" b="0" i="1" cap="none" smtClean="0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n-US" cap="none" dirty="0"/>
                  <a:t> value for the Oscilloscope's built in FFT is </a:t>
                </a:r>
              </a:p>
              <a:p>
                <a:pPr marL="0" indent="0" algn="ctr">
                  <a:buNone/>
                </a:pPr>
                <a:r>
                  <a:rPr lang="en-US" cap="none" dirty="0"/>
                  <a:t> </a:t>
                </a:r>
                <a14:m>
                  <m:oMath xmlns:m="http://schemas.openxmlformats.org/officeDocument/2006/math">
                    <m:r>
                      <a:rPr lang="en-US" i="1" cap="none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i="1" cap="none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i="1" cap="none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 cap="none"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US" i="1" cap="none">
                            <a:latin typeface="Cambria Math" panose="02040503050406030204" pitchFamily="18" charset="0"/>
                          </a:rPr>
                          <m:t>1000</m:t>
                        </m:r>
                        <m:r>
                          <a:rPr lang="en-US" i="1" cap="none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i="1" cap="none">
                            <a:latin typeface="Cambria Math" panose="02040503050406030204" pitchFamily="18" charset="0"/>
                          </a:rPr>
                          <m:t>998.76</m:t>
                        </m:r>
                        <m:r>
                          <a:rPr lang="en-US" i="1" cap="none">
                            <a:latin typeface="Cambria Math" panose="02040503050406030204" pitchFamily="18" charset="0"/>
                          </a:rPr>
                          <m:t>|</m:t>
                        </m:r>
                      </m:num>
                      <m:den>
                        <m:r>
                          <a:rPr lang="en-US" i="1" cap="none">
                            <a:latin typeface="Cambria Math" panose="02040503050406030204" pitchFamily="18" charset="0"/>
                          </a:rPr>
                          <m:t>12.33</m:t>
                        </m:r>
                      </m:den>
                    </m:f>
                    <m:r>
                      <a:rPr lang="en-US" i="1" cap="none">
                        <a:latin typeface="Cambria Math" panose="02040503050406030204" pitchFamily="18" charset="0"/>
                      </a:rPr>
                      <m:t>=0.101</m:t>
                    </m:r>
                  </m:oMath>
                </a14:m>
                <a:endParaRPr lang="en-US" b="0" cap="none" dirty="0"/>
              </a:p>
              <a:p>
                <a:pPr marL="0" indent="0">
                  <a:buNone/>
                </a:pPr>
                <a:r>
                  <a:rPr lang="en-US" cap="none" dirty="0"/>
                  <a:t>B. </a:t>
                </a:r>
                <a14:m>
                  <m:oMath xmlns:m="http://schemas.openxmlformats.org/officeDocument/2006/math">
                    <m:r>
                      <a:rPr lang="en-US" i="1" cap="none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n-US" cap="none" dirty="0"/>
                  <a:t> value for the Python built in FFT is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cap="none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i="1" cap="none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 cap="none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 cap="none">
                              <a:latin typeface="Cambria Math" panose="02040503050406030204" pitchFamily="18" charset="0"/>
                            </a:rPr>
                            <m:t>|1000−</m:t>
                          </m:r>
                          <m:r>
                            <a:rPr lang="en-US" b="0" i="1" cap="none" smtClean="0">
                              <a:latin typeface="Cambria Math" panose="02040503050406030204" pitchFamily="18" charset="0"/>
                            </a:rPr>
                            <m:t>1000</m:t>
                          </m:r>
                          <m:r>
                            <a:rPr lang="en-US" i="1" cap="none">
                              <a:latin typeface="Cambria Math" panose="02040503050406030204" pitchFamily="18" charset="0"/>
                            </a:rPr>
                            <m:t>|</m:t>
                          </m:r>
                        </m:num>
                        <m:den>
                          <m:r>
                            <a:rPr lang="en-US" b="0" i="1" cap="none" smtClean="0">
                              <a:latin typeface="Cambria Math" panose="02040503050406030204" pitchFamily="18" charset="0"/>
                            </a:rPr>
                            <m:t>200</m:t>
                          </m:r>
                        </m:den>
                      </m:f>
                      <m:r>
                        <a:rPr lang="en-US" i="1" cap="none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cap="none" smtClean="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US" b="0" cap="none" dirty="0"/>
              </a:p>
              <a:p>
                <a:pPr marL="457200" lvl="1" indent="0">
                  <a:buNone/>
                </a:pPr>
                <a:endParaRPr lang="en-US" b="0" cap="none" dirty="0"/>
              </a:p>
              <a:p>
                <a:pPr marL="0" indent="0">
                  <a:buNone/>
                </a:pPr>
                <a:r>
                  <a:rPr lang="en-US" b="0" cap="none" dirty="0"/>
                  <a:t>2.   For the </a:t>
                </a:r>
              </a:p>
              <a:p>
                <a:pPr marL="0" indent="0">
                  <a:buNone/>
                </a:pPr>
                <a:endParaRPr lang="en-US" b="0" cap="none" dirty="0"/>
              </a:p>
              <a:p>
                <a:pPr marL="457200" indent="-457200">
                  <a:buFont typeface="+mj-lt"/>
                  <a:buAutoNum type="arabicPeriod"/>
                </a:pPr>
                <a:endParaRPr lang="en-US" cap="none" dirty="0"/>
              </a:p>
            </p:txBody>
          </p:sp>
        </mc:Choice>
        <mc:Fallback>
          <p:sp>
            <p:nvSpPr>
              <p:cNvPr id="7" name="Content Placeholder 6">
                <a:extLst>
                  <a:ext uri="{FF2B5EF4-FFF2-40B4-BE49-F238E27FC236}">
                    <a16:creationId xmlns:a16="http://schemas.microsoft.com/office/drawing/2014/main" id="{2A738C74-3616-8B95-B98F-9F23CA6CFE3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3"/>
              </p:nvPr>
            </p:nvSpPr>
            <p:spPr>
              <a:blipFill>
                <a:blip r:embed="rId3"/>
                <a:stretch>
                  <a:fillRect l="-81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8375738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F7603882-8F81-5082-4A1F-AE77B2D9A348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687985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63B7CC-0FB2-A644-1834-C73A30CD5C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Conclusion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F32ABBA-BEBC-2F45-312D-B6B974B72911}"/>
                  </a:ext>
                </a:extLst>
              </p:cNvPr>
              <p:cNvSpPr>
                <a:spLocks noGrp="1"/>
              </p:cNvSpPr>
              <p:nvPr>
                <p:ph sz="quarter" idx="13"/>
              </p:nvPr>
            </p:nvSpPr>
            <p:spPr/>
            <p:txBody>
              <a:bodyPr/>
              <a:lstStyle/>
              <a:p>
                <a:r>
                  <a:rPr lang="en-US" cap="none" dirty="0"/>
                  <a:t>The index of refraction for the acrylic prism was determined using the slope of the linear fit (</a:t>
                </a:r>
                <a14:m>
                  <m:oMath xmlns:m="http://schemas.openxmlformats.org/officeDocument/2006/math">
                    <m:r>
                      <a:rPr lang="en-US" b="0" i="1" cap="none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b="0" i="1" cap="none" smtClean="0">
                        <a:latin typeface="Cambria Math" panose="02040503050406030204" pitchFamily="18" charset="0"/>
                      </a:rPr>
                      <m:t>=1.14</m:t>
                    </m:r>
                  </m:oMath>
                </a14:m>
                <a:r>
                  <a:rPr lang="en-US" b="0" cap="none" dirty="0"/>
                  <a:t> a 25</a:t>
                </a:r>
                <a:r>
                  <a:rPr lang="en-US" b="0" cap="none"/>
                  <a:t>% error). </a:t>
                </a:r>
                <a:r>
                  <a:rPr lang="en-US" b="0" cap="none" dirty="0"/>
                  <a:t>Based on this, the critical angle between air and acrylic was calculated to be </a:t>
                </a:r>
                <a14:m>
                  <m:oMath xmlns:m="http://schemas.openxmlformats.org/officeDocument/2006/math">
                    <m:r>
                      <a:rPr lang="en-US" b="0" i="1" cap="none" smtClean="0">
                        <a:latin typeface="Cambria Math" panose="02040503050406030204" pitchFamily="18" charset="0"/>
                      </a:rPr>
                      <m:t>61.2</m:t>
                    </m:r>
                    <m:r>
                      <a:rPr lang="en-US" b="0" i="1" cap="none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°</m:t>
                    </m:r>
                  </m:oMath>
                </a14:m>
                <a:r>
                  <a:rPr lang="en-US" b="0" cap="none" dirty="0"/>
                  <a:t> with a 43% error</a:t>
                </a:r>
              </a:p>
              <a:p>
                <a:r>
                  <a:rPr lang="en-US" cap="none" dirty="0"/>
                  <a:t>Rotating the prism allowed for the successful observation of total internal reflection and provided necessary data to apply Snell’s Law</a:t>
                </a:r>
              </a:p>
              <a:p>
                <a:r>
                  <a:rPr lang="en-US" cap="none" dirty="0"/>
                  <a:t>While the linear fit showed high correlation, the calculated critical angle is likely an overestimate due to a lack of data points beyond 40 degrees</a:t>
                </a:r>
              </a:p>
              <a:p>
                <a:pPr marL="0" indent="0">
                  <a:buNone/>
                </a:pPr>
                <a:endParaRPr lang="en-US" cap="none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F32ABBA-BEBC-2F45-312D-B6B974B7291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3"/>
              </p:nvPr>
            </p:nvSpPr>
            <p:spPr>
              <a:blipFill>
                <a:blip r:embed="rId2"/>
                <a:stretch>
                  <a:fillRect l="-612" r="-20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40239A4-0C4E-8897-B86E-416768D5BBC0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5942127"/>
      </p:ext>
    </p:extLst>
  </p:cSld>
  <p:clrMapOvr>
    <a:masterClrMapping/>
  </p:clrMapOvr>
</p:sld>
</file>

<file path=ppt/theme/theme1.xml><?xml version="1.0" encoding="utf-8"?>
<a:theme xmlns:a="http://schemas.openxmlformats.org/drawingml/2006/main" name="Droplet">
  <a:themeElements>
    <a:clrScheme name="Droplet">
      <a:dk1>
        <a:sysClr val="windowText" lastClr="000000"/>
      </a:dk1>
      <a:lt1>
        <a:sysClr val="window" lastClr="FFFFFF"/>
      </a:lt1>
      <a:dk2>
        <a:srgbClr val="355071"/>
      </a:dk2>
      <a:lt2>
        <a:srgbClr val="AABED7"/>
      </a:lt2>
      <a:accent1>
        <a:srgbClr val="2FA3EE"/>
      </a:accent1>
      <a:accent2>
        <a:srgbClr val="4BCAAD"/>
      </a:accent2>
      <a:accent3>
        <a:srgbClr val="86C157"/>
      </a:accent3>
      <a:accent4>
        <a:srgbClr val="D99C3F"/>
      </a:accent4>
      <a:accent5>
        <a:srgbClr val="CE6633"/>
      </a:accent5>
      <a:accent6>
        <a:srgbClr val="A35DD1"/>
      </a:accent6>
      <a:hlink>
        <a:srgbClr val="56BCFE"/>
      </a:hlink>
      <a:folHlink>
        <a:srgbClr val="97C5E3"/>
      </a:folHlink>
    </a:clrScheme>
    <a:fontScheme name="Drople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roplet">
      <a:fillStyleLst>
        <a:solidFill>
          <a:schemeClr val="phClr"/>
        </a:solidFill>
        <a:solidFill>
          <a:schemeClr val="phClr">
            <a:tint val="69000"/>
            <a:satMod val="105000"/>
            <a:lumMod val="110000"/>
          </a:schemeClr>
        </a:solidFill>
        <a:gradFill rotWithShape="1">
          <a:gsLst>
            <a:gs pos="0">
              <a:schemeClr val="phClr">
                <a:tint val="94000"/>
                <a:satMod val="100000"/>
                <a:lumMod val="108000"/>
              </a:schemeClr>
            </a:gs>
            <a:gs pos="50000">
              <a:schemeClr val="phClr">
                <a:tint val="98000"/>
                <a:shade val="100000"/>
                <a:satMod val="100000"/>
                <a:lumMod val="100000"/>
              </a:schemeClr>
            </a:gs>
            <a:gs pos="100000">
              <a:schemeClr val="phClr">
                <a:shade val="72000"/>
                <a:satMod val="12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>
              <a:shade val="60000"/>
            </a:schemeClr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dir="5400000" rotWithShape="0">
              <a:srgbClr val="000000">
                <a:alpha val="28000"/>
              </a:srgbClr>
            </a:outerShdw>
          </a:effectLst>
        </a:effectStyle>
        <a:effectStyle>
          <a:effectLst>
            <a:outerShdw blurRad="63500" dist="25400" dir="5400000" algn="ctr" rotWithShape="0">
              <a:srgbClr val="000000">
                <a:alpha val="69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200000"/>
            </a:lightRig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4000"/>
                <a:shade val="100000"/>
                <a:hueMod val="130000"/>
                <a:satMod val="150000"/>
                <a:lumMod val="112000"/>
              </a:schemeClr>
            </a:gs>
            <a:gs pos="100000">
              <a:schemeClr val="phClr">
                <a:shade val="92000"/>
                <a:satMod val="140000"/>
                <a:lumMod val="11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roplet" id="{8984A317-299A-4E50-B45D-BFC9EDE2337A}" vid="{A633B6A3-9E7F-4C10-9C98-2517A3134361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c64525cb-669c-474a-bb1c-a1df3ff42bd0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300CEFF5852D694286F2BC0CE7A6C997" ma:contentTypeVersion="6" ma:contentTypeDescription="Create a new document." ma:contentTypeScope="" ma:versionID="526a12cdb4104c8474d1a1c7b98d28ce">
  <xsd:schema xmlns:xsd="http://www.w3.org/2001/XMLSchema" xmlns:xs="http://www.w3.org/2001/XMLSchema" xmlns:p="http://schemas.microsoft.com/office/2006/metadata/properties" xmlns:ns3="c64525cb-669c-474a-bb1c-a1df3ff42bd0" targetNamespace="http://schemas.microsoft.com/office/2006/metadata/properties" ma:root="true" ma:fieldsID="bbbd96e4c2bf71238f876c69fa445afd" ns3:_="">
    <xsd:import namespace="c64525cb-669c-474a-bb1c-a1df3ff42bd0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ObjectDetectorVersions" minOccurs="0"/>
                <xsd:element ref="ns3:_activity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64525cb-669c-474a-bb1c-a1df3ff42bd0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_activity" ma:index="13" nillable="true" ma:displayName="_activity" ma:hidden="true" ma:internalName="_activity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A012DD3B-FC0C-42E4-A0E5-A7F5E43A6E5A}">
  <ds:schemaRefs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terms/"/>
    <ds:schemaRef ds:uri="http://www.w3.org/XML/1998/namespace"/>
    <ds:schemaRef ds:uri="http://purl.org/dc/dcmitype/"/>
    <ds:schemaRef ds:uri="http://schemas.microsoft.com/office/2006/metadata/properties"/>
    <ds:schemaRef ds:uri="c64525cb-669c-474a-bb1c-a1df3ff42bd0"/>
    <ds:schemaRef ds:uri="http://purl.org/dc/elements/1.1/"/>
  </ds:schemaRefs>
</ds:datastoreItem>
</file>

<file path=customXml/itemProps2.xml><?xml version="1.0" encoding="utf-8"?>
<ds:datastoreItem xmlns:ds="http://schemas.openxmlformats.org/officeDocument/2006/customXml" ds:itemID="{737607DC-AD28-4B6A-9497-E6CBE4D39BA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c64525cb-669c-474a-bb1c-a1df3ff42bd0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4437C8FD-C768-4F57-B223-C8CB82EB0968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pressure-and-temperature_presentation</Template>
  <TotalTime>107</TotalTime>
  <Words>310</Words>
  <Application>Microsoft Macintosh PowerPoint</Application>
  <PresentationFormat>Widescreen</PresentationFormat>
  <Paragraphs>29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Cambria Math</vt:lpstr>
      <vt:lpstr>Tw Cen MT</vt:lpstr>
      <vt:lpstr>Droplet</vt:lpstr>
      <vt:lpstr>Lab 4 Calibrating a function generator</vt:lpstr>
      <vt:lpstr>Objective and Experiment</vt:lpstr>
      <vt:lpstr>PowerPoint Presentation</vt:lpstr>
      <vt:lpstr>Oscillicope Data</vt:lpstr>
      <vt:lpstr>Oscillicope Data</vt:lpstr>
      <vt:lpstr>Uncertainty</vt:lpstr>
      <vt:lpstr>PowerPoint Presentation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Daksh Khandelwal</dc:creator>
  <cp:lastModifiedBy>Daksh Khandelwal</cp:lastModifiedBy>
  <cp:revision>13</cp:revision>
  <dcterms:created xsi:type="dcterms:W3CDTF">2026-03-22T19:27:30Z</dcterms:created>
  <dcterms:modified xsi:type="dcterms:W3CDTF">2026-04-05T16:24:25Z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0x010100300CEFF5852D694286F2BC0CE7A6C997</vt:lpwstr>
  </property>
</Properties>
</file>