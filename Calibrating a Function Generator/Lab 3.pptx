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7" r:id="rId6"/>
    <p:sldId id="273" r:id="rId7"/>
    <p:sldId id="274" r:id="rId8"/>
    <p:sldId id="275" r:id="rId9"/>
    <p:sldId id="277" r:id="rId10"/>
    <p:sldId id="276" r:id="rId11"/>
    <p:sldId id="271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22" autoAdjust="0"/>
    <p:restoredTop sz="96174"/>
  </p:normalViewPr>
  <p:slideViewPr>
    <p:cSldViewPr snapToGrid="0">
      <p:cViewPr>
        <p:scale>
          <a:sx n="103" d="100"/>
          <a:sy n="103" d="100"/>
        </p:scale>
        <p:origin x="14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AD13-E6BC-79E6-F8E2-3F15168BE7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Lab 4</a:t>
            </a:r>
            <a:br>
              <a:rPr lang="en-US" sz="4400" dirty="0"/>
            </a:br>
            <a:r>
              <a:rPr lang="en-US" sz="4400" dirty="0"/>
              <a:t>Calibrating a function generator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F7CE5D-381D-9A2D-BABA-991516D7C1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Daksh Khandelwal</a:t>
            </a:r>
          </a:p>
        </p:txBody>
      </p:sp>
    </p:spTree>
    <p:extLst>
      <p:ext uri="{BB962C8B-B14F-4D97-AF65-F5344CB8AC3E}">
        <p14:creationId xmlns:p14="http://schemas.microsoft.com/office/powerpoint/2010/main" val="151686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161A-66AC-63FC-0CAE-32A661A1D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 and 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92ABD-1612-B5F6-F88B-704DDB50E91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cap="none" dirty="0"/>
              <a:t>Objective - To determine the accuracy of a BK precision 4011A function generator across multiple frequency ranges.</a:t>
            </a:r>
          </a:p>
          <a:p>
            <a:pPr marL="0" indent="0">
              <a:buNone/>
            </a:pPr>
            <a:r>
              <a:rPr lang="en-US" cap="none" dirty="0"/>
              <a:t>Experiment - generate 1 </a:t>
            </a:r>
            <a:r>
              <a:rPr lang="en-US" cap="none" dirty="0" err="1"/>
              <a:t>khz</a:t>
            </a:r>
            <a:r>
              <a:rPr lang="en-US" cap="none" dirty="0"/>
              <a:t> and 5 </a:t>
            </a:r>
            <a:r>
              <a:rPr lang="en-US" cap="none" dirty="0" err="1"/>
              <a:t>khz</a:t>
            </a:r>
            <a:r>
              <a:rPr lang="en-US" cap="none" dirty="0"/>
              <a:t> sine waves.</a:t>
            </a:r>
          </a:p>
          <a:p>
            <a:r>
              <a:rPr lang="en-US" cap="none" dirty="0"/>
              <a:t>Compare two measurement techniques:</a:t>
            </a:r>
          </a:p>
          <a:p>
            <a:pPr marL="457200" indent="-457200">
              <a:buFont typeface="+mj-lt"/>
              <a:buAutoNum type="arabicPeriod"/>
            </a:pPr>
            <a:r>
              <a:rPr lang="en-US" cap="none" dirty="0"/>
              <a:t>The </a:t>
            </a:r>
            <a:r>
              <a:rPr lang="en-US" cap="none" dirty="0" err="1"/>
              <a:t>tektronix</a:t>
            </a:r>
            <a:r>
              <a:rPr lang="en-US" cap="none" dirty="0"/>
              <a:t> oscilloscope's built-in, real-time FFT.</a:t>
            </a:r>
          </a:p>
          <a:p>
            <a:pPr marL="457200" indent="-457200">
              <a:buFont typeface="+mj-lt"/>
              <a:buAutoNum type="arabicPeriod"/>
            </a:pPr>
            <a:r>
              <a:rPr lang="en-US" cap="none" dirty="0"/>
              <a:t>An offline </a:t>
            </a:r>
            <a:r>
              <a:rPr lang="en-US" cap="none" dirty="0" err="1"/>
              <a:t>fft</a:t>
            </a:r>
            <a:r>
              <a:rPr lang="en-US" cap="none" dirty="0"/>
              <a:t> calculated in python using the oscilloscope's raw time-domain data.</a:t>
            </a:r>
          </a:p>
        </p:txBody>
      </p:sp>
    </p:spTree>
    <p:extLst>
      <p:ext uri="{BB962C8B-B14F-4D97-AF65-F5344CB8AC3E}">
        <p14:creationId xmlns:p14="http://schemas.microsoft.com/office/powerpoint/2010/main" val="914678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E607C4-A0A1-44FA-981D-EA3B81396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F74D49-0368-3EC7-FD96-08A591C3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570" y="643466"/>
            <a:ext cx="9816860" cy="55710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D97526-B9D9-4257-B6A9-9D7988974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704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55185833-50A1-4075-9C90-F6E7B153A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0F41EF-72A4-4DA7-9DEB-C487B2512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E194D91-9FD4-4CB4-AD8E-C842798FF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287B275B-62BF-40C0-95BA-606F0ACCA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D833E3-EE81-BC31-C646-E0A9F9C859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" r="2" b="2"/>
          <a:stretch>
            <a:fillRect/>
          </a:stretch>
        </p:blipFill>
        <p:spPr>
          <a:xfrm>
            <a:off x="1" y="10"/>
            <a:ext cx="7479157" cy="342898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DDE8805-3EA4-4406-A843-10FB62D15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8020" y="3429000"/>
            <a:ext cx="7421138" cy="1"/>
          </a:xfrm>
          <a:prstGeom prst="line">
            <a:avLst/>
          </a:prstGeom>
          <a:ln w="82550" cap="sq">
            <a:solidFill>
              <a:srgbClr val="D9D9D9"/>
            </a:solidFill>
            <a:miter lim="800000"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BFBFBF"/>
            </a:contourClr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0F72099E-AFE3-450F-AC2A-7A52DE354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2BC5777-6C9B-4A78-9BA6-92FA4E86B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CCA8FB9-9207-C3A5-BB62-7BF10767D273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5"/>
          <a:srcRect t="7379" r="1" b="1"/>
          <a:stretch>
            <a:fillRect/>
          </a:stretch>
        </p:blipFill>
        <p:spPr>
          <a:xfrm>
            <a:off x="1" y="3428998"/>
            <a:ext cx="7479157" cy="3429001"/>
          </a:xfrm>
          <a:prstGeom prst="rect">
            <a:avLst/>
          </a:prstGeom>
        </p:spPr>
      </p:pic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925DD205-B049-BC6B-8ABC-028F02083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38959" y="4165601"/>
            <a:ext cx="2984327" cy="78917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The raw data from the oscilloscope measures harmonics for the 1 kHz sinewave. 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D2C548E-C503-5701-0487-86D2A950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674" y="1358901"/>
            <a:ext cx="3172899" cy="273049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 dirty="0" err="1"/>
              <a:t>Oscillicope</a:t>
            </a:r>
            <a:r>
              <a:rPr lang="en-US" sz="4100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335111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C0A1B0-05CB-92C6-0AEC-096C09F5B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>
            <a:extLst>
              <a:ext uri="{FF2B5EF4-FFF2-40B4-BE49-F238E27FC236}">
                <a16:creationId xmlns:a16="http://schemas.microsoft.com/office/drawing/2014/main" id="{55185833-50A1-4075-9C90-F6E7B153A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48F57D9-4797-4D7F-B4C3-17628994F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E1E30F6-6AE7-4446-BEE0-9C043F3E8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0F3DD082-FB03-4B74-A3BC-640E042E9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97F61D8-0CEB-6406-7E1E-BE3C94B8291C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/>
          <a:srcRect l="8" r="35" b="-1"/>
          <a:stretch>
            <a:fillRect/>
          </a:stretch>
        </p:blipFill>
        <p:spPr>
          <a:xfrm>
            <a:off x="-23293" y="3429013"/>
            <a:ext cx="6924201" cy="34289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4AC623-09F5-E565-BC93-C816EDB3110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17" r="2" b="2"/>
          <a:stretch>
            <a:fillRect/>
          </a:stretch>
        </p:blipFill>
        <p:spPr>
          <a:xfrm>
            <a:off x="4429" y="-12"/>
            <a:ext cx="6924201" cy="3428998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1B910EF-CAAD-4AB5-BF50-FE7BE2F75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  <a:endCxn id="15" idx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8020" y="3428999"/>
            <a:ext cx="6875041" cy="1"/>
          </a:xfrm>
          <a:prstGeom prst="line">
            <a:avLst/>
          </a:prstGeom>
          <a:ln w="82550" cap="sq">
            <a:solidFill>
              <a:srgbClr val="D9D9D9"/>
            </a:solidFill>
            <a:miter lim="800000"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BFBFBF"/>
            </a:contourClr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817FF20-BB02-4829-AEDE-9BC028BCA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30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FA61E02E-DFEB-4F7B-9F98-6154C738F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" y="0"/>
            <a:ext cx="12192000" cy="685800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BD02EA8-C3B8-34E6-EB55-A8F204B539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38959" y="4165601"/>
            <a:ext cx="2984327" cy="78917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The raw data from the oscilloscope measures harmonics for the 5 kHz sinewave.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334D81-A7C9-794A-9502-F37E675A0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674" y="1358901"/>
            <a:ext cx="3172899" cy="273049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 dirty="0" err="1"/>
              <a:t>Oscillicope</a:t>
            </a:r>
            <a:r>
              <a:rPr lang="en-US" sz="4100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716295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41C4B-6463-8EDF-5237-068A573C2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Uncertainty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0712EA-21C2-2BCA-A6D9-469AD535D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endParaRPr lang="en-US" cap="none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A738C74-3616-8B95-B98F-9F23CA6CFE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b="0" cap="none" dirty="0"/>
          </a:p>
          <a:p>
            <a:pPr marL="457200" indent="-457200">
              <a:buFont typeface="+mj-lt"/>
              <a:buAutoNum type="arabicPeriod"/>
            </a:pP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2283757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7603882-8F81-5082-4A1F-AE77B2D9A34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879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3B7CC-0FB2-A644-1834-C73A30CD5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2ABBA-BEBC-2F45-312D-B6B974B7291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r>
                  <a:rPr lang="en-US" cap="none" dirty="0"/>
                  <a:t>The index of refraction for the acrylic prism was determined using the slope of the linear fit (</a:t>
                </a:r>
                <a14:m>
                  <m:oMath xmlns:m="http://schemas.openxmlformats.org/officeDocument/2006/math"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=1.14</m:t>
                    </m:r>
                  </m:oMath>
                </a14:m>
                <a:r>
                  <a:rPr lang="en-US" b="0" cap="none" dirty="0"/>
                  <a:t> a 25</a:t>
                </a:r>
                <a:r>
                  <a:rPr lang="en-US" b="0" cap="none"/>
                  <a:t>% error). </a:t>
                </a:r>
                <a:r>
                  <a:rPr lang="en-US" b="0" cap="none" dirty="0"/>
                  <a:t>Based on this, the critical angle between air and acrylic was calculated to be </a:t>
                </a:r>
                <a14:m>
                  <m:oMath xmlns:m="http://schemas.openxmlformats.org/officeDocument/2006/math">
                    <m:r>
                      <a:rPr lang="en-US" b="0" i="1" cap="none" smtClean="0">
                        <a:latin typeface="Cambria Math" panose="02040503050406030204" pitchFamily="18" charset="0"/>
                      </a:rPr>
                      <m:t>61.2</m:t>
                    </m:r>
                    <m:r>
                      <a:rPr lang="en-US" b="0" i="1" cap="none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b="0" cap="none" dirty="0"/>
                  <a:t> with a 43% error</a:t>
                </a:r>
              </a:p>
              <a:p>
                <a:r>
                  <a:rPr lang="en-US" cap="none" dirty="0"/>
                  <a:t>Rotating the prism allowed for the successful observation of total internal reflection and provided necessary data to apply Snell’s Law</a:t>
                </a:r>
              </a:p>
              <a:p>
                <a:r>
                  <a:rPr lang="en-US" cap="none" dirty="0"/>
                  <a:t>While the linear fit showed high correlation, the calculated critical angle is likely an overestimate due to a lack of data points beyond 40 degrees</a:t>
                </a:r>
              </a:p>
              <a:p>
                <a:pPr marL="0" indent="0">
                  <a:buNone/>
                </a:pPr>
                <a:endParaRPr lang="en-US" cap="non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2ABBA-BEBC-2F45-312D-B6B974B729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612" r="-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0239A4-0C4E-8897-B86E-416768D5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42127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64525cb-669c-474a-bb1c-a1df3ff42bd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00CEFF5852D694286F2BC0CE7A6C997" ma:contentTypeVersion="6" ma:contentTypeDescription="Create a new document." ma:contentTypeScope="" ma:versionID="526a12cdb4104c8474d1a1c7b98d28ce">
  <xsd:schema xmlns:xsd="http://www.w3.org/2001/XMLSchema" xmlns:xs="http://www.w3.org/2001/XMLSchema" xmlns:p="http://schemas.microsoft.com/office/2006/metadata/properties" xmlns:ns3="c64525cb-669c-474a-bb1c-a1df3ff42bd0" targetNamespace="http://schemas.microsoft.com/office/2006/metadata/properties" ma:root="true" ma:fieldsID="bbbd96e4c2bf71238f876c69fa445afd" ns3:_="">
    <xsd:import namespace="c64525cb-669c-474a-bb1c-a1df3ff42b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4525cb-669c-474a-bb1c-a1df3ff42b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12DD3B-FC0C-42E4-A0E5-A7F5E43A6E5A}">
  <ds:schemaRefs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http://www.w3.org/XML/1998/namespace"/>
    <ds:schemaRef ds:uri="http://purl.org/dc/dcmitype/"/>
    <ds:schemaRef ds:uri="http://schemas.microsoft.com/office/2006/metadata/properties"/>
    <ds:schemaRef ds:uri="c64525cb-669c-474a-bb1c-a1df3ff42bd0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37607DC-AD28-4B6A-9497-E6CBE4D39B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64525cb-669c-474a-bb1c-a1df3ff42b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437C8FD-C768-4F57-B223-C8CB82EB096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pressure-and-temperature_presentation</Template>
  <TotalTime>160</TotalTime>
  <Words>196</Words>
  <Application>Microsoft Macintosh PowerPoint</Application>
  <PresentationFormat>Widescreen</PresentationFormat>
  <Paragraphs>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Cambria Math</vt:lpstr>
      <vt:lpstr>Tw Cen MT</vt:lpstr>
      <vt:lpstr>Droplet</vt:lpstr>
      <vt:lpstr>Lab 4 Calibrating a function generator</vt:lpstr>
      <vt:lpstr>Objective and Experiment</vt:lpstr>
      <vt:lpstr>PowerPoint Presentation</vt:lpstr>
      <vt:lpstr>Oscillicope Data</vt:lpstr>
      <vt:lpstr>Oscillicope Data</vt:lpstr>
      <vt:lpstr>Uncertainty</vt:lpstr>
      <vt:lpstr>PowerPoint Presentation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Daksh Khandelwal</dc:creator>
  <cp:lastModifiedBy>Daksh Khandelwal</cp:lastModifiedBy>
  <cp:revision>14</cp:revision>
  <dcterms:created xsi:type="dcterms:W3CDTF">2026-03-22T19:27:30Z</dcterms:created>
  <dcterms:modified xsi:type="dcterms:W3CDTF">2026-04-05T17:17:38Z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0x010100300CEFF5852D694286F2BC0CE7A6C997</vt:lpwstr>
  </property>
</Properties>
</file>