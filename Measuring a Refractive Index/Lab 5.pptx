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79" r:id="rId6"/>
    <p:sldId id="281" r:id="rId7"/>
    <p:sldId id="282" r:id="rId8"/>
    <p:sldId id="293" r:id="rId9"/>
    <p:sldId id="297" r:id="rId10"/>
    <p:sldId id="284" r:id="rId11"/>
    <p:sldId id="292" r:id="rId12"/>
    <p:sldId id="29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8" autoAdjust="0"/>
    <p:restoredTop sz="96174"/>
  </p:normalViewPr>
  <p:slideViewPr>
    <p:cSldViewPr snapToGrid="0">
      <p:cViewPr>
        <p:scale>
          <a:sx n="111" d="100"/>
          <a:sy n="111" d="100"/>
        </p:scale>
        <p:origin x="8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BAD13-E6BC-79E6-F8E2-3F15168BE7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Lab 5</a:t>
            </a:r>
            <a:br>
              <a:rPr lang="en-US" sz="4400" dirty="0"/>
            </a:br>
            <a:r>
              <a:rPr lang="en-US" sz="4400" dirty="0"/>
              <a:t>Measuring a refractive index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F7CE5D-381D-9A2D-BABA-991516D7C1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Daksh Khandelwal</a:t>
            </a:r>
          </a:p>
        </p:txBody>
      </p:sp>
    </p:spTree>
    <p:extLst>
      <p:ext uri="{BB962C8B-B14F-4D97-AF65-F5344CB8AC3E}">
        <p14:creationId xmlns:p14="http://schemas.microsoft.com/office/powerpoint/2010/main" val="151686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F161A-66AC-63FC-0CAE-32A661A1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and Experiment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C92ABD-1612-B5F6-F88B-704DDB50E916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Determine the refractive index of the solid polyethylene dielectric inside RG-58 coaxial cable and characterize how it varies with signal frequency by measuring the propagation delay of pulses through cables of known lengths.</a:t>
                </a:r>
              </a:p>
              <a:p>
                <a:pPr marL="342900" indent="-342900">
                  <a:spcBef>
                    <a:spcPts val="600"/>
                  </a:spcBef>
                  <a:buFont typeface="Arial"/>
                  <a:buChar char="•"/>
                </a:pPr>
                <a:r>
                  <a:rPr lang="en-US" sz="1800" b="1" dirty="0"/>
                  <a:t>Principle: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𝑛</m:t>
                    </m:r>
                    <m:r>
                      <a:rPr lang="en-US" sz="1800" dirty="0">
                        <a:latin typeface="Cambria Math"/>
                      </a:rPr>
                      <m:t> = </m:t>
                    </m:r>
                    <m:f>
                      <m:f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dirty="0">
                            <a:latin typeface="Cambria Math"/>
                          </a:rPr>
                          <m:t>𝑐</m:t>
                        </m:r>
                      </m:num>
                      <m:den>
                        <m:r>
                          <a:rPr lang="en-US" sz="1800" i="1" dirty="0">
                            <a:latin typeface="Cambria Math"/>
                          </a:rPr>
                          <m:t>𝑣</m:t>
                        </m:r>
                      </m:den>
                    </m:f>
                  </m:oMath>
                </a14:m>
                <a:r>
                  <a:rPr lang="en-US" sz="1800" dirty="0"/>
                  <a:t>; measure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𝑣</m:t>
                    </m:r>
                  </m:oMath>
                </a14:m>
                <a:r>
                  <a:rPr lang="en-US" sz="1800" dirty="0"/>
                  <a:t> from pulse travel time through a known cable length</a:t>
                </a:r>
              </a:p>
              <a:p>
                <a:pPr marL="342900" indent="-342900">
                  <a:buFont typeface="Arial"/>
                  <a:buChar char="•"/>
                </a:pPr>
                <a:r>
                  <a:rPr lang="en-US" sz="1800" b="1" dirty="0"/>
                  <a:t>Setup: </a:t>
                </a:r>
                <a:r>
                  <a:rPr lang="en-US" sz="1800" dirty="0"/>
                  <a:t>waveform generator sends a pulse into RG-58; oscilloscope captures sent and reflected/received signals</a:t>
                </a:r>
              </a:p>
              <a:p>
                <a:pPr marL="342900" indent="-342900">
                  <a:buFont typeface="Arial"/>
                  <a:buChar char="•"/>
                </a:pPr>
                <a:r>
                  <a:rPr lang="en-US" sz="1800" b="1" dirty="0"/>
                  <a:t>Equipment: </a:t>
                </a:r>
                <a:r>
                  <a:rPr lang="en-US" sz="1800" dirty="0"/>
                  <a:t>Tektronix TBS1000B scope, B&amp;K 4010A/4011A generator, four coax cables of varying length, 3 BNC tees, 2 50-Ω terminators</a:t>
                </a:r>
              </a:p>
              <a:p>
                <a:pPr marL="342900" indent="-342900">
                  <a:buFont typeface="Arial"/>
                  <a:buChar char="•"/>
                </a:pPr>
                <a:r>
                  <a:rPr lang="en-US" sz="1800" b="1" dirty="0"/>
                  <a:t>Method: </a:t>
                </a:r>
                <a:r>
                  <a:rPr lang="en-US" sz="1800" dirty="0"/>
                  <a:t>compare delays across different cable lengths to extract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𝑣</m:t>
                    </m:r>
                  </m:oMath>
                </a14:m>
                <a:r>
                  <a:rPr lang="en-US" sz="1800" dirty="0"/>
                  <a:t>, then sweep frequency to test for dispersion</a:t>
                </a:r>
              </a:p>
              <a:p>
                <a:pPr marL="342900" indent="-342900">
                  <a:buFont typeface="Arial"/>
                  <a:buChar char="•"/>
                </a:pPr>
                <a:r>
                  <a:rPr lang="en-US" sz="1800" b="1" dirty="0"/>
                  <a:t>Expected: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𝑛</m:t>
                    </m:r>
                    <m:r>
                      <a:rPr lang="en-US" sz="1800" dirty="0">
                        <a:latin typeface="Cambria Math"/>
                      </a:rPr>
                      <m:t> ≈ 1.5</m:t>
                    </m:r>
                  </m:oMath>
                </a14:m>
                <a:r>
                  <a:rPr lang="en-US" sz="1800" dirty="0"/>
                  <a:t> for polyethylene (velocity factor ≈ 0.66)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C92ABD-1612-B5F6-F88B-704DDB50E9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245" t="-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2867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D33C7-812E-FFAA-791F-411E2194D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Physics and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C7BA6C-3F7E-E986-4ED0-9F1EC89A0ED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1800" b="1" cap="none" dirty="0"/>
                  <a:t>Physics</a:t>
                </a:r>
              </a:p>
              <a:p>
                <a:pPr marL="342900" indent="-342900">
                  <a:buFont typeface="Arial"/>
                  <a:buChar char="•"/>
                </a:pPr>
                <a:r>
                  <a:rPr lang="en-US" sz="1600" cap="none" dirty="0"/>
                  <a:t>Phase velocity in a dielectric: </a:t>
                </a:r>
                <a14:m>
                  <m:oMath xmlns:m="http://schemas.openxmlformats.org/officeDocument/2006/math">
                    <m:r>
                      <a:rPr lang="en-US" sz="1600" i="1" cap="none" dirty="0" smtClean="0">
                        <a:latin typeface="Cambria Math"/>
                      </a:rPr>
                      <m:t>𝑣</m:t>
                    </m:r>
                    <m:r>
                      <a:rPr lang="en-US" sz="1600" cap="none" dirty="0">
                        <a:latin typeface="Cambria Math"/>
                      </a:rPr>
                      <m:t>=1</m:t>
                    </m:r>
                    <m:r>
                      <m:rPr>
                        <m:lit/>
                      </m:rPr>
                      <a:rPr lang="en-US" sz="1600" cap="none" dirty="0">
                        <a:latin typeface="Cambria Math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US" sz="1600" i="1" cap="none" dirty="0">
                            <a:latin typeface="Cambria Math"/>
                          </a:rPr>
                        </m:ctrlPr>
                      </m:radPr>
                      <m:deg/>
                      <m:e>
                        <m:d>
                          <m:dPr>
                            <m:ctrlPr>
                              <a:rPr lang="en-US" sz="1600" i="1" cap="none" dirty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600" i="1" cap="none" dirty="0">
                                <a:latin typeface="Cambria Math"/>
                              </a:rPr>
                              <m:t>𝜀𝜇</m:t>
                            </m:r>
                          </m:e>
                        </m:d>
                      </m:e>
                    </m:rad>
                  </m:oMath>
                </a14:m>
                <a:r>
                  <a:rPr lang="en-US" sz="1600" cap="none" dirty="0"/>
                  <a:t>; in vacuum </a:t>
                </a:r>
                <a14:m>
                  <m:oMath xmlns:m="http://schemas.openxmlformats.org/officeDocument/2006/math">
                    <m:r>
                      <a:rPr lang="en-US" sz="1600" i="1" cap="none" dirty="0" smtClean="0">
                        <a:latin typeface="Cambria Math"/>
                      </a:rPr>
                      <m:t>𝑐</m:t>
                    </m:r>
                    <m:r>
                      <a:rPr lang="en-US" sz="1600" cap="none" dirty="0">
                        <a:latin typeface="Cambria Math"/>
                      </a:rPr>
                      <m:t>=1</m:t>
                    </m:r>
                    <m:r>
                      <m:rPr>
                        <m:lit/>
                      </m:rPr>
                      <a:rPr lang="en-US" sz="1600" cap="none" dirty="0">
                        <a:latin typeface="Cambria Math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US" sz="1600" i="1" cap="none" dirty="0">
                            <a:latin typeface="Cambria Math"/>
                          </a:rPr>
                        </m:ctrlPr>
                      </m:radPr>
                      <m:deg/>
                      <m:e>
                        <m:d>
                          <m:dPr>
                            <m:ctrlPr>
                              <a:rPr lang="en-US" sz="1600" i="1" cap="none" dirty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cap="none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cap="none" dirty="0">
                                    <a:latin typeface="Cambria Math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1600" b="0" i="1" cap="none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b="0" i="1" cap="none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1600" b="0" i="1" cap="none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cap="none" dirty="0">
                                    <a:latin typeface="Cambria Math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600" b="0" i="1" cap="none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rad>
                  </m:oMath>
                </a14:m>
                <a:endParaRPr lang="en-US" sz="1600" cap="none" dirty="0"/>
              </a:p>
              <a:p>
                <a:pPr marL="342900" indent="-342900">
                  <a:buFont typeface="Arial"/>
                  <a:buChar char="•"/>
                </a:pPr>
                <a:r>
                  <a:rPr lang="en-US" sz="1600" cap="none" dirty="0"/>
                  <a:t>Refractive index: </a:t>
                </a:r>
                <a14:m>
                  <m:oMath xmlns:m="http://schemas.openxmlformats.org/officeDocument/2006/math">
                    <m:r>
                      <a:rPr lang="en-US" sz="1600" i="1" cap="none" dirty="0">
                        <a:latin typeface="Cambria Math"/>
                      </a:rPr>
                      <m:t>𝑛</m:t>
                    </m:r>
                    <m:r>
                      <a:rPr lang="en-US" sz="1600" cap="none" dirty="0">
                        <a:latin typeface="Cambria Math"/>
                      </a:rPr>
                      <m:t> = </m:t>
                    </m:r>
                    <m:f>
                      <m:fPr>
                        <m:ctrlPr>
                          <a:rPr lang="en-US" sz="1600" i="1" cap="none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cap="none" dirty="0">
                            <a:latin typeface="Cambria Math"/>
                          </a:rPr>
                          <m:t>𝑐</m:t>
                        </m:r>
                      </m:num>
                      <m:den>
                        <m:r>
                          <a:rPr lang="en-US" sz="1600" i="1" cap="none" dirty="0">
                            <a:latin typeface="Cambria Math"/>
                          </a:rPr>
                          <m:t>𝑣</m:t>
                        </m:r>
                      </m:den>
                    </m:f>
                  </m:oMath>
                </a14:m>
                <a:endParaRPr lang="en-US" sz="1600" cap="none" dirty="0"/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1800" b="1" cap="none" dirty="0"/>
                  <a:t>Two-cable method</a:t>
                </a:r>
              </a:p>
              <a:p>
                <a:pPr marL="342900" indent="-342900">
                  <a:buFont typeface="Arial"/>
                  <a:buChar char="•"/>
                </a:pPr>
                <a:r>
                  <a:rPr lang="en-US" sz="1600" cap="none" dirty="0"/>
                  <a:t>Send a pulse through a short and a long cable; extra time covers the extra length</a:t>
                </a:r>
              </a:p>
              <a:p>
                <a:pPr marL="342900" indent="-342900"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 cap="none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600" i="1" cap="none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i="1" cap="none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 cap="none" dirty="0" err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 i="1" cap="none" baseline="-25000" dirty="0" smtClean="0">
                        <a:latin typeface="Cambria Math" panose="02040503050406030204" pitchFamily="18" charset="0"/>
                      </a:rPr>
                      <m:t>𝑙𝑜𝑛𝑔</m:t>
                    </m:r>
                    <m:r>
                      <a:rPr lang="en-US" sz="1600" i="1" cap="none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 cap="none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 i="1" cap="none" baseline="-25000" dirty="0">
                        <a:latin typeface="Cambria Math" panose="02040503050406030204" pitchFamily="18" charset="0"/>
                      </a:rPr>
                      <m:t>𝑠h𝑜𝑟𝑡</m:t>
                    </m:r>
                    <m:r>
                      <a:rPr lang="en-US" sz="1600" i="1" cap="none" dirty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1600" b="0" i="1" cap="none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600" i="1" cap="none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600" i="1" cap="none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 cap="none" dirty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1200" i="1" cap="none" baseline="-25000" dirty="0">
                        <a:latin typeface="Cambria Math" panose="02040503050406030204" pitchFamily="18" charset="0"/>
                      </a:rPr>
                      <m:t>𝑙𝑜𝑛𝑔</m:t>
                    </m:r>
                    <m:r>
                      <a:rPr lang="en-US" sz="1600" i="1" cap="none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 cap="none" dirty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1200" i="1" cap="none" baseline="-25000" dirty="0">
                        <a:latin typeface="Cambria Math" panose="02040503050406030204" pitchFamily="18" charset="0"/>
                      </a:rPr>
                      <m:t>𝑠h𝑜𝑟𝑡</m:t>
                    </m:r>
                  </m:oMath>
                </a14:m>
              </a:p>
              <a:p>
                <a:pPr marL="342900" indent="-342900">
                  <a:buFont typeface="Arial"/>
                  <a:buChar char="•"/>
                </a:pPr>
                <a:r>
                  <a:rPr lang="en-US" sz="1600" cap="none" dirty="0"/>
                  <a:t>Working equation: </a:t>
                </a:r>
                <a14:m>
                  <m:oMath xmlns:m="http://schemas.openxmlformats.org/officeDocument/2006/math">
                    <m:r>
                      <a:rPr lang="en-US" sz="1600" i="1" cap="none" dirty="0">
                        <a:latin typeface="Cambria Math"/>
                      </a:rPr>
                      <m:t>𝑛</m:t>
                    </m:r>
                    <m:r>
                      <a:rPr lang="en-US" sz="1600" cap="none" dirty="0">
                        <a:latin typeface="Cambria Math"/>
                      </a:rPr>
                      <m:t> = </m:t>
                    </m:r>
                    <m:f>
                      <m:fPr>
                        <m:ctrlPr>
                          <a:rPr lang="en-US" sz="1600" i="1" cap="none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cap="none" dirty="0">
                            <a:latin typeface="Cambria Math"/>
                          </a:rPr>
                          <m:t>𝑐</m:t>
                        </m:r>
                        <m:r>
                          <a:rPr lang="en-US" sz="1600" cap="none" dirty="0">
                            <a:latin typeface="Cambria Math"/>
                          </a:rPr>
                          <m:t> </m:t>
                        </m:r>
                        <m:r>
                          <a:rPr lang="en-US" sz="1600" cap="none" dirty="0">
                            <a:latin typeface="Cambria Math"/>
                          </a:rPr>
                          <m:t>𝛥</m:t>
                        </m:r>
                        <m:r>
                          <a:rPr lang="en-US" sz="1600" i="1" cap="none" dirty="0">
                            <a:latin typeface="Cambria Math"/>
                          </a:rPr>
                          <m:t>𝑡</m:t>
                        </m:r>
                      </m:num>
                      <m:den>
                        <m:r>
                          <a:rPr lang="en-US" sz="1600" cap="none" dirty="0">
                            <a:latin typeface="Cambria Math"/>
                          </a:rPr>
                          <m:t>𝛥</m:t>
                        </m:r>
                        <m:r>
                          <a:rPr lang="en-US" sz="1600" i="1" cap="none" dirty="0">
                            <a:latin typeface="Cambria Math"/>
                          </a:rPr>
                          <m:t>𝑑</m:t>
                        </m:r>
                      </m:den>
                    </m:f>
                  </m:oMath>
                </a14:m>
                <a:endParaRPr lang="en-US" sz="1600" cap="none" dirty="0"/>
              </a:p>
              <a:p>
                <a:pPr marL="342900" indent="-342900">
                  <a:buFont typeface="Arial"/>
                  <a:buChar char="•"/>
                </a:pPr>
                <a:r>
                  <a:rPr lang="en-US" sz="1600" cap="none" dirty="0"/>
                  <a:t>Uncertainty propagation: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cap="none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cap="none" dirty="0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1600" i="1" cap="none" dirty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1600" b="0" i="1" cap="none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n-US" sz="1600" i="1" cap="none" dirty="0">
                            <a:latin typeface="Cambria Math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 cap="none" dirty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i="1" cap="none" dirty="0">
                                    <a:latin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600" i="1" cap="none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 cap="none" dirty="0">
                                        <a:latin typeface="Cambria Math"/>
                                      </a:rPr>
                                      <m:t>𝑐</m:t>
                                    </m:r>
                                  </m:num>
                                  <m:den>
                                    <m:r>
                                      <a:rPr lang="en-US" sz="1600" cap="none" dirty="0">
                                        <a:latin typeface="Cambria Math"/>
                                      </a:rPr>
                                      <m:t>𝛥</m:t>
                                    </m:r>
                                    <m:r>
                                      <a:rPr lang="en-US" sz="1600" i="1" cap="none" dirty="0">
                                        <a:latin typeface="Cambria Math"/>
                                      </a:rPr>
                                      <m:t>𝑑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1600" i="1" cap="none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cap="none" dirty="0">
                                        <a:latin typeface="Cambria Math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600" cap="none" dirty="0">
                                        <a:latin typeface="Cambria Math"/>
                                      </a:rPr>
                                      <m:t>𝛥</m:t>
                                    </m:r>
                                    <m:r>
                                      <a:rPr lang="en-US" sz="1600" i="1" cap="none" dirty="0">
                                        <a:latin typeface="Cambria Math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600" i="1" cap="none" dirty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sz="1600" cap="none" dirty="0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 cap="none" dirty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i="1" cap="none" dirty="0">
                                    <a:latin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600" i="1" cap="none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 cap="none" dirty="0">
                                        <a:latin typeface="Cambria Math"/>
                                      </a:rPr>
                                      <m:t>𝑐</m:t>
                                    </m:r>
                                    <m:r>
                                      <a:rPr lang="en-US" sz="1600" cap="none" dirty="0">
                                        <a:latin typeface="Cambria Math"/>
                                      </a:rPr>
                                      <m:t>𝛥</m:t>
                                    </m:r>
                                    <m:r>
                                      <a:rPr lang="en-US" sz="1600" i="1" cap="none" dirty="0">
                                        <a:latin typeface="Cambria Math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sz="1600" cap="none" dirty="0">
                                        <a:latin typeface="Cambria Math"/>
                                      </a:rPr>
                                      <m:t>𝛥</m:t>
                                    </m:r>
                                    <m:sSup>
                                      <m:sSupPr>
                                        <m:ctrlPr>
                                          <a:rPr lang="en-US" sz="1600" i="1" cap="none" dirty="0"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i="1" cap="none" dirty="0">
                                            <a:latin typeface="Cambria Math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sz="1600" i="1" cap="none" dirty="0"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sSub>
                                  <m:sSubPr>
                                    <m:ctrlPr>
                                      <a:rPr lang="en-US" sz="1600" i="1" cap="none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cap="none" dirty="0">
                                        <a:latin typeface="Cambria Math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600" cap="none" dirty="0">
                                        <a:latin typeface="Cambria Math"/>
                                      </a:rPr>
                                      <m:t>𝛥</m:t>
                                    </m:r>
                                    <m:r>
                                      <a:rPr lang="en-US" sz="1600" i="1" cap="none" dirty="0">
                                        <a:latin typeface="Cambria Math"/>
                                      </a:rPr>
                                      <m:t>𝑑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600" i="1" cap="none" dirty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sz="1600" cap="none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C7BA6C-3F7E-E986-4ED0-9F1EC89A0E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367" t="-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1048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298AF-6C78-1611-B246-D28854C42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and Measurements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01C37F-8219-8648-95C5-B9D9C7F45BFF}"/>
                  </a:ext>
                </a:extLst>
              </p:cNvPr>
              <p:cNvSpPr txBox="1"/>
              <p:nvPr/>
            </p:nvSpPr>
            <p:spPr>
              <a:xfrm>
                <a:off x="508000" y="2286000"/>
                <a:ext cx="11176000" cy="56143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i="1" dirty="0"/>
                  <a:t>Cable lengths: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𝑠h𝑜𝑟𝑡</m:t>
                        </m:r>
                      </m:sub>
                    </m:sSub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=185±1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 i="0" dirty="0" smtClean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sz="1400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𝑙𝑜𝑛𝑔</m:t>
                        </m:r>
                      </m:sub>
                    </m:sSub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=610±1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 i="0" dirty="0" smtClean="0">
                        <a:latin typeface="Cambria Math" panose="02040503050406030204" pitchFamily="18" charset="0"/>
                      </a:rPr>
                      <m:t>cm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l-GR" sz="140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=425 </m:t>
                    </m:r>
                    <m:r>
                      <m:rPr>
                        <m:nor/>
                      </m:rPr>
                      <a:rPr lang="en-US" sz="1400" i="0" dirty="0" smtClean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sz="1400" i="1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l-GR" sz="14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400" i="1" dirty="0" err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l-GR" sz="1400" i="0" dirty="0" err="1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400" i="0" dirty="0" smtClean="0">
                            <a:latin typeface="Cambria Math" panose="02040503050406030204" pitchFamily="18" charset="0"/>
                          </a:rPr>
                          <m:t>cm</m:t>
                        </m:r>
                      </m:e>
                    </m:d>
                  </m:oMath>
                </a14:m>
                <a:r>
                  <a:rPr lang="en-US" sz="1400" i="1" dirty="0"/>
                  <a:t>
Oscilloscope: Cursor uncertainty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4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sz="1400" i="0" dirty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 i="0" dirty="0" smtClean="0">
                        <a:latin typeface="Cambria Math" panose="02040503050406030204" pitchFamily="18" charset="0"/>
                      </a:rPr>
                      <m:t>ns</m:t>
                    </m:r>
                  </m:oMath>
                </a14:m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01C37F-8219-8648-95C5-B9D9C7F45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2286000"/>
                <a:ext cx="11176000" cy="561436"/>
              </a:xfrm>
              <a:prstGeom prst="rect">
                <a:avLst/>
              </a:prstGeom>
              <a:blipFill>
                <a:blip r:embed="rId2"/>
                <a:stretch>
                  <a:fillRect l="-113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E9B1614-7ACD-9F48-B8E5-2686C89011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8317967"/>
                  </p:ext>
                </p:extLst>
              </p:nvPr>
            </p:nvGraphicFramePr>
            <p:xfrm>
              <a:off x="1778000" y="3048000"/>
              <a:ext cx="8636000" cy="33019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59000">
                      <a:extLst>
                        <a:ext uri="{9D8B030D-6E8A-4147-A177-3AD203B41FA5}">
                          <a16:colId xmlns:a16="http://schemas.microsoft.com/office/drawing/2014/main" val="4112628686"/>
                        </a:ext>
                      </a:extLst>
                    </a:gridCol>
                    <a:gridCol w="2159000">
                      <a:extLst>
                        <a:ext uri="{9D8B030D-6E8A-4147-A177-3AD203B41FA5}">
                          <a16:colId xmlns:a16="http://schemas.microsoft.com/office/drawing/2014/main" val="132488948"/>
                        </a:ext>
                      </a:extLst>
                    </a:gridCol>
                    <a:gridCol w="2159000">
                      <a:extLst>
                        <a:ext uri="{9D8B030D-6E8A-4147-A177-3AD203B41FA5}">
                          <a16:colId xmlns:a16="http://schemas.microsoft.com/office/drawing/2014/main" val="1643292137"/>
                        </a:ext>
                      </a:extLst>
                    </a:gridCol>
                    <a:gridCol w="2159000">
                      <a:extLst>
                        <a:ext uri="{9D8B030D-6E8A-4147-A177-3AD203B41FA5}">
                          <a16:colId xmlns:a16="http://schemas.microsoft.com/office/drawing/2014/main" val="632454700"/>
                        </a:ext>
                      </a:extLst>
                    </a:gridCol>
                  </a:tblGrid>
                  <a:tr h="5503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>
                              <a:solidFill>
                                <a:srgbClr val="FFFFFF"/>
                              </a:solidFill>
                            </a:rPr>
                            <a:t>Frequency</a:t>
                          </a:r>
                        </a:p>
                      </a:txBody>
                      <a:tcPr anchor="ctr">
                        <a:solidFill>
                          <a:srgbClr val="1F4E7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0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𝚫</m:t>
                                </m:r>
                                <m:r>
                                  <a:rPr lang="en-US" sz="1600" b="1" i="1" dirty="0" err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1600" b="1" i="1" dirty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sz="1600" b="1" i="1" dirty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𝒏𝒔</m:t>
                                </m:r>
                                <m:r>
                                  <a:rPr lang="en-US" sz="1600" b="1" i="1" dirty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solidFill>
                          <a:srgbClr val="1F4E7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solidFill>
                                <a:srgbClr val="FFFFFF"/>
                              </a:solidFill>
                            </a:rPr>
                            <a:t>n</a:t>
                          </a:r>
                        </a:p>
                      </a:txBody>
                      <a:tcPr anchor="ctr">
                        <a:solidFill>
                          <a:srgbClr val="1F4E7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>
                              <a:solidFill>
                                <a:srgbClr val="FFFFFF"/>
                              </a:solidFill>
                            </a:rPr>
                            <a:t>95% CI</a:t>
                          </a:r>
                        </a:p>
                      </a:txBody>
                      <a:tcPr anchor="ctr">
                        <a:solidFill>
                          <a:srgbClr val="1F4E7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2796760"/>
                      </a:ext>
                    </a:extLst>
                  </a:tr>
                  <a:tr h="5503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10 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22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1.552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± 0.139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95912138"/>
                      </a:ext>
                    </a:extLst>
                  </a:tr>
                  <a:tr h="5503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1 kHz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21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1.481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± 0.139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1905742"/>
                      </a:ext>
                    </a:extLst>
                  </a:tr>
                  <a:tr h="5503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100 kHz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22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1.552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± 0.139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2529043"/>
                      </a:ext>
                    </a:extLst>
                  </a:tr>
                  <a:tr h="5503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1 MHz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23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1.622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± 0.139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7403912"/>
                      </a:ext>
                    </a:extLst>
                  </a:tr>
                  <a:tr h="5503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10 MHz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1.763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± 0.139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792421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E9B1614-7ACD-9F48-B8E5-2686C89011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8317967"/>
                  </p:ext>
                </p:extLst>
              </p:nvPr>
            </p:nvGraphicFramePr>
            <p:xfrm>
              <a:off x="1778000" y="3048000"/>
              <a:ext cx="8636000" cy="33019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59000">
                      <a:extLst>
                        <a:ext uri="{9D8B030D-6E8A-4147-A177-3AD203B41FA5}">
                          <a16:colId xmlns:a16="http://schemas.microsoft.com/office/drawing/2014/main" val="4112628686"/>
                        </a:ext>
                      </a:extLst>
                    </a:gridCol>
                    <a:gridCol w="2159000">
                      <a:extLst>
                        <a:ext uri="{9D8B030D-6E8A-4147-A177-3AD203B41FA5}">
                          <a16:colId xmlns:a16="http://schemas.microsoft.com/office/drawing/2014/main" val="132488948"/>
                        </a:ext>
                      </a:extLst>
                    </a:gridCol>
                    <a:gridCol w="2159000">
                      <a:extLst>
                        <a:ext uri="{9D8B030D-6E8A-4147-A177-3AD203B41FA5}">
                          <a16:colId xmlns:a16="http://schemas.microsoft.com/office/drawing/2014/main" val="1643292137"/>
                        </a:ext>
                      </a:extLst>
                    </a:gridCol>
                    <a:gridCol w="2159000">
                      <a:extLst>
                        <a:ext uri="{9D8B030D-6E8A-4147-A177-3AD203B41FA5}">
                          <a16:colId xmlns:a16="http://schemas.microsoft.com/office/drawing/2014/main" val="632454700"/>
                        </a:ext>
                      </a:extLst>
                    </a:gridCol>
                  </a:tblGrid>
                  <a:tr h="5503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>
                              <a:solidFill>
                                <a:srgbClr val="FFFFFF"/>
                              </a:solidFill>
                            </a:rPr>
                            <a:t>Frequency</a:t>
                          </a:r>
                        </a:p>
                      </a:txBody>
                      <a:tcPr anchor="ctr">
                        <a:solidFill>
                          <a:srgbClr val="1F4E7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588" t="-2326" r="-201765" b="-509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solidFill>
                                <a:srgbClr val="FFFFFF"/>
                              </a:solidFill>
                            </a:rPr>
                            <a:t>n</a:t>
                          </a:r>
                        </a:p>
                      </a:txBody>
                      <a:tcPr anchor="ctr">
                        <a:solidFill>
                          <a:srgbClr val="1F4E7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>
                              <a:solidFill>
                                <a:srgbClr val="FFFFFF"/>
                              </a:solidFill>
                            </a:rPr>
                            <a:t>95% CI</a:t>
                          </a:r>
                        </a:p>
                      </a:txBody>
                      <a:tcPr anchor="ctr">
                        <a:solidFill>
                          <a:srgbClr val="1F4E7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2796760"/>
                      </a:ext>
                    </a:extLst>
                  </a:tr>
                  <a:tr h="5503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10 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22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1.552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± 0.139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95912138"/>
                      </a:ext>
                    </a:extLst>
                  </a:tr>
                  <a:tr h="5503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1 kHz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21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1.481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± 0.139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1905742"/>
                      </a:ext>
                    </a:extLst>
                  </a:tr>
                  <a:tr h="5503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100 kHz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22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1.552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± 0.139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2529043"/>
                      </a:ext>
                    </a:extLst>
                  </a:tr>
                  <a:tr h="5503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1 MHz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23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1.622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± 0.139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7403912"/>
                      </a:ext>
                    </a:extLst>
                  </a:tr>
                  <a:tr h="5503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10 MHz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/>
                            <a:t>1.763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± 0.139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792421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A8B3A7-656B-4D42-82E4-36E3DA7A89A9}"/>
                  </a:ext>
                </a:extLst>
              </p:cNvPr>
              <p:cNvSpPr txBox="1"/>
              <p:nvPr/>
            </p:nvSpPr>
            <p:spPr>
              <a:xfrm>
                <a:off x="508000" y="6451600"/>
                <a:ext cx="11176000" cy="30777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i="1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4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400" i="1" dirty="0"/>
                  <a:t> is dominated by the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±1</m:t>
                    </m:r>
                  </m:oMath>
                </a14:m>
                <a:r>
                  <a:rPr lang="en-US" sz="1400" i="1" dirty="0"/>
                  <a:t> 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40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400" i="1" dirty="0"/>
                  <a:t> read uncertainty (&gt;99% of variance).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4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sz="1400" i="0" dirty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1400" i="1" dirty="0"/>
                  <a:t> contribution is negligible at this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40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400" i="1" dirty="0"/>
                  <a:t>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A8B3A7-656B-4D42-82E4-36E3DA7A8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6451600"/>
                <a:ext cx="11176000" cy="307777"/>
              </a:xfrm>
              <a:prstGeom prst="rect">
                <a:avLst/>
              </a:prstGeom>
              <a:blipFill>
                <a:blip r:embed="rId4"/>
                <a:stretch>
                  <a:fillRect l="-113" t="-3846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7757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FA904-7309-1E70-684C-0F1743007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65E2D7E-B7BD-404F-9F71-D6620D37B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0D21FCB-56CB-4EFA-A79A-A9A8EC0F7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1027BD9-272C-4CC4-9396-1708F8B1F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5EEE3A-38B0-8D40-2CF4-9BD4F20124B0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/>
          <a:stretch>
            <a:fillRect/>
          </a:stretch>
        </p:blipFill>
        <p:spPr>
          <a:xfrm>
            <a:off x="4798473" y="1155700"/>
            <a:ext cx="7053225" cy="4267200"/>
          </a:xfrm>
          <a:prstGeom prst="roundRect">
            <a:avLst>
              <a:gd name="adj" fmla="val 2392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9BCEBF-3A33-963E-DACC-B9B03CC06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3893976" cy="159617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200" dirty="0"/>
              <a:t>Results: Per-Frequency Measurements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7E5C40-6CBB-E4B1-99B9-F3D86B78972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3774" y="2367092"/>
                <a:ext cx="3893978" cy="3424107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228600" indent="-228600">
                  <a:spcBef>
                    <a:spcPts val="300"/>
                  </a:spcBef>
                  <a:buFont typeface="Arial"/>
                  <a:buChar char="•"/>
                </a:pPr>
                <a:r>
                  <a:rPr lang="en-US" sz="1200" cap="none" dirty="0"/>
                  <a:t>Each measurement modeled as </a:t>
                </a:r>
                <a14:m>
                  <m:oMath xmlns:m="http://schemas.openxmlformats.org/officeDocument/2006/math">
                    <m:r>
                      <a:rPr lang="en-US" sz="1200" i="1" cap="none" dirty="0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1200" i="1" cap="none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cap="none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200" i="1" cap="none" dirty="0" smtClean="0">
                            <a:latin typeface="Cambria Math" panose="02040503050406030204" pitchFamily="18" charset="0"/>
                          </a:rPr>
                          <m:t>ᵢ,</m:t>
                        </m:r>
                        <m:r>
                          <a:rPr lang="en-US" sz="1200" i="1" cap="none" dirty="0" smtClean="0">
                            <a:latin typeface="Cambria Math" panose="02040503050406030204" pitchFamily="18" charset="0"/>
                          </a:rPr>
                          <m:t>𝜎</m:t>
                        </m:r>
                        <m:sSup>
                          <m:sSupPr>
                            <m:ctrlPr>
                              <a:rPr lang="en-US" sz="1200" i="1" cap="none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 cap="none" dirty="0" smtClean="0">
                                <a:latin typeface="Cambria Math" panose="02040503050406030204" pitchFamily="18" charset="0"/>
                              </a:rPr>
                              <m:t>ᵢ</m:t>
                            </m:r>
                          </m:e>
                          <m:sup>
                            <m:r>
                              <a:rPr lang="en-US" sz="1200" i="1" cap="none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cap="none" dirty="0"/>
                  <a:t>: a gaussian centered on </a:t>
                </a:r>
                <a14:m>
                  <m:oMath xmlns:m="http://schemas.openxmlformats.org/officeDocument/2006/math">
                    <m:r>
                      <a:rPr lang="en-US" sz="1200" i="1" cap="none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200" i="1" cap="none" dirty="0" smtClean="0">
                        <a:latin typeface="Cambria Math" panose="02040503050406030204" pitchFamily="18" charset="0"/>
                      </a:rPr>
                      <m:t>ᵢ</m:t>
                    </m:r>
                  </m:oMath>
                </a14:m>
                <a:r>
                  <a:rPr lang="en-US" sz="1200" cap="none" dirty="0"/>
                  <a:t> with width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cap="none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cap="none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200" i="1" cap="none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200" cap="none" dirty="0"/>
              </a:p>
              <a:p>
                <a:pPr marL="228600" indent="-228600">
                  <a:buFont typeface="Arial"/>
                  <a:buChar char="•"/>
                </a:pPr>
                <a:r>
                  <a:rPr lang="en-US" sz="1200" cap="none" dirty="0"/>
                  <a:t>Shaded band is the </a:t>
                </a:r>
                <a14:m>
                  <m:oMath xmlns:m="http://schemas.openxmlformats.org/officeDocument/2006/math">
                    <m:r>
                      <a:rPr lang="en-US" sz="1200" i="1" cap="none" dirty="0" smtClean="0">
                        <a:latin typeface="Cambria Math" panose="02040503050406030204" pitchFamily="18" charset="0"/>
                      </a:rPr>
                      <m:t>±1.96</m:t>
                    </m:r>
                    <m:r>
                      <a:rPr lang="en-US" sz="1200" b="0" i="1" cap="none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cap="none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200" cap="none" dirty="0"/>
                  <a:t> interval — 95% probability the true n lies inside it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200" cap="none" dirty="0"/>
                  <a:t>All five </a:t>
                </a:r>
                <a14:m>
                  <m:oMath xmlns:m="http://schemas.openxmlformats.org/officeDocument/2006/math">
                    <m:r>
                      <a:rPr lang="en-US" sz="1200" i="1" cap="none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200" cap="none" dirty="0"/>
                  <a:t> are nearly identical, so the curves have the same width and only shift horizontally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200" cap="none" dirty="0"/>
                  <a:t>Only 4 curves visible: 10 </a:t>
                </a:r>
                <a:r>
                  <a:rPr lang="en-US" sz="1200" cap="none" dirty="0" err="1"/>
                  <a:t>hz</a:t>
                </a:r>
                <a:r>
                  <a:rPr lang="en-US" sz="1200" cap="none" dirty="0"/>
                  <a:t> and 100 </a:t>
                </a:r>
                <a:r>
                  <a:rPr lang="en-US" sz="1200" cap="none" dirty="0" err="1"/>
                  <a:t>khz</a:t>
                </a:r>
                <a:r>
                  <a:rPr lang="en-US" sz="1200" cap="none" dirty="0"/>
                  <a:t> both have </a:t>
                </a:r>
                <a14:m>
                  <m:oMath xmlns:m="http://schemas.openxmlformats.org/officeDocument/2006/math">
                    <m:r>
                      <a:rPr lang="en-US" sz="1200" i="1" cap="none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1200" i="1" cap="none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 i="1" cap="none" dirty="0" smtClean="0">
                        <a:latin typeface="Cambria Math" panose="02040503050406030204" pitchFamily="18" charset="0"/>
                      </a:rPr>
                      <m:t>=22 </m:t>
                    </m:r>
                    <m:r>
                      <a:rPr lang="en-US" sz="1200" i="1" cap="none" dirty="0" smtClean="0">
                        <a:latin typeface="Cambria Math" panose="02040503050406030204" pitchFamily="18" charset="0"/>
                      </a:rPr>
                      <m:t>𝑛𝑠</m:t>
                    </m:r>
                  </m:oMath>
                </a14:m>
                <a:r>
                  <a:rPr lang="en-US" sz="1200" cap="none" dirty="0"/>
                  <a:t>, so their pdfs coincide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7E5C40-6CBB-E4B1-99B9-F3D86B7897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3774" y="2367092"/>
                <a:ext cx="3893978" cy="3424107"/>
              </a:xfr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7829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FA904-7309-1E70-684C-0F1743007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65E2D7E-B7BD-404F-9F71-D6620D37B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0D21FCB-56CB-4EFA-A79A-A9A8EC0F7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1027BD9-272C-4CC4-9396-1708F8B1F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5EEE3A-38B0-8D40-2CF4-9BD4F20124B0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/>
          <a:stretch>
            <a:fillRect/>
          </a:stretch>
        </p:blipFill>
        <p:spPr>
          <a:xfrm>
            <a:off x="4798473" y="1155700"/>
            <a:ext cx="7053225" cy="4267200"/>
          </a:xfrm>
          <a:prstGeom prst="roundRect">
            <a:avLst>
              <a:gd name="adj" fmla="val 2392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9BCEBF-3A33-963E-DACC-B9B03CC06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3893976" cy="159617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200" dirty="0"/>
              <a:t>Results: Interpretation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7E5C40-6CBB-E4B1-99B9-F3D86B78972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3774" y="2367092"/>
                <a:ext cx="3893978" cy="4003891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228600" indent="-228600">
                  <a:spcBef>
                    <a:spcPts val="300"/>
                  </a:spcBef>
                  <a:buFont typeface="Arial"/>
                  <a:buChar char="•"/>
                </a:pPr>
                <a:r>
                  <a:rPr lang="en-US" sz="1200" cap="none" dirty="0"/>
                  <a:t>Heavy overlap shows measurements are statistically consistent with each other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200" cap="none" dirty="0"/>
                  <a:t>Dashed line at n = 1.5 (polyethylene) lies inside the 95% band for 10 Hz, 1 kHz, 100 kHz, and 1 MHz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200" cap="none" dirty="0"/>
                  <a:t>10 MHz is the outlier</a:t>
                </a:r>
                <a14:m>
                  <m:oMath xmlns:m="http://schemas.openxmlformats.org/officeDocument/2006/math">
                    <m:r>
                      <a:rPr lang="en-US" sz="1200" i="1" cap="none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1200" i="1" cap="none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200" i="1" cap="none" dirty="0" smtClean="0">
                        <a:latin typeface="Cambria Math" panose="02040503050406030204" pitchFamily="18" charset="0"/>
                      </a:rPr>
                      <m:t> = 1.76 ± 0.07 </m:t>
                    </m:r>
                    <m:r>
                      <a:rPr lang="en-US" sz="1200" b="0" i="0" cap="none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1200" cap="none" dirty="0"/>
                  <a:t> PE line is </a:t>
                </a:r>
                <a14:m>
                  <m:oMath xmlns:m="http://schemas.openxmlformats.org/officeDocument/2006/math">
                    <m:r>
                      <a:rPr lang="en-US" sz="1200" i="1" cap="none" dirty="0" smtClean="0">
                        <a:latin typeface="Cambria Math" panose="02040503050406030204" pitchFamily="18" charset="0"/>
                      </a:rPr>
                      <m:t>3.7</m:t>
                    </m:r>
                    <m:r>
                      <a:rPr lang="en-US" sz="1200" i="1" cap="none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200" cap="none" dirty="0"/>
                  <a:t> away, outside the 95% band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200" cap="none" dirty="0"/>
                  <a:t>Centers drift right with frequency (1.55 → 1.76); at low frequencies the drift is inside the band, but at 10 MHz it is not</a:t>
                </a:r>
              </a:p>
              <a:p>
                <a:pPr marL="0" indent="0">
                  <a:spcBef>
                    <a:spcPts val="500"/>
                  </a:spcBef>
                  <a:buNone/>
                </a:pPr>
                <a:endParaRPr lang="en-US" sz="1200" b="1" cap="none" dirty="0"/>
              </a:p>
              <a:p>
                <a:pPr marL="228600" indent="-228600">
                  <a:spcBef>
                    <a:spcPts val="300"/>
                  </a:spcBef>
                  <a:buFont typeface="Arial"/>
                  <a:buChar char="•"/>
                </a:pPr>
                <a:r>
                  <a:rPr lang="en-US" sz="1200" cap="none" dirty="0"/>
                  <a:t>Curve width is set by the ±1 ns cursor uncertainty, not by the dielectric itself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200" cap="none" dirty="0"/>
                  <a:t>Narrower PDFs would require a longer cable or finer cursor placement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7E5C40-6CBB-E4B1-99B9-F3D86B7897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3774" y="2367092"/>
                <a:ext cx="3893978" cy="4003891"/>
              </a:xfrm>
              <a:blipFill>
                <a:blip r:embed="rId5"/>
                <a:stretch>
                  <a:fillRect r="-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7903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5E2D7E-B7BD-404F-9F71-D6620D37B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0D21FCB-56CB-4EFA-A79A-A9A8EC0F7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1027BD9-272C-4CC4-9396-1708F8B1F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2D69CA3-89E3-80AB-687C-7BB57BC3A3A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4"/>
          <a:stretch>
            <a:fillRect/>
          </a:stretch>
        </p:blipFill>
        <p:spPr>
          <a:xfrm>
            <a:off x="5078061" y="1394602"/>
            <a:ext cx="6200163" cy="3611594"/>
          </a:xfrm>
          <a:prstGeom prst="roundRect">
            <a:avLst>
              <a:gd name="adj" fmla="val 2392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F93C02-38FC-FB5F-8E7B-EE2863CA4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3893976" cy="159617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200" cap="none" dirty="0"/>
              <a:t>Results: n vs frequency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1DA98D2-8272-C99E-73AB-AC7A0FA22170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913774" y="2367092"/>
                <a:ext cx="3893978" cy="3424107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1500" cap="none" dirty="0"/>
                  <a:t>N vs. Frequency</a:t>
                </a:r>
              </a:p>
              <a:p>
                <a:pPr marL="342900">
                  <a:lnSpc>
                    <a:spcPct val="110000"/>
                  </a:lnSpc>
                  <a:spcBef>
                    <a:spcPts val="400"/>
                  </a:spcBef>
                </a:pPr>
                <a:r>
                  <a:rPr lang="en-US" sz="1500" cap="none" dirty="0"/>
                  <a:t>Flat from 10 hz to 100 khz (</a:t>
                </a:r>
                <a14:m>
                  <m:oMath xmlns:m="http://schemas.openxmlformats.org/officeDocument/2006/math"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 ≈1.48 –1.55</m:t>
                    </m:r>
                  </m:oMath>
                </a14:m>
                <a:r>
                  <a:rPr lang="en-US" sz="1500" cap="none" dirty="0"/>
                  <a:t>)</a:t>
                </a:r>
              </a:p>
              <a:p>
                <a:pPr marL="342900">
                  <a:lnSpc>
                    <a:spcPct val="110000"/>
                  </a:lnSpc>
                </a:pPr>
                <a:r>
                  <a:rPr lang="en-US" sz="1500" cap="none" dirty="0"/>
                  <a:t>Rises at 1 mhz (1.62) and 10 mhz (1.76)</a:t>
                </a:r>
              </a:p>
              <a:p>
                <a:pPr marL="342900">
                  <a:lnSpc>
                    <a:spcPct val="110000"/>
                  </a:lnSpc>
                </a:pPr>
                <a:r>
                  <a:rPr lang="en-US" sz="1500" cap="none" dirty="0"/>
                  <a:t>Drift is at the edge of the ±1 ns resolution floor, marginal significance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1DA98D2-8272-C99E-73AB-AC7A0FA221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913774" y="2367092"/>
                <a:ext cx="3893978" cy="3424107"/>
              </a:xfrm>
              <a:blipFill>
                <a:blip r:embed="rId5"/>
                <a:stretch>
                  <a:fillRect l="-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7320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68D33-9389-2499-9D54-8150C8F8E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947393"/>
          </a:xfrm>
        </p:spPr>
        <p:txBody>
          <a:bodyPr/>
          <a:lstStyle/>
          <a:p>
            <a:r>
              <a:rPr lang="en-US" dirty="0"/>
              <a:t>Weighted Mean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9CFCE8-1423-5E30-A4DF-89F24CC6F1C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3774" y="2023110"/>
                <a:ext cx="10363826" cy="433197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1600" cap="none" dirty="0"/>
                  <a:t>A weighted mean combines several measurements of the same quantity into one best estimate, giving more influence to points with smaller uncertainty. Each point is weighted by </a:t>
                </a:r>
                <a14:m>
                  <m:oMath xmlns:m="http://schemas.openxmlformats.org/officeDocument/2006/math">
                    <m:r>
                      <a:rPr lang="en-US" sz="1600" i="1" cap="none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lit/>
                      </m:rPr>
                      <a:rPr lang="en-US" sz="1600" i="1" cap="none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1600" i="1" cap="none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cap="none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600" i="1" cap="none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cap="none" dirty="0"/>
                  <a:t>, so a precise measurement (small </a:t>
                </a:r>
                <a14:m>
                  <m:oMath xmlns:m="http://schemas.openxmlformats.org/officeDocument/2006/math">
                    <m:r>
                      <a:rPr lang="en-US" sz="1600" i="1" cap="none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600" cap="none" dirty="0"/>
                  <a:t>) counts more than a noisy one. When every point has the same </a:t>
                </a:r>
                <a14:m>
                  <m:oMath xmlns:m="http://schemas.openxmlformats.org/officeDocument/2006/math">
                    <m:r>
                      <a:rPr lang="en-US" sz="1600" i="1" cap="none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600" cap="none" dirty="0"/>
                  <a:t>, it reduces to the ordinary average.</a:t>
                </a:r>
              </a:p>
              <a:p>
                <a:pPr marL="0" indent="0">
                  <a:spcBef>
                    <a:spcPts val="500"/>
                  </a:spcBef>
                  <a:buNone/>
                </a:pPr>
                <a:endParaRPr lang="en-US" sz="1600" cap="none" dirty="0"/>
              </a:p>
              <a:p>
                <a:pPr marL="0" indent="0">
                  <a:spcBef>
                    <a:spcPts val="500"/>
                  </a:spcBef>
                  <a:buNone/>
                </a:pPr>
                <a:r>
                  <a:rPr lang="en-US" sz="1600" cap="none" dirty="0"/>
                  <a:t>Formula: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</m:e>
                        </m:nary>
                        <m:sSubSup>
                          <m:sSubSupPr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lit/>
                              </m:r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Sup>
                              <m:sSubSupPr>
                                <m:ctrlP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den>
                    </m:f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  </m:t>
                    </m:r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sub>
                    </m:sSub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lit/>
                                  </m:rP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Sup>
                                  <m:sSubSupPr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rad>
                      </m:den>
                    </m:f>
                  </m:oMath>
                </a14:m>
              </a:p>
              <a:p>
                <a:pPr marL="0" indent="0">
                  <a:spcBef>
                    <a:spcPts val="500"/>
                  </a:spcBef>
                  <a:buNone/>
                </a:pPr>
                <a:r>
                  <a:rPr lang="en-US" sz="1600" cap="none" dirty="0"/>
                  <a:t>Applied to this experiment:</a:t>
                </a:r>
              </a:p>
              <a:p>
                <a:pPr marL="342900" indent="-342900">
                  <a:buFont typeface="Arial"/>
                  <a:buChar char="•"/>
                </a:pPr>
                <a:r>
                  <a:rPr lang="en-US" sz="1500" cap="none" dirty="0"/>
                  <a:t>Five per-frequency measurements: </a:t>
                </a:r>
                <a14:m>
                  <m:oMath xmlns:m="http://schemas.openxmlformats.org/officeDocument/2006/math"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ᵢ = 1.552, 1.481, 1.552, 1.622, 1.763</m:t>
                    </m:r>
                  </m:oMath>
                </a14:m>
                <a:r>
                  <a:rPr lang="en-US" sz="1500" cap="none" dirty="0"/>
                  <a:t>, each with </a:t>
                </a:r>
                <a14:m>
                  <m:oMath xmlns:m="http://schemas.openxmlformats.org/officeDocument/2006/math"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 ≈ 0.0707</m:t>
                    </m:r>
                  </m:oMath>
                </a14:m>
                <a:endParaRPr lang="en-US" sz="1500" cap="none" dirty="0"/>
              </a:p>
              <a:p>
                <a:pPr marL="342900" indent="-342900">
                  <a:buFont typeface="Arial"/>
                  <a:buChar char="•"/>
                </a:pPr>
                <a:r>
                  <a:rPr lang="en-US" sz="1500" cap="none" dirty="0"/>
                  <a:t>Statistical </a:t>
                </a:r>
                <a14:m>
                  <m:oMath xmlns:m="http://schemas.openxmlformats.org/officeDocument/2006/math"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500" cap="none" dirty="0"/>
                  <a:t> (independent </a:t>
                </a:r>
                <a14:m>
                  <m:oMath xmlns:m="http://schemas.openxmlformats.org/officeDocument/2006/math"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500" cap="none" dirty="0"/>
                  <a:t>part) shrinks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500" i="1" cap="none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500" i="1" cap="none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500" b="0" i="1" cap="none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0.0707</m:t>
                    </m:r>
                    <m:r>
                      <a:rPr lang="en-US" sz="1500" b="0" i="1" cap="none" dirty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US" sz="1500" i="1" cap="none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500" i="1" cap="none" dirty="0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=0.032</m:t>
                    </m:r>
                  </m:oMath>
                </a14:m>
                <a:endParaRPr lang="en-US" sz="1500" cap="none" dirty="0"/>
              </a:p>
              <a:p>
                <a:pPr marL="342900" indent="-342900">
                  <a:buFont typeface="Arial"/>
                  <a:buChar char="•"/>
                </a:pPr>
                <a:r>
                  <a:rPr lang="en-US" sz="1500" cap="none" dirty="0"/>
                  <a:t>Systematic </a:t>
                </a:r>
                <a14:m>
                  <m:oMath xmlns:m="http://schemas.openxmlformats.org/officeDocument/2006/math"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500" cap="none" dirty="0"/>
                  <a:t> (shared </a:t>
                </a:r>
                <a14:m>
                  <m:oMath xmlns:m="http://schemas.openxmlformats.org/officeDocument/2006/math"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500" cap="none" dirty="0"/>
                  <a:t> part) does not shrink: 0.005</a:t>
                </a:r>
              </a:p>
              <a:p>
                <a:pPr marL="342900" indent="-342900">
                  <a:buFont typeface="Arial"/>
                  <a:buChar char="•"/>
                </a:pPr>
                <a:r>
                  <a:rPr lang="en-US" sz="1500" cap="none" dirty="0"/>
                  <a:t>Result:</a:t>
                </a:r>
                <a:r>
                  <a:rPr lang="en-US" sz="1500" b="1" cap="none" dirty="0"/>
                  <a:t> </a:t>
                </a:r>
                <a14:m>
                  <m:oMath xmlns:m="http://schemas.openxmlformats.org/officeDocument/2006/math"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 ̄ = 1.594 ± 0.032</m:t>
                    </m:r>
                  </m:oMath>
                </a14:m>
                <a:r>
                  <a:rPr lang="en-US" sz="1500" cap="none" dirty="0"/>
                  <a:t> </a:t>
                </a:r>
                <a14:m>
                  <m:oMath xmlns:m="http://schemas.openxmlformats.org/officeDocument/2006/math"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(1</m:t>
                    </m:r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) = 1.594±0.063 (95% </m:t>
                    </m:r>
                    <m:r>
                      <m:rPr>
                        <m:sty m:val="p"/>
                      </m:rPr>
                      <a:rPr lang="en-US" sz="1500" i="0" cap="none" dirty="0" smtClean="0">
                        <a:latin typeface="Cambria Math" panose="02040503050406030204" pitchFamily="18" charset="0"/>
                      </a:rPr>
                      <m:t>ci</m:t>
                    </m:r>
                    <m:r>
                      <a:rPr lang="en-US" sz="1500" i="1" cap="none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500" cap="none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9CFCE8-1423-5E30-A4DF-89F24CC6F1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3774" y="2023110"/>
                <a:ext cx="10363826" cy="4331970"/>
              </a:xfrm>
              <a:blipFill>
                <a:blip r:embed="rId2"/>
                <a:stretch>
                  <a:fillRect l="-367" t="-292" r="-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1980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52BE31-7F72-D13F-CBA3-AACEF3ACDABD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4087" y="1145550"/>
                <a:ext cx="10325999" cy="510050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600" cap="none" dirty="0"/>
                  <a:t>Key findings</a:t>
                </a:r>
              </a:p>
              <a:p>
                <a:pPr marL="342900" indent="-342900">
                  <a:lnSpc>
                    <a:spcPct val="100000"/>
                  </a:lnSpc>
                  <a:buFont typeface="Arial"/>
                  <a:buChar char="•"/>
                </a:pPr>
                <a:r>
                  <a:rPr lang="en-US" sz="1600" cap="none" dirty="0"/>
                  <a:t>Measured refractive index of RG-58 polyethylene dielectric: </a:t>
                </a:r>
                <a14:m>
                  <m:oMath xmlns:m="http://schemas.openxmlformats.org/officeDocument/2006/math">
                    <m:r>
                      <a:rPr lang="en-US" sz="1600" b="0" i="1" cap="none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cap="none" dirty="0" smtClean="0">
                        <a:latin typeface="Cambria Math" panose="02040503050406030204" pitchFamily="18" charset="0"/>
                      </a:rPr>
                      <m:t>=1.594±0.032</m:t>
                    </m:r>
                  </m:oMath>
                </a14:m>
                <a:endParaRPr lang="en-US" sz="1600" cap="none" dirty="0"/>
              </a:p>
              <a:p>
                <a:pPr marL="342900" indent="-342900">
                  <a:lnSpc>
                    <a:spcPct val="100000"/>
                  </a:lnSpc>
                  <a:buFont typeface="Arial"/>
                  <a:buChar char="•"/>
                </a:pPr>
                <a:r>
                  <a:rPr lang="en-US" sz="1600" cap="none" dirty="0"/>
                  <a:t>Majority of per-frequency 95% CI brackets the literature value </a:t>
                </a:r>
                <a14:m>
                  <m:oMath xmlns:m="http://schemas.openxmlformats.org/officeDocument/2006/math">
                    <m:r>
                      <a:rPr lang="en-US" sz="1600" i="1" cap="none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i="1" cap="none" dirty="0" smtClean="0">
                        <a:latin typeface="Cambria Math" panose="02040503050406030204" pitchFamily="18" charset="0"/>
                      </a:rPr>
                      <m:t> ≈ 1.5</m:t>
                    </m:r>
                  </m:oMath>
                </a14:m>
                <a:r>
                  <a:rPr lang="en-US" sz="1600" cap="none" dirty="0"/>
                  <a:t>; the weighted mean sits 2.9σ high, consistent with a small systematic bias (</a:t>
                </a:r>
                <a:r>
                  <a:rPr lang="en-US" sz="1600" cap="none" dirty="0" err="1"/>
                  <a:t>e.G.</a:t>
                </a:r>
                <a:r>
                  <a:rPr lang="en-US" sz="1600" cap="none" dirty="0"/>
                  <a:t> Cursor placement, connector delays not subtracted)</a:t>
                </a:r>
              </a:p>
              <a:p>
                <a:pPr marL="342900" indent="-342900">
                  <a:lnSpc>
                    <a:spcPct val="100000"/>
                  </a:lnSpc>
                  <a:buFont typeface="Arial"/>
                  <a:buChar char="•"/>
                </a:pPr>
                <a:r>
                  <a:rPr lang="en-US" sz="1600" cap="none" dirty="0"/>
                  <a:t>Implied velocity factor: </a:t>
                </a:r>
                <a14:m>
                  <m:oMath xmlns:m="http://schemas.openxmlformats.org/officeDocument/2006/math">
                    <m:r>
                      <a:rPr lang="en-US" sz="1600" i="1" cap="none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600" i="1" cap="none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i="1" cap="none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600" i="1" cap="none" dirty="0" smtClean="0">
                        <a:latin typeface="Cambria Math" panose="02040503050406030204" pitchFamily="18" charset="0"/>
                      </a:rPr>
                      <m:t> = 1/</m:t>
                    </m:r>
                    <m:r>
                      <a:rPr lang="en-US" sz="1600" i="1" cap="none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i="1" cap="none" dirty="0" smtClean="0">
                        <a:latin typeface="Cambria Math" panose="02040503050406030204" pitchFamily="18" charset="0"/>
                      </a:rPr>
                      <m:t> ≈ 0.63 </m:t>
                    </m:r>
                  </m:oMath>
                </a14:m>
                <a:r>
                  <a:rPr lang="en-US" sz="1600" cap="none" dirty="0"/>
                  <a:t>(RG-58 spec ≈ 0.66)</a:t>
                </a:r>
              </a:p>
              <a:p>
                <a:pPr marL="342900" indent="-342900">
                  <a:lnSpc>
                    <a:spcPct val="100000"/>
                  </a:lnSpc>
                  <a:buFont typeface="Arial"/>
                  <a:buChar char="•"/>
                </a:pPr>
                <a:r>
                  <a:rPr lang="en-US" sz="1600" cap="none" dirty="0"/>
                  <a:t>Evidence for frequency dispersion: the 10 MHz point (n = 1.76 ± 0.07) sits 3.7σ above the polyethylene literature value, outside its own 95% CI — it is not a noise fluctuation</a:t>
                </a:r>
              </a:p>
              <a:p>
                <a:pPr marL="342900" indent="-342900">
                  <a:lnSpc>
                    <a:spcPct val="100000"/>
                  </a:lnSpc>
                  <a:buFont typeface="Arial"/>
                  <a:buChar char="•"/>
                </a:pPr>
                <a:r>
                  <a:rPr lang="en-US" sz="1600" cap="none" dirty="0"/>
                  <a:t>Physically plausible: at 10 MHz the skin depth in copper is tens of </a:t>
                </a:r>
                <a14:m>
                  <m:oMath xmlns:m="http://schemas.openxmlformats.org/officeDocument/2006/math">
                    <m:r>
                      <a:rPr lang="en-US" sz="1600" i="1" cap="none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m:rPr>
                        <m:nor/>
                      </m:rPr>
                      <a:rPr lang="en-US" sz="1600" i="0" cap="none" dirty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1600" cap="none" dirty="0"/>
                  <a:t>, comparable to the inner conductor radius, and dielectric loss in PE begins to rise. Both cause real pulse-velocity shifts in RG-58 at high f</a:t>
                </a:r>
              </a:p>
              <a:p>
                <a:pPr marL="342900" indent="-342900">
                  <a:lnSpc>
                    <a:spcPct val="100000"/>
                  </a:lnSpc>
                  <a:buFont typeface="Arial"/>
                  <a:buChar char="•"/>
                </a:pPr>
                <a:r>
                  <a:rPr lang="en-US" sz="1600" cap="none" dirty="0"/>
                  <a:t>Caveat: a single high-f point cannot prove dispersion; more measurements between 1 and 50 MHz are needed to confirm the trend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1600" cap="none" dirty="0"/>
                  <a:t>Redoing the Experiment</a:t>
                </a:r>
              </a:p>
              <a:p>
                <a:pPr marL="342900" indent="-342900">
                  <a:lnSpc>
                    <a:spcPct val="100000"/>
                  </a:lnSpc>
                  <a:buFont typeface="Arial"/>
                  <a:buChar char="•"/>
                </a:pPr>
                <a:r>
                  <a:rPr lang="en-US" sz="1600" cap="none" dirty="0"/>
                  <a:t>Shrink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cap="none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cap="none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 i="1" cap="none" dirty="0" err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1600" i="1" cap="none" dirty="0" err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cap="none" dirty="0"/>
                  <a:t> — finer cursor placement, averaging many acquisitions, or a longer cable so </a:t>
                </a:r>
                <a14:m>
                  <m:oMath xmlns:m="http://schemas.openxmlformats.org/officeDocument/2006/math">
                    <m:r>
                      <a:rPr lang="en-US" sz="1600" i="1" cap="none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1600" i="1" cap="none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i="1" cap="none" dirty="0" smtClean="0">
                        <a:latin typeface="Cambria Math" panose="02040503050406030204" pitchFamily="18" charset="0"/>
                      </a:rPr>
                      <m:t> ≫ 1 </m:t>
                    </m:r>
                    <m:r>
                      <m:rPr>
                        <m:nor/>
                      </m:rPr>
                      <a:rPr lang="en-US" sz="1600" i="0" cap="none" dirty="0" smtClean="0">
                        <a:latin typeface="Cambria Math" panose="02040503050406030204" pitchFamily="18" charset="0"/>
                      </a:rPr>
                      <m:t>ns</m:t>
                    </m:r>
                  </m:oMath>
                </a14:m>
                <a:endParaRPr lang="en-US" sz="1600" cap="none" dirty="0"/>
              </a:p>
              <a:p>
                <a:pPr marL="342900" indent="-342900">
                  <a:lnSpc>
                    <a:spcPct val="10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 cap="none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600" i="1" cap="none" dirty="0" err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cap="none" dirty="0"/>
                  <a:t> uncertainty drives &gt;99%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cap="none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cap="none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 i="1" cap="none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cap="none" dirty="0"/>
                  <a:t> — reducing it is the single biggest lever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52BE31-7F72-D13F-CBA3-AACEF3ACDA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4087" y="1145550"/>
                <a:ext cx="10325999" cy="5100505"/>
              </a:xfrm>
              <a:blipFill>
                <a:blip r:embed="rId2"/>
                <a:stretch>
                  <a:fillRect l="-369" t="-496" r="-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16E0EDB-2123-16F2-5770-63F8B2E06947}"/>
              </a:ext>
            </a:extLst>
          </p:cNvPr>
          <p:cNvSpPr txBox="1"/>
          <p:nvPr/>
        </p:nvSpPr>
        <p:spPr>
          <a:xfrm>
            <a:off x="3128145" y="350335"/>
            <a:ext cx="58978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Conclusions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76235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D9F89EB-FB5D-D14E-A96C-DFCD1B57E22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ec3a5262-0ae8-4d4e-b02f-fbba4ec8d08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0CEFF5852D694286F2BC0CE7A6C997" ma:contentTypeVersion="6" ma:contentTypeDescription="Create a new document." ma:contentTypeScope="" ma:versionID="526a12cdb4104c8474d1a1c7b98d28ce">
  <xsd:schema xmlns:xsd="http://www.w3.org/2001/XMLSchema" xmlns:xs="http://www.w3.org/2001/XMLSchema" xmlns:p="http://schemas.microsoft.com/office/2006/metadata/properties" xmlns:ns3="c64525cb-669c-474a-bb1c-a1df3ff42bd0" targetNamespace="http://schemas.microsoft.com/office/2006/metadata/properties" ma:root="true" ma:fieldsID="bbbd96e4c2bf71238f876c69fa445afd" ns3:_="">
    <xsd:import namespace="c64525cb-669c-474a-bb1c-a1df3ff42bd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4525cb-669c-474a-bb1c-a1df3ff42bd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64525cb-669c-474a-bb1c-a1df3ff42bd0" xsi:nil="true"/>
  </documentManagement>
</p:properties>
</file>

<file path=customXml/itemProps1.xml><?xml version="1.0" encoding="utf-8"?>
<ds:datastoreItem xmlns:ds="http://schemas.openxmlformats.org/officeDocument/2006/customXml" ds:itemID="{4437C8FD-C768-4F57-B223-C8CB82EB096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7607DC-AD28-4B6A-9497-E6CBE4D39B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4525cb-669c-474a-bb1c-a1df3ff42b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12DD3B-FC0C-42E4-A0E5-A7F5E43A6E5A}">
  <ds:schemaRefs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www.w3.org/XML/1998/namespace"/>
    <ds:schemaRef ds:uri="http://purl.org/dc/dcmitype/"/>
    <ds:schemaRef ds:uri="http://schemas.microsoft.com/office/2006/metadata/properties"/>
    <ds:schemaRef ds:uri="c64525cb-669c-474a-bb1c-a1df3ff42bd0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pressure-and-temperature_presentation</Template>
  <TotalTime>245</TotalTime>
  <Words>929</Words>
  <Application>Microsoft Macintosh PowerPoint</Application>
  <PresentationFormat>Widescreen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Cambria Math</vt:lpstr>
      <vt:lpstr>Tw Cen MT</vt:lpstr>
      <vt:lpstr>Droplet</vt:lpstr>
      <vt:lpstr>Lab 5 Measuring a refractive index</vt:lpstr>
      <vt:lpstr>Objective and Experiment</vt:lpstr>
      <vt:lpstr>Physics and Method</vt:lpstr>
      <vt:lpstr>Data and Measurements</vt:lpstr>
      <vt:lpstr>Results: Per-Frequency Measurements</vt:lpstr>
      <vt:lpstr>Results: Interpretation</vt:lpstr>
      <vt:lpstr>Results: n vs frequency</vt:lpstr>
      <vt:lpstr>Weighted Mean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Daksh Khandelwal</dc:creator>
  <cp:lastModifiedBy>Daksh Khandelwal</cp:lastModifiedBy>
  <cp:revision>29</cp:revision>
  <dcterms:created xsi:type="dcterms:W3CDTF">2026-03-22T19:27:30Z</dcterms:created>
  <dcterms:modified xsi:type="dcterms:W3CDTF">2026-04-19T23:23:55Z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0x010100300CEFF5852D694286F2BC0CE7A6C997</vt:lpwstr>
  </property>
</Properties>
</file>