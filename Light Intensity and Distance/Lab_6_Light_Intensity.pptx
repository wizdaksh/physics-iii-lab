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9"/>
    <p:sldId id="257" r:id="rId10"/>
    <p:sldId id="258" r:id="rId11"/>
    <p:sldId id="259" r:id="rId12"/>
    <p:sldId id="260" r:id="rId13"/>
    <p:sldId id="261" r:id="rId8"/>
    <p:sldId id="262" r:id="rId7"/>
    <p:sldId id="263" r:id="rId6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8" autoAdjust="0"/>
    <p:restoredTop sz="96174"/>
  </p:normalViewPr>
  <p:slideViewPr>
    <p:cSldViewPr snapToGrid="0">
      <p:cViewPr>
        <p:scale>
          <a:sx n="111" d="100"/>
          <a:sy n="111" d="100"/>
        </p:scale>
        <p:origin x="80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5400" b="1">
                <a:solidFill>
                  <a:srgbClr val="202020"/>
                </a:solidFill>
                <a:latin typeface="Calibri"/>
              </a:rPr>
              <a:t>Lab 6</a:t>
            </a:r>
          </a:p>
          <a:p>
            <a:pPr algn="ctr"/>
            <a:r>
              <a:rPr sz="4400">
                <a:solidFill>
                  <a:srgbClr val="202020"/>
                </a:solidFill>
                <a:latin typeface="Calibri"/>
              </a:rPr>
              <a:t>Light Intensity &amp; Distance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000" i="1">
                <a:solidFill>
                  <a:srgbClr val="555555"/>
                </a:solidFill>
                <a:latin typeface="Calibri"/>
              </a:rPr>
              <a:t>Verifying the inverse-square law for a “point”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47120" cy="777240"/>
          </a:xfrm>
        </p:spPr>
        <p:txBody>
          <a:bodyPr tIns="18288" bIns="18288"/>
          <a:lstStyle/>
          <a:p>
            <a:pPr algn="l"/>
            <a:r>
              <a:rPr sz="3200" b="1">
                <a:solidFill>
                  <a:srgbClr val="202020"/>
                </a:solidFill>
                <a:latin typeface="Calibri"/>
              </a:rPr>
              <a:t>Objective and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800" b="0" i="1">
                <a:solidFill>
                  <a:srgbClr val="555555"/>
                </a:solidFill>
                <a:latin typeface="Calibri"/>
              </a:rPr>
              <a:t>Determine how detected light intensity from a “point” source varies with distance, and check whether the inverse-square law I = P/(4πr²) holds.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10972800" cy="4114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 marL="274320" indent="-228600">
              <a:spcBef>
                <a:spcPts val="800"/>
              </a:spcBef>
              <a:spcAft>
                <a:spcPts val="800"/>
              </a:spcAft>
              <a:buFont typeface="Arial"/>
              <a:buChar char="•"/>
            </a:pPr>
            <a:r>
              <a:rPr sz="1800" b="1">
                <a:solidFill>
                  <a:srgbClr val="202020"/>
                </a:solidFill>
                <a:latin typeface="Calibri"/>
              </a:rPr>
              <a:t>Principle:  </a:t>
            </a:r>
            <a:r>
              <a:rPr sz="1800">
                <a:solidFill>
                  <a:srgbClr val="202020"/>
                </a:solidFill>
                <a:latin typeface="Calibri"/>
              </a:rPr>
              <a:t>Light from a point source spreads over a sphere of area 4πr², so intensity falls as 1/r².</a:t>
            </a:r>
          </a:p>
          <a:p>
            <a:pPr algn="l" marL="274320" indent="-228600">
              <a:spcBef>
                <a:spcPts val="800"/>
              </a:spcBef>
              <a:spcAft>
                <a:spcPts val="800"/>
              </a:spcAft>
              <a:buFont typeface="Arial"/>
              <a:buChar char="•"/>
            </a:pPr>
            <a:r>
              <a:rPr sz="1800" b="1">
                <a:solidFill>
                  <a:srgbClr val="202020"/>
                </a:solidFill>
                <a:latin typeface="Calibri"/>
              </a:rPr>
              <a:t>Setup:  </a:t>
            </a:r>
            <a:r>
              <a:rPr sz="1800">
                <a:solidFill>
                  <a:srgbClr val="202020"/>
                </a:solidFill>
                <a:latin typeface="Calibri"/>
              </a:rPr>
              <a:t>1.2 m optical track, 12 V / 10 W G4 halogen source, PASCO light sensor (resolution 1 µLux).</a:t>
            </a:r>
          </a:p>
          <a:p>
            <a:pPr algn="l" marL="274320" indent="-228600">
              <a:spcBef>
                <a:spcPts val="800"/>
              </a:spcBef>
              <a:spcAft>
                <a:spcPts val="800"/>
              </a:spcAft>
              <a:buFont typeface="Arial"/>
              <a:buChar char="•"/>
            </a:pPr>
            <a:r>
              <a:rPr sz="1800" b="1">
                <a:solidFill>
                  <a:srgbClr val="202020"/>
                </a:solidFill>
                <a:latin typeface="Calibri"/>
              </a:rPr>
              <a:t>Method:  </a:t>
            </a:r>
            <a:r>
              <a:rPr sz="1800">
                <a:solidFill>
                  <a:srgbClr val="202020"/>
                </a:solidFill>
                <a:latin typeface="Calibri"/>
              </a:rPr>
              <a:t>Record steady-state intensity at d = 0, 10, 20, 30, 40, 50 cm; record background with light off.</a:t>
            </a:r>
          </a:p>
          <a:p>
            <a:pPr algn="l" marL="274320" indent="-228600">
              <a:spcBef>
                <a:spcPts val="800"/>
              </a:spcBef>
              <a:spcAft>
                <a:spcPts val="800"/>
              </a:spcAft>
              <a:buFont typeface="Arial"/>
              <a:buChar char="•"/>
            </a:pPr>
            <a:r>
              <a:rPr sz="1800" b="1">
                <a:solidFill>
                  <a:srgbClr val="202020"/>
                </a:solidFill>
                <a:latin typeface="Calibri"/>
              </a:rPr>
              <a:t>Analysis:  </a:t>
            </a:r>
            <a:r>
              <a:rPr sz="1800">
                <a:solidFill>
                  <a:srgbClr val="202020"/>
                </a:solidFill>
                <a:latin typeface="Calibri"/>
              </a:rPr>
              <a:t>Subtract background, fit I(r), and verify that 4π·E·r² is constant across distance.</a:t>
            </a:r>
          </a:p>
          <a:p>
            <a:pPr algn="l" marL="274320" indent="-228600">
              <a:spcBef>
                <a:spcPts val="800"/>
              </a:spcBef>
              <a:spcAft>
                <a:spcPts val="800"/>
              </a:spcAft>
              <a:buFont typeface="Arial"/>
              <a:buChar char="•"/>
            </a:pPr>
            <a:r>
              <a:rPr sz="1800" b="1">
                <a:solidFill>
                  <a:srgbClr val="202020"/>
                </a:solidFill>
                <a:latin typeface="Calibri"/>
              </a:rPr>
              <a:t>Expected:  </a:t>
            </a:r>
            <a:r>
              <a:rPr sz="1800">
                <a:solidFill>
                  <a:srgbClr val="202020"/>
                </a:solidFill>
                <a:latin typeface="Calibri"/>
              </a:rPr>
              <a:t>I ∝ 1/r²; the recovered “power” P = 4πb should be consistent within uncertainty.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47120" cy="777240"/>
          </a:xfrm>
        </p:spPr>
        <p:txBody>
          <a:bodyPr tIns="18288" bIns="18288"/>
          <a:lstStyle/>
          <a:p>
            <a:pPr algn="l"/>
            <a:r>
              <a:rPr sz="3200" b="1">
                <a:solidFill>
                  <a:srgbClr val="202020"/>
                </a:solidFill>
                <a:latin typeface="Calibri"/>
              </a:rPr>
              <a:t>Physics and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Physics</a:t>
            </a:r>
          </a:p>
        </p:txBody>
      </p:sp>
      <p:pic>
        <p:nvPicPr>
          <p:cNvPr id="4" name="Picture 3" descr="eq_illumi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768096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331720"/>
            <a:ext cx="5029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0" i="1">
                <a:solidFill>
                  <a:srgbClr val="555555"/>
                </a:solidFill>
                <a:latin typeface="Calibri"/>
              </a:rPr>
              <a:t>Illuminance = flux per unit area perpendicular to flow</a:t>
            </a:r>
          </a:p>
        </p:txBody>
      </p:sp>
      <p:pic>
        <p:nvPicPr>
          <p:cNvPr id="6" name="Picture 5" descr="eq_flu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697480"/>
            <a:ext cx="366641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154680"/>
            <a:ext cx="5029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0" i="1">
                <a:solidFill>
                  <a:srgbClr val="555555"/>
                </a:solidFill>
                <a:latin typeface="Calibri"/>
              </a:rPr>
              <a:t>Total flux from isotropic source (integrate dΩ over 4π sr)</a:t>
            </a:r>
          </a:p>
        </p:txBody>
      </p:sp>
      <p:pic>
        <p:nvPicPr>
          <p:cNvPr id="8" name="Picture 7" descr="eq_inverse_squ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611880"/>
            <a:ext cx="1383607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343400"/>
            <a:ext cx="5029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0" i="1">
                <a:solidFill>
                  <a:srgbClr val="555555"/>
                </a:solidFill>
                <a:latin typeface="Calibri"/>
              </a:rPr>
              <a:t>Substitute Φ = 4πI ⇒ inverse-square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669280" cy="2377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74320" indent="-228600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02020"/>
                </a:solidFill>
                <a:latin typeface="Calibri"/>
              </a:rPr>
              <a:t>Run 1 (light ON): hold sensor at each distance until plateau, record ~100–200 samples.</a:t>
            </a:r>
          </a:p>
          <a:p>
            <a:pPr marL="274320" indent="-228600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02020"/>
                </a:solidFill>
                <a:latin typeface="Calibri"/>
              </a:rPr>
              <a:t>Run 2 (light OFF): record ~1670 background samples.</a:t>
            </a:r>
          </a:p>
          <a:p>
            <a:pPr marL="274320" indent="-228600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02020"/>
                </a:solidFill>
                <a:latin typeface="Calibri"/>
              </a:rPr>
              <a:t>For each plateau: compute mean and standard deviation (M&amp;U Eq. 1, 3).</a:t>
            </a:r>
          </a:p>
          <a:p>
            <a:pPr marL="274320" indent="-228600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02020"/>
                </a:solidFill>
                <a:latin typeface="Calibri"/>
              </a:rPr>
              <a:t>Subtract the background mean from each plateau mean.</a:t>
            </a:r>
          </a:p>
          <a:p>
            <a:pPr marL="274320" indent="-228600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02020"/>
                </a:solidFill>
                <a:latin typeface="Calibri"/>
              </a:rPr>
              <a:t>Combine type A (statistical) + type B (sensor scale, rectangular PDF) in quadrature:</a:t>
            </a:r>
          </a:p>
        </p:txBody>
      </p:sp>
      <p:pic>
        <p:nvPicPr>
          <p:cNvPr id="12" name="Picture 11" descr="eq_sigma_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4160520"/>
            <a:ext cx="2915447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4709160"/>
            <a:ext cx="56692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74320" indent="-228600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02020"/>
                </a:solidFill>
                <a:latin typeface="Calibri"/>
              </a:rPr>
              <a:t>Fit  I(r) = b/(r + r₀)²   ⇒   recover P = 4πb.</a:t>
            </a:r>
          </a:p>
          <a:p>
            <a:pPr marL="274320" indent="-228600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02020"/>
                </a:solidFill>
                <a:latin typeface="Calibri"/>
              </a:rPr>
              <a:t>Check χ²/ν, then cross-check that 4π·E·r_eff² is constant across distance.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47120" cy="777240"/>
          </a:xfrm>
        </p:spPr>
        <p:txBody>
          <a:bodyPr tIns="18288" bIns="18288"/>
          <a:lstStyle/>
          <a:p>
            <a:pPr algn="l"/>
            <a:r>
              <a:rPr sz="3200" b="1">
                <a:solidFill>
                  <a:srgbClr val="202020"/>
                </a:solidFill>
                <a:latin typeface="Calibri"/>
              </a:rPr>
              <a:t>Data and Measurements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 i="1">
                <a:solidFill>
                  <a:srgbClr val="555555"/>
                </a:solidFill>
                <a:latin typeface="Calibri"/>
              </a:rPr>
              <a:t>Plateau means (Run 1) and standard deviations at each distance, with background subtracted (mean of Run 2 = 0.0969%).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9164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2377440"/>
                <a:gridCol w="2377440"/>
                <a:gridCol w="3200400"/>
              </a:tblGrid>
              <a:tr h="444137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d (cm)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mean I (%)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std I (%)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mean − bg (%)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96.2586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0.00918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96.1616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44.7323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0.02925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44.6354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16.1137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0.01200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16.0167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8.2426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0.00304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8.1457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5.0189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0.00568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4.9220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3.3788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0.02726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02020"/>
                          </a:solidFill>
                          <a:latin typeface="Calibri"/>
                        </a:rPr>
                        <a:t>3.2819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983480"/>
            <a:ext cx="1069848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 i="0">
                <a:solidFill>
                  <a:srgbClr val="202020"/>
                </a:solidFill>
                <a:latin typeface="Calibri"/>
              </a:rPr>
              <a:t>Background (Run 2):  N = 1669,  mean = 0.0969%,  s = 0.0012%  (Gaussian).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 i="0">
                <a:solidFill>
                  <a:srgbClr val="202020"/>
                </a:solidFill>
                <a:latin typeface="Calibri"/>
              </a:rPr>
              <a:t>Distance uncertainty:  σ_r = 5 mm / √3 ≈ 2.9 mm  (rectangular PDF; ruler resolution + endpoint).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 i="0">
                <a:solidFill>
                  <a:srgbClr val="202020"/>
                </a:solidFill>
                <a:latin typeface="Calibri"/>
              </a:rPr>
              <a:t>Sensor resolution:  1 × 10⁻⁶ Lux (rectangular PDF) — negligible vs plateau std.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47120" cy="777240"/>
          </a:xfrm>
        </p:spPr>
        <p:txBody>
          <a:bodyPr tIns="18288" bIns="18288"/>
          <a:lstStyle/>
          <a:p>
            <a:pPr algn="l"/>
            <a:r>
              <a:rPr sz="3200" b="1">
                <a:solidFill>
                  <a:srgbClr val="202020"/>
                </a:solidFill>
                <a:latin typeface="Calibri"/>
              </a:rPr>
              <a:t>Per-Distance Distributions</a:t>
            </a:r>
          </a:p>
        </p:txBody>
      </p:sp>
      <p:pic>
        <p:nvPicPr>
          <p:cNvPr id="3" name="Picture 2" descr="chart_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046720" cy="4045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280160"/>
            <a:ext cx="3566160" cy="5029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Each plateau yields one mean and one standard deviation.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Histograms peak around the mean and span a finite range.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Approximately Gaussian shape — normal PDF justified for σ_E.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Plateau std is the dominant (type A) contribution to σ_E.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Background and 1 µLux sensor resolution add negligibly in quadrature.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Standard deviations: 0.003 – 0.029% across the six distances.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47120" cy="777240"/>
          </a:xfrm>
        </p:spPr>
        <p:txBody>
          <a:bodyPr tIns="18288" bIns="18288"/>
          <a:lstStyle/>
          <a:p>
            <a:pPr algn="l"/>
            <a:r>
              <a:rPr sz="3200" b="1">
                <a:solidFill>
                  <a:srgbClr val="202020"/>
                </a:solidFill>
                <a:latin typeface="Calibri"/>
              </a:rPr>
              <a:t>Inverse-Square Fit</a:t>
            </a:r>
          </a:p>
        </p:txBody>
      </p:sp>
      <p:pic>
        <p:nvPicPr>
          <p:cNvPr id="3" name="Picture 2" descr="chart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80160"/>
            <a:ext cx="7223760" cy="52379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389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800" b="1" i="0">
                <a:solidFill>
                  <a:srgbClr val="1F4E79"/>
                </a:solidFill>
                <a:latin typeface="Calibri"/>
              </a:rPr>
              <a:t>Fit form</a:t>
            </a:r>
          </a:p>
        </p:txBody>
      </p:sp>
      <p:pic>
        <p:nvPicPr>
          <p:cNvPr id="5" name="Picture 4" descr="eq_fi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783080"/>
            <a:ext cx="2536115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377440"/>
            <a:ext cx="4434840" cy="2377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r₀ = offset between marked d=0 and the actual filament inside the bulb.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d = 0 excluded (sensor essentially at source — point-source approx fails).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Reduced χ² (M&amp;U Eq. 22, 24):</a:t>
            </a:r>
          </a:p>
        </p:txBody>
      </p:sp>
      <p:pic>
        <p:nvPicPr>
          <p:cNvPr id="7" name="Picture 6" descr="eq_chi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4572000"/>
            <a:ext cx="1208314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5120640"/>
            <a:ext cx="443484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202020"/>
                </a:solidFill>
                <a:latin typeface="Calibri"/>
              </a:rPr>
              <a:t>Best-fit results: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300" b="0" i="0">
                <a:solidFill>
                  <a:srgbClr val="202020"/>
                </a:solidFill>
                <a:latin typeface="Calibri"/>
              </a:rPr>
              <a:t>  b  = 0.9932 ± 0.0008  %·m²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300" b="0" i="0">
                <a:solidFill>
                  <a:srgbClr val="202020"/>
                </a:solidFill>
                <a:latin typeface="Calibri"/>
              </a:rPr>
              <a:t>  r₀ = 4.91 ± 0.01 cm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300" b="1" i="0">
                <a:solidFill>
                  <a:srgbClr val="1F4E79"/>
                </a:solidFill>
                <a:latin typeface="Calibri"/>
              </a:rPr>
              <a:t>  χ²/ν = 0.85   (ν = 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47120" cy="777240"/>
          </a:xfrm>
        </p:spPr>
        <p:txBody>
          <a:bodyPr tIns="18288" bIns="18288"/>
          <a:lstStyle/>
          <a:p>
            <a:pPr algn="l"/>
            <a:r>
              <a:rPr sz="3200" b="1">
                <a:solidFill>
                  <a:srgbClr val="202020"/>
                </a:solidFill>
                <a:latin typeface="Calibri"/>
              </a:rPr>
              <a:t>Cross-Check: Is the Inferred Power Constant?</a:t>
            </a:r>
          </a:p>
        </p:txBody>
      </p:sp>
      <p:pic>
        <p:nvPicPr>
          <p:cNvPr id="3" name="Picture 2" descr="chart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7680960" cy="41005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80160"/>
            <a:ext cx="40233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800" b="1" i="0">
                <a:solidFill>
                  <a:srgbClr val="1F4E79"/>
                </a:solidFill>
                <a:latin typeface="Calibri"/>
              </a:rPr>
              <a:t>Per-point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2440" y="173736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Compute P_i = 4π · E_i · r_eff,i² for each distance.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Propagate σ_r and σ_E in quadrature (M&amp;U Eq. 14):</a:t>
            </a:r>
          </a:p>
        </p:txBody>
      </p:sp>
      <p:pic>
        <p:nvPicPr>
          <p:cNvPr id="6" name="Picture 5" descr="eq_sigma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3200400"/>
            <a:ext cx="3851189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2440" y="3794760"/>
            <a:ext cx="402336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All five P_i (d &gt; 0) agree to ~0.2%.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Mean P = 12.473    std = 0.021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1/r² behaviour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47120" cy="777240"/>
          </a:xfrm>
        </p:spPr>
        <p:txBody>
          <a:bodyPr tIns="18288" bIns="18288"/>
          <a:lstStyle/>
          <a:p>
            <a:pPr algn="l"/>
            <a:r>
              <a:rPr sz="3200" b="1">
                <a:solidFill>
                  <a:srgbClr val="202020"/>
                </a:solidFill>
                <a:latin typeface="Calibri"/>
              </a:rPr>
              <a:t>Comparison and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t-test: cross-check vs fit</a:t>
            </a:r>
          </a:p>
        </p:txBody>
      </p:sp>
      <p:pic>
        <p:nvPicPr>
          <p:cNvPr id="4" name="Picture 3" descr="eq_t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828800"/>
            <a:ext cx="1747327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788920"/>
            <a:ext cx="548640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P_exp = 12.473 ± 0.009  (mean of 5 distances)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P_fit = 12.480 ± 0.010  (least-squares fit)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t = 0.56  ⇒  fully consistent (Gaussian PDF, t &lt; 1).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Recall: t = 1 → 68% probability of difference; t = 2 → 95%; t = 3 → 99.7%  (M&amp;U Table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Sanity check vs source 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486400" cy="4572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Source: G4 halogen, 12 V, 10 W (electrical input).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Halogen luminous efficacy ≈ 10–15 lm/W ⇒ ≈ 100–150 lumens.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Sensor reads % of full scale (not lux) — direct numeric comparison needs the % → lux calibration.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Order-of-magnitude check: implied flux is in the right ballpark.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202020"/>
                </a:solidFill>
                <a:latin typeface="Calibri"/>
              </a:rPr>
              <a:t>Verification of the 1/r² shape is independent of this calibration.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47120" cy="777240"/>
          </a:xfrm>
        </p:spPr>
        <p:txBody>
          <a:bodyPr tIns="18288" bIns="18288"/>
          <a:lstStyle/>
          <a:p>
            <a:pPr algn="l"/>
            <a:r>
              <a:rPr sz="3200" b="1">
                <a:solidFill>
                  <a:srgbClr val="20202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Final result</a:t>
            </a:r>
          </a:p>
        </p:txBody>
      </p:sp>
      <p:pic>
        <p:nvPicPr>
          <p:cNvPr id="4" name="Picture 3" descr="eq_final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4519"/>
            <a:ext cx="6472526" cy="594360"/>
          </a:xfrm>
          <a:prstGeom prst="rect">
            <a:avLst/>
          </a:prstGeom>
        </p:spPr>
      </p:pic>
      <p:pic>
        <p:nvPicPr>
          <p:cNvPr id="5" name="Picture 4" descr="eq_final_r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920240"/>
            <a:ext cx="4283491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60604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55555"/>
                </a:solidFill>
                <a:latin typeface="Calibri"/>
              </a:rPr>
              <a:t>(Gaussian PDF, 68% confidence level)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430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11430000" cy="2926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Calibri"/>
              </a:rPr>
              <a:t>Inverse-square law confirmed: χ²/ν = 0.85, t = 0.56, residual pulls within ±2σ.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Calibri"/>
              </a:rPr>
              <a:t>Recovered source-position offset r₀ = 4.91 cm — physical (filament behind front of bulb housing).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Calibri"/>
              </a:rPr>
              <a:t>P_i = 4π·E·r_eff² is constant across d = 10–50 cm to ~0.2% — strong cross-check.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Calibri"/>
              </a:rPr>
              <a:t>Order of magnitude consistent with manufacturer rating (12 V / 10 W halogen ≈ 100 lm).</a:t>
            </a:r>
          </a:p>
          <a:p>
            <a:pPr marL="246888" indent="-201168"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Calibri"/>
              </a:rPr>
              <a:t>Limitations: sensor in % units (no lux calibration); single trial; finite source size breaks point-source approximation near d = 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9F89EB-FB5D-D14E-A96C-DFCD1B57E22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c3a5262-0ae8-4d4e-b02f-fbba4ec8d08e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00CEFF5852D694286F2BC0CE7A6C997" ma:contentTypeVersion="6" ma:contentTypeDescription="Create a new document." ma:contentTypeScope="" ma:versionID="526a12cdb4104c8474d1a1c7b98d28ce">
  <xsd:schema xmlns:xsd="http://www.w3.org/2001/XMLSchema" xmlns:xs="http://www.w3.org/2001/XMLSchema" xmlns:p="http://schemas.microsoft.com/office/2006/metadata/properties" xmlns:ns3="c64525cb-669c-474a-bb1c-a1df3ff42bd0" targetNamespace="http://schemas.microsoft.com/office/2006/metadata/properties" ma:root="true" ma:fieldsID="bbbd96e4c2bf71238f876c69fa445afd" ns3:_="">
    <xsd:import namespace="c64525cb-669c-474a-bb1c-a1df3ff42bd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4525cb-669c-474a-bb1c-a1df3ff42bd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64525cb-669c-474a-bb1c-a1df3ff42bd0" xsi:nil="true"/>
  </documentManagement>
</p:properties>
</file>

<file path=customXml/itemProps1.xml><?xml version="1.0" encoding="utf-8"?>
<ds:datastoreItem xmlns:ds="http://schemas.openxmlformats.org/officeDocument/2006/customXml" ds:itemID="{4437C8FD-C768-4F57-B223-C8CB82EB096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7607DC-AD28-4B6A-9497-E6CBE4D39B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64525cb-669c-474a-bb1c-a1df3ff42bd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012DD3B-FC0C-42E4-A0E5-A7F5E43A6E5A}">
  <ds:schemaRefs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http://www.w3.org/XML/1998/namespace"/>
    <ds:schemaRef ds:uri="http://purl.org/dc/dcmitype/"/>
    <ds:schemaRef ds:uri="http://schemas.microsoft.com/office/2006/metadata/properties"/>
    <ds:schemaRef ds:uri="c64525cb-669c-474a-bb1c-a1df3ff42bd0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pressure-and-temperature_presentation</Template>
  <TotalTime>245</TotalTime>
  <Words>929</Words>
  <Application>Microsoft Macintosh PowerPoint</Application>
  <PresentationFormat>Widescreen</PresentationFormat>
  <Paragraphs>84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Cambria Math</vt:lpstr>
      <vt:lpstr>Tw Cen MT</vt:lpstr>
      <vt:lpstr>Droplet</vt:lpstr>
      <vt:lpstr>Lab 5 Measuring a refractive index</vt:lpstr>
      <vt:lpstr>Objective and Experiment</vt:lpstr>
      <vt:lpstr>Physics and Method</vt:lpstr>
      <vt:lpstr>Data and Measurements</vt:lpstr>
      <vt:lpstr>Results: Per-Frequency Measurements</vt:lpstr>
      <vt:lpstr>Results: Interpretation</vt:lpstr>
      <vt:lpstr>Results: n vs frequency</vt:lpstr>
      <vt:lpstr>Weighted Mean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Daksh Khandelwal</dc:creator>
  <cp:lastModifiedBy>Daksh Khandelwal</cp:lastModifiedBy>
  <cp:revision>29</cp:revision>
  <dcterms:created xsi:type="dcterms:W3CDTF">2026-03-22T19:27:30Z</dcterms:created>
  <dcterms:modified xsi:type="dcterms:W3CDTF">2026-04-19T23:23:55Z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0x010100300CEFF5852D694286F2BC0CE7A6C997</vt:lpwstr>
  </property>
</Properties>
</file>