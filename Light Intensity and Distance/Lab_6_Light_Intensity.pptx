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7" r:id="rId11"/>
    <p:sldId id="262" r:id="rId12"/>
    <p:sldId id="266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8" autoAdjust="0"/>
    <p:restoredTop sz="96174"/>
  </p:normalViewPr>
  <p:slideViewPr>
    <p:cSldViewPr snapToGrid="0">
      <p:cViewPr varScale="1">
        <p:scale>
          <a:sx n="137" d="100"/>
          <a:sy n="137" d="100"/>
        </p:scale>
        <p:origin x="15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5400" dirty="0">
                <a:solidFill>
                  <a:srgbClr val="202020"/>
                </a:solidFill>
              </a:rPr>
              <a:t>Lab 6</a:t>
            </a:r>
          </a:p>
          <a:p>
            <a:pPr algn="ctr"/>
            <a:r>
              <a:rPr sz="4400" dirty="0">
                <a:solidFill>
                  <a:srgbClr val="202020"/>
                </a:solidFill>
              </a:rPr>
              <a:t>Light Intensity &amp; Distance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2000" dirty="0">
                <a:solidFill>
                  <a:srgbClr val="555555"/>
                </a:solidFill>
                <a:latin typeface="+mj-lt"/>
              </a:rPr>
              <a:t>Daksh Khandelwal</a:t>
            </a:r>
            <a:endParaRPr sz="2000" dirty="0">
              <a:solidFill>
                <a:srgbClr val="555555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47120" cy="777240"/>
          </a:xfrm>
        </p:spPr>
        <p:txBody>
          <a:bodyPr tIns="18288" bIns="18288"/>
          <a:lstStyle/>
          <a:p>
            <a:r>
              <a:rPr sz="3200" dirty="0">
                <a:solidFill>
                  <a:srgbClr val="202020"/>
                </a:solidFill>
              </a:rPr>
              <a:t>Objective and Experiment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48640" y="1234440"/>
                <a:ext cx="10972800" cy="645048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>
                <a:spAutoFit/>
              </a:bodyPr>
              <a:lstStyle/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sz="1800" b="0" dirty="0">
                    <a:solidFill>
                      <a:srgbClr val="555555"/>
                    </a:solidFill>
                  </a:rPr>
                  <a:t>Determine how detected light intensity from a “point” source varies with distance, and check whether the inverse-square law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555555"/>
                        </a:solidFill>
                      </a:rPr>
                      <m:t>𝐼</m:t>
                    </m:r>
                    <m:r>
                      <a:rPr lang="en-US" sz="1800" b="0" i="1" dirty="0" smtClean="0">
                        <a:solidFill>
                          <a:srgbClr val="555555"/>
                        </a:solidFill>
                      </a:rPr>
                      <m:t>=</m:t>
                    </m:r>
                    <m:r>
                      <a:rPr lang="en-US" sz="1800" b="0" i="1" dirty="0" smtClean="0">
                        <a:solidFill>
                          <a:srgbClr val="555555"/>
                        </a:solidFill>
                      </a:rPr>
                      <m:t>𝑃</m:t>
                    </m:r>
                    <m:r>
                      <m:rPr>
                        <m:lit/>
                      </m:rPr>
                      <a:rPr lang="en-US" sz="1800" b="0" i="1" dirty="0" smtClean="0">
                        <a:solidFill>
                          <a:srgbClr val="555555"/>
                        </a:solidFill>
                      </a:rPr>
                      <m:t>/</m:t>
                    </m:r>
                    <m:d>
                      <m:dPr>
                        <m:ctrlPr>
                          <a:rPr lang="en-US" sz="1800" b="0" i="1" dirty="0" smtClean="0">
                            <a:solidFill>
                              <a:srgbClr val="555555"/>
                            </a:solidFill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solidFill>
                              <a:srgbClr val="555555"/>
                            </a:solidFill>
                          </a:rPr>
                          <m:t>4</m:t>
                        </m:r>
                        <m:r>
                          <a:rPr lang="en-US" sz="1800" b="0" i="1" dirty="0" smtClean="0">
                            <a:solidFill>
                              <a:srgbClr val="555555"/>
                            </a:solidFill>
                          </a:rPr>
                          <m:t>𝜋</m:t>
                        </m:r>
                        <m:sSup>
                          <m:sSupPr>
                            <m:ctrlPr>
                              <a:rPr lang="en-US" sz="1800" b="0" i="1" dirty="0" smtClean="0">
                                <a:solidFill>
                                  <a:srgbClr val="555555"/>
                                </a:solidFill>
                              </a:rPr>
                            </m:ctrlPr>
                          </m:sSupPr>
                          <m:e>
                            <m:r>
                              <a:rPr lang="en-US" sz="1800" b="0" i="1" dirty="0" smtClean="0">
                                <a:solidFill>
                                  <a:srgbClr val="555555"/>
                                </a:solidFill>
                              </a:rPr>
                              <m:t>𝑟</m:t>
                            </m:r>
                          </m:e>
                          <m:sup>
                            <m:r>
                              <a:rPr lang="en-US" sz="1800" b="0" i="1" dirty="0" smtClean="0">
                                <a:solidFill>
                                  <a:srgbClr val="555555"/>
                                </a:solidFill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i="1" dirty="0">
                    <a:solidFill>
                      <a:srgbClr val="555555"/>
                    </a:solidFill>
                  </a:rPr>
                  <a:t> </a:t>
                </a:r>
                <a:r>
                  <a:rPr sz="1800" b="0" dirty="0">
                    <a:solidFill>
                      <a:srgbClr val="555555"/>
                    </a:solidFill>
                  </a:rPr>
                  <a:t>holds.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234440"/>
                <a:ext cx="10972800" cy="645048"/>
              </a:xfrm>
              <a:prstGeom prst="rect">
                <a:avLst/>
              </a:prstGeom>
              <a:blipFill>
                <a:blip r:embed="rId2"/>
                <a:stretch>
                  <a:fillRect l="-889" t="-8571" r="-1000" b="-1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2423160"/>
                <a:ext cx="10972800" cy="2261132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>
                <a:spAutoFit/>
              </a:bodyPr>
              <a:lstStyle/>
              <a:p>
                <a:pPr marL="274320" indent="-228600" algn="l">
                  <a:spcBef>
                    <a:spcPts val="800"/>
                  </a:spcBef>
                  <a:spcAft>
                    <a:spcPts val="800"/>
                  </a:spcAft>
                  <a:buFont typeface="Arial"/>
                  <a:buChar char="•"/>
                </a:pPr>
                <a:r>
                  <a:rPr sz="1800" dirty="0">
                    <a:solidFill>
                      <a:srgbClr val="202020"/>
                    </a:solidFill>
                  </a:rPr>
                  <a:t>Principle:  Light from a point source spreads over a sphere of area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202020"/>
                        </a:solidFill>
                      </a:rPr>
                      <m:t>4</m:t>
                    </m:r>
                    <m:r>
                      <a:rPr lang="en-US" sz="1800" b="0" i="1" dirty="0" smtClean="0">
                        <a:solidFill>
                          <a:srgbClr val="202020"/>
                        </a:solidFill>
                      </a:rPr>
                      <m:t>𝜋</m:t>
                    </m:r>
                    <m:r>
                      <a:rPr lang="en-US" sz="1800" b="0" i="1" dirty="0" smtClean="0">
                        <a:solidFill>
                          <a:srgbClr val="202020"/>
                        </a:solidFill>
                      </a:rPr>
                      <m:t>𝑟</m:t>
                    </m:r>
                    <m:r>
                      <a:rPr lang="en-US" sz="1800" b="0" i="1" dirty="0" smtClean="0">
                        <a:solidFill>
                          <a:srgbClr val="202020"/>
                        </a:solidFill>
                      </a:rPr>
                      <m:t>²</m:t>
                    </m:r>
                  </m:oMath>
                </a14:m>
                <a:r>
                  <a:rPr sz="1800" dirty="0">
                    <a:solidFill>
                      <a:srgbClr val="202020"/>
                    </a:solidFill>
                  </a:rPr>
                  <a:t>, so intensity falls as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202020"/>
                        </a:solidFill>
                      </a:rPr>
                      <m:t>1/</m:t>
                    </m:r>
                    <m:r>
                      <a:rPr lang="en-US" sz="1800" b="0" i="1" dirty="0" smtClean="0">
                        <a:solidFill>
                          <a:srgbClr val="202020"/>
                        </a:solidFill>
                      </a:rPr>
                      <m:t>𝑟</m:t>
                    </m:r>
                    <m:r>
                      <a:rPr lang="en-US" sz="1800" b="0" i="1" dirty="0" smtClean="0">
                        <a:solidFill>
                          <a:srgbClr val="202020"/>
                        </a:solidFill>
                      </a:rPr>
                      <m:t>²</m:t>
                    </m:r>
                  </m:oMath>
                </a14:m>
                <a:r>
                  <a:rPr sz="1800" dirty="0">
                    <a:solidFill>
                      <a:srgbClr val="202020"/>
                    </a:solidFill>
                  </a:rPr>
                  <a:t>.</a:t>
                </a:r>
              </a:p>
              <a:p>
                <a:pPr marL="274320" indent="-228600" algn="l">
                  <a:spcBef>
                    <a:spcPts val="800"/>
                  </a:spcBef>
                  <a:spcAft>
                    <a:spcPts val="800"/>
                  </a:spcAft>
                  <a:buFont typeface="Arial"/>
                  <a:buChar char="•"/>
                </a:pPr>
                <a:r>
                  <a:rPr sz="1800" dirty="0">
                    <a:solidFill>
                      <a:srgbClr val="202020"/>
                    </a:solidFill>
                  </a:rPr>
                  <a:t>Setup:  1.2 m optical track, 12 V / 10 W G4 halogen source, PASCO light sensor (resolution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202020"/>
                        </a:solidFill>
                      </a:rPr>
                      <m:t>1 µ</m:t>
                    </m:r>
                    <m:r>
                      <m:rPr>
                        <m:sty m:val="p"/>
                      </m:rPr>
                      <a:rPr lang="en-US" sz="1800" b="0" i="0" dirty="0" smtClean="0">
                        <a:solidFill>
                          <a:srgbClr val="202020"/>
                        </a:solidFill>
                      </a:rPr>
                      <m:t>Lux</m:t>
                    </m:r>
                  </m:oMath>
                </a14:m>
                <a:r>
                  <a:rPr sz="1800" dirty="0">
                    <a:solidFill>
                      <a:srgbClr val="202020"/>
                    </a:solidFill>
                  </a:rPr>
                  <a:t>).</a:t>
                </a:r>
              </a:p>
              <a:p>
                <a:pPr marL="274320" indent="-228600" algn="l">
                  <a:spcBef>
                    <a:spcPts val="800"/>
                  </a:spcBef>
                  <a:spcAft>
                    <a:spcPts val="800"/>
                  </a:spcAft>
                  <a:buFont typeface="Arial"/>
                  <a:buChar char="•"/>
                </a:pPr>
                <a:r>
                  <a:rPr sz="1800" dirty="0">
                    <a:solidFill>
                      <a:srgbClr val="202020"/>
                    </a:solidFill>
                  </a:rPr>
                  <a:t>Method:  Record steady-state intensity at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=0, 10, 20, 30, 40, 50 </m:t>
                    </m:r>
                    <m:r>
                      <m:rPr>
                        <m:sty m:val="p"/>
                      </m:rPr>
                      <a:rPr lang="en-US" sz="1800" i="0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sz="1800" dirty="0">
                    <a:solidFill>
                      <a:srgbClr val="202020"/>
                    </a:solidFill>
                  </a:rPr>
                  <a:t>; record background with light off.</a:t>
                </a:r>
              </a:p>
              <a:p>
                <a:pPr marL="274320" indent="-228600" algn="l">
                  <a:spcBef>
                    <a:spcPts val="800"/>
                  </a:spcBef>
                  <a:spcAft>
                    <a:spcPts val="800"/>
                  </a:spcAft>
                  <a:buFont typeface="Arial"/>
                  <a:buChar char="•"/>
                </a:pPr>
                <a:r>
                  <a:rPr sz="1800" dirty="0">
                    <a:solidFill>
                      <a:srgbClr val="202020"/>
                    </a:solidFill>
                  </a:rPr>
                  <a:t>Analysis:  Subtract background, fit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202020"/>
                        </a:solidFill>
                      </a:rPr>
                      <m:t>𝐼</m:t>
                    </m:r>
                    <m:r>
                      <a:rPr lang="en-US" sz="1800" b="0" i="1" dirty="0" smtClean="0">
                        <a:solidFill>
                          <a:srgbClr val="202020"/>
                        </a:solidFill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202020"/>
                        </a:solidFill>
                      </a:rPr>
                      <m:t>𝑟</m:t>
                    </m:r>
                    <m:r>
                      <a:rPr lang="en-US" sz="1800" b="0" i="1" dirty="0" smtClean="0">
                        <a:solidFill>
                          <a:srgbClr val="202020"/>
                        </a:solidFill>
                      </a:rPr>
                      <m:t>)</m:t>
                    </m:r>
                  </m:oMath>
                </a14:m>
                <a:r>
                  <a:rPr sz="1800" dirty="0">
                    <a:solidFill>
                      <a:srgbClr val="202020"/>
                    </a:solidFill>
                  </a:rPr>
                  <a:t>, and verify that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202020"/>
                        </a:solidFill>
                      </a:rPr>
                      <m:t>4</m:t>
                    </m:r>
                    <m:r>
                      <a:rPr lang="en-US" sz="1800" b="0" i="1" dirty="0" smtClean="0">
                        <a:solidFill>
                          <a:srgbClr val="202020"/>
                        </a:solidFill>
                      </a:rPr>
                      <m:t>𝜋</m:t>
                    </m:r>
                    <m:r>
                      <a:rPr lang="en-US" sz="1800" b="0" i="1" dirty="0" smtClean="0">
                        <a:solidFill>
                          <a:srgbClr val="202020"/>
                        </a:solidFill>
                      </a:rPr>
                      <m:t>𝐸𝑟</m:t>
                    </m:r>
                    <m:r>
                      <a:rPr lang="en-US" sz="1800" b="0" i="1" dirty="0" smtClean="0">
                        <a:solidFill>
                          <a:srgbClr val="202020"/>
                        </a:solidFill>
                      </a:rPr>
                      <m:t>²</m:t>
                    </m:r>
                  </m:oMath>
                </a14:m>
                <a:r>
                  <a:rPr sz="1800" dirty="0">
                    <a:solidFill>
                      <a:srgbClr val="202020"/>
                    </a:solidFill>
                  </a:rPr>
                  <a:t> is constant across distance.</a:t>
                </a:r>
              </a:p>
              <a:p>
                <a:pPr marL="274320" indent="-228600" algn="l">
                  <a:spcBef>
                    <a:spcPts val="800"/>
                  </a:spcBef>
                  <a:spcAft>
                    <a:spcPts val="800"/>
                  </a:spcAft>
                  <a:buFont typeface="Arial"/>
                  <a:buChar char="•"/>
                </a:pPr>
                <a:r>
                  <a:rPr sz="1800" dirty="0">
                    <a:solidFill>
                      <a:srgbClr val="202020"/>
                    </a:solidFill>
                  </a:rPr>
                  <a:t>Expected: 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202020"/>
                        </a:solidFill>
                      </a:rPr>
                      <m:t>𝐼</m:t>
                    </m:r>
                    <m:r>
                      <a:rPr lang="en-US" sz="1800" i="1" dirty="0" smtClean="0">
                        <a:solidFill>
                          <a:srgbClr val="202020"/>
                        </a:solidFill>
                      </a:rPr>
                      <m:t> ∝ 1/</m:t>
                    </m:r>
                    <m:r>
                      <a:rPr lang="en-US" sz="1800" i="1" dirty="0" smtClean="0">
                        <a:solidFill>
                          <a:srgbClr val="202020"/>
                        </a:solidFill>
                      </a:rPr>
                      <m:t>𝑟</m:t>
                    </m:r>
                    <m:r>
                      <a:rPr lang="en-US" sz="1800" i="1" dirty="0" smtClean="0">
                        <a:solidFill>
                          <a:srgbClr val="202020"/>
                        </a:solidFill>
                      </a:rPr>
                      <m:t>²</m:t>
                    </m:r>
                  </m:oMath>
                </a14:m>
                <a:r>
                  <a:rPr sz="1800" dirty="0">
                    <a:solidFill>
                      <a:srgbClr val="202020"/>
                    </a:solidFill>
                  </a:rPr>
                  <a:t>; the recovered “power”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202020"/>
                        </a:solidFill>
                      </a:rPr>
                      <m:t>𝑃</m:t>
                    </m:r>
                    <m:r>
                      <a:rPr lang="en-US" sz="1800" i="1" dirty="0" smtClean="0">
                        <a:solidFill>
                          <a:srgbClr val="202020"/>
                        </a:solidFill>
                      </a:rPr>
                      <m:t> = 4</m:t>
                    </m:r>
                    <m:r>
                      <a:rPr lang="en-US" sz="1800" i="1" dirty="0" smtClean="0">
                        <a:solidFill>
                          <a:srgbClr val="202020"/>
                        </a:solidFill>
                      </a:rPr>
                      <m:t>𝜋</m:t>
                    </m:r>
                    <m:r>
                      <a:rPr lang="en-US" sz="1800" i="1" dirty="0" smtClean="0">
                        <a:solidFill>
                          <a:srgbClr val="202020"/>
                        </a:solidFill>
                      </a:rPr>
                      <m:t>𝑏</m:t>
                    </m:r>
                  </m:oMath>
                </a14:m>
                <a:r>
                  <a:rPr sz="1800" dirty="0">
                    <a:solidFill>
                      <a:srgbClr val="202020"/>
                    </a:solidFill>
                  </a:rPr>
                  <a:t> should be consistent within uncertainty.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2423160"/>
                <a:ext cx="10972800" cy="2261132"/>
              </a:xfrm>
              <a:prstGeom prst="rect">
                <a:avLst/>
              </a:prstGeom>
              <a:blipFill>
                <a:blip r:embed="rId3"/>
                <a:stretch>
                  <a:fillRect l="-333" t="-2162" b="-4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47120" cy="777240"/>
          </a:xfrm>
        </p:spPr>
        <p:txBody>
          <a:bodyPr tIns="18288" bIns="18288"/>
          <a:lstStyle/>
          <a:p>
            <a:r>
              <a:rPr sz="3200" dirty="0">
                <a:solidFill>
                  <a:srgbClr val="202020"/>
                </a:solidFill>
              </a:rPr>
              <a:t>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23512" y="1918079"/>
                <a:ext cx="10623792" cy="3865032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>
                <a:spAutoFit/>
              </a:bodyPr>
              <a:lstStyle/>
              <a:p>
                <a:pPr marL="274320" indent="-228600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dirty="0">
                    <a:solidFill>
                      <a:srgbClr val="202020"/>
                    </a:solidFill>
                  </a:rPr>
                  <a:t>Run 1 (light ON): hold sensor at each distance until plateau, record ~100–200 samples.</a:t>
                </a:r>
              </a:p>
              <a:p>
                <a:pPr marL="274320" indent="-228600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dirty="0">
                    <a:solidFill>
                      <a:srgbClr val="202020"/>
                    </a:solidFill>
                  </a:rPr>
                  <a:t>Run 2 (light OFF): record ~1670 background samples.</a:t>
                </a:r>
              </a:p>
              <a:p>
                <a:pPr marL="274320" indent="-228600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dirty="0">
                    <a:solidFill>
                      <a:srgbClr val="202020"/>
                    </a:solidFill>
                  </a:rPr>
                  <a:t>For each plateau: compute mean and standard deviation</a:t>
                </a:r>
              </a:p>
              <a:p>
                <a:pPr marL="274320" indent="-228600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dirty="0">
                    <a:solidFill>
                      <a:srgbClr val="202020"/>
                    </a:solidFill>
                  </a:rPr>
                  <a:t>Subtract the background mean from each plateau mean</a:t>
                </a:r>
              </a:p>
              <a:p>
                <a:pPr marL="274320" indent="-228600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dirty="0">
                    <a:solidFill>
                      <a:srgbClr val="202020"/>
                    </a:solidFill>
                  </a:rPr>
                  <a:t>Combine type A (statistical) + type B (sensor scale, rectangular PDF) in quadrature:</a:t>
                </a:r>
                <a:endParaRPr lang="en-US" dirty="0">
                  <a:solidFill>
                    <a:srgbClr val="202020"/>
                  </a:solidFill>
                </a:endParaRPr>
              </a:p>
              <a:p>
                <a:pPr marL="4572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202020"/>
                              </a:solidFill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02020"/>
                              </a:solidFill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02020"/>
                              </a:solidFill>
                            </a:rPr>
                            <m:t>𝐸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02020"/>
                          </a:solidFill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202020"/>
                              </a:solidFill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202020"/>
                                  </a:solidFill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202020"/>
                                  </a:solidFill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02020"/>
                                  </a:solidFill>
                                </a:rPr>
                                <m:t>𝑝𝑙𝑎𝑡𝑢𝑒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rgbClr val="202020"/>
                                  </a:solidFill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solidFill>
                                <a:srgbClr val="202020"/>
                              </a:solidFill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202020"/>
                                  </a:solidFill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202020"/>
                                  </a:solidFill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02020"/>
                                  </a:solidFill>
                                </a:rPr>
                                <m:t>𝑏𝑔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rgbClr val="202020"/>
                                  </a:solidFill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solidFill>
                                <a:srgbClr val="202020"/>
                              </a:solidFill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202020"/>
                                  </a:solidFill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202020"/>
                                      </a:solidFill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skw"/>
                                      <m:ctrlPr>
                                        <a:rPr lang="en-US" b="0" i="1" smtClean="0">
                                          <a:solidFill>
                                            <a:srgbClr val="20202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20202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20202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20202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𝑟𝑒𝑠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i="1">
                                              <a:solidFill>
                                                <a:srgbClr val="20202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20202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202020"/>
                                  </a:solidFill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202020"/>
                  </a:solidFill>
                </a:endParaRPr>
              </a:p>
              <a:p>
                <a:pPr marL="274320" indent="-228600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lang="en-US" dirty="0">
                    <a:solidFill>
                      <a:srgbClr val="202020"/>
                    </a:solidFill>
                  </a:rPr>
                  <a:t>Fit 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202020"/>
                        </a:solidFill>
                      </a:rPr>
                      <m:t>𝐼</m:t>
                    </m:r>
                    <m:r>
                      <a:rPr lang="en-US" i="1" dirty="0">
                        <a:solidFill>
                          <a:srgbClr val="202020"/>
                        </a:solidFill>
                      </a:rPr>
                      <m:t>(</m:t>
                    </m:r>
                    <m:r>
                      <a:rPr lang="en-US" i="1" dirty="0">
                        <a:solidFill>
                          <a:srgbClr val="202020"/>
                        </a:solidFill>
                      </a:rPr>
                      <m:t>𝑟</m:t>
                    </m:r>
                    <m:r>
                      <a:rPr lang="en-US" i="1" dirty="0">
                        <a:solidFill>
                          <a:srgbClr val="202020"/>
                        </a:solidFill>
                      </a:rPr>
                      <m:t>) = </m:t>
                    </m:r>
                    <m:r>
                      <a:rPr lang="en-US" i="1" dirty="0">
                        <a:solidFill>
                          <a:srgbClr val="202020"/>
                        </a:solidFill>
                      </a:rPr>
                      <m:t>𝑏</m:t>
                    </m:r>
                    <m:r>
                      <a:rPr lang="en-US" i="1" dirty="0">
                        <a:solidFill>
                          <a:srgbClr val="202020"/>
                        </a:solidFill>
                      </a:rPr>
                      <m:t>/(</m:t>
                    </m:r>
                    <m:r>
                      <a:rPr lang="en-US" i="1" dirty="0">
                        <a:solidFill>
                          <a:srgbClr val="202020"/>
                        </a:solidFill>
                      </a:rPr>
                      <m:t>𝑟</m:t>
                    </m:r>
                    <m:r>
                      <a:rPr lang="en-US" i="1" dirty="0">
                        <a:solidFill>
                          <a:srgbClr val="202020"/>
                        </a:solidFill>
                      </a:rPr>
                      <m:t> + </m:t>
                    </m:r>
                    <m:r>
                      <a:rPr lang="en-US" i="1" dirty="0">
                        <a:solidFill>
                          <a:srgbClr val="202020"/>
                        </a:solidFill>
                      </a:rPr>
                      <m:t>𝑟</m:t>
                    </m:r>
                    <m:r>
                      <a:rPr lang="en-US" i="1" dirty="0">
                        <a:solidFill>
                          <a:srgbClr val="202020"/>
                        </a:solidFill>
                      </a:rPr>
                      <m:t>₀)² ⇒ </m:t>
                    </m:r>
                  </m:oMath>
                </a14:m>
                <a:r>
                  <a:rPr lang="en-US" dirty="0">
                    <a:solidFill>
                      <a:srgbClr val="202020"/>
                    </a:solidFill>
                  </a:rPr>
                  <a:t>  recover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202020"/>
                        </a:solidFill>
                      </a:rPr>
                      <m:t>𝑃</m:t>
                    </m:r>
                    <m:r>
                      <a:rPr lang="en-US" i="1" dirty="0">
                        <a:solidFill>
                          <a:srgbClr val="202020"/>
                        </a:solidFill>
                      </a:rPr>
                      <m:t> = 4</m:t>
                    </m:r>
                    <m:r>
                      <a:rPr lang="en-US" i="1" dirty="0">
                        <a:solidFill>
                          <a:srgbClr val="202020"/>
                        </a:solidFill>
                      </a:rPr>
                      <m:t>𝜋</m:t>
                    </m:r>
                    <m:r>
                      <a:rPr lang="en-US" i="1" dirty="0">
                        <a:solidFill>
                          <a:srgbClr val="202020"/>
                        </a:solidFill>
                      </a:rPr>
                      <m:t>𝑏</m:t>
                    </m:r>
                  </m:oMath>
                </a14:m>
                <a:endParaRPr lang="en-US" dirty="0">
                  <a:solidFill>
                    <a:srgbClr val="202020"/>
                  </a:solidFill>
                </a:endParaRPr>
              </a:p>
              <a:p>
                <a:pPr marL="274320" indent="-228600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lang="en-US" dirty="0">
                    <a:solidFill>
                      <a:srgbClr val="202020"/>
                    </a:solidFill>
                  </a:rPr>
                  <a:t>Check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 dirty="0">
                            <a:solidFill>
                              <a:srgbClr val="202020"/>
                            </a:solidFill>
                          </a:rPr>
                        </m:ctrlPr>
                      </m:sSupPr>
                      <m:e>
                        <m:r>
                          <a:rPr lang="ar-AE" i="1" dirty="0">
                            <a:solidFill>
                              <a:srgbClr val="202020"/>
                            </a:solidFill>
                          </a:rPr>
                          <m:t>𝜒</m:t>
                        </m:r>
                      </m:e>
                      <m:sup>
                        <m:r>
                          <a:rPr lang="ar-AE" i="1" dirty="0">
                            <a:solidFill>
                              <a:srgbClr val="202020"/>
                            </a:solidFill>
                          </a:rPr>
                          <m:t>2</m:t>
                        </m:r>
                      </m:sup>
                    </m:sSup>
                    <m:r>
                      <m:rPr>
                        <m:lit/>
                      </m:rPr>
                      <a:rPr lang="ar-AE" i="1" dirty="0">
                        <a:solidFill>
                          <a:srgbClr val="202020"/>
                        </a:solidFill>
                      </a:rPr>
                      <m:t>/</m:t>
                    </m:r>
                    <m:r>
                      <a:rPr lang="ar-AE" i="1" dirty="0">
                        <a:solidFill>
                          <a:srgbClr val="202020"/>
                        </a:solidFill>
                      </a:rPr>
                      <m:t>𝜈</m:t>
                    </m:r>
                  </m:oMath>
                </a14:m>
                <a:r>
                  <a:rPr lang="ar-AE" dirty="0">
                    <a:solidFill>
                      <a:srgbClr val="202020"/>
                    </a:solidFill>
                  </a:rPr>
                  <a:t>, </a:t>
                </a:r>
                <a:r>
                  <a:rPr lang="en-US" dirty="0">
                    <a:solidFill>
                      <a:srgbClr val="202020"/>
                    </a:solidFill>
                  </a:rPr>
                  <a:t>then cross-check that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202020"/>
                        </a:solidFill>
                      </a:rPr>
                      <m:t>4</m:t>
                    </m:r>
                    <m:r>
                      <a:rPr lang="en-US" i="1" dirty="0">
                        <a:solidFill>
                          <a:srgbClr val="202020"/>
                        </a:solidFill>
                      </a:rPr>
                      <m:t>𝜋</m:t>
                    </m:r>
                    <m:r>
                      <a:rPr lang="en-US" i="1" dirty="0">
                        <a:solidFill>
                          <a:srgbClr val="202020"/>
                        </a:solidFill>
                      </a:rPr>
                      <m:t>·</m:t>
                    </m:r>
                    <m:r>
                      <a:rPr lang="en-US" i="1" dirty="0">
                        <a:solidFill>
                          <a:srgbClr val="202020"/>
                        </a:solidFill>
                      </a:rPr>
                      <m:t>𝐸</m:t>
                    </m:r>
                    <m:r>
                      <a:rPr lang="en-US" i="1" dirty="0">
                        <a:solidFill>
                          <a:srgbClr val="202020"/>
                        </a:solidFill>
                      </a:rPr>
                      <m:t>·</m:t>
                    </m:r>
                    <m:sSubSup>
                      <m:sSubSupPr>
                        <m:ctrlPr>
                          <a:rPr lang="ar-AE" i="1" dirty="0">
                            <a:solidFill>
                              <a:srgbClr val="202020"/>
                            </a:solidFill>
                          </a:rPr>
                        </m:ctrlPr>
                      </m:sSubSupPr>
                      <m:e>
                        <m:r>
                          <a:rPr lang="ar-AE" i="1" dirty="0">
                            <a:solidFill>
                              <a:srgbClr val="202020"/>
                            </a:solidFill>
                          </a:rPr>
                          <m:t>𝑟</m:t>
                        </m:r>
                      </m:e>
                      <m:sub>
                        <m:r>
                          <a:rPr lang="ar-AE" i="1" dirty="0">
                            <a:solidFill>
                              <a:srgbClr val="202020"/>
                            </a:solidFill>
                          </a:rPr>
                          <m:t>𝑒𝑓𝑓</m:t>
                        </m:r>
                      </m:sub>
                      <m:sup>
                        <m:r>
                          <a:rPr lang="ar-AE" i="1" dirty="0">
                            <a:solidFill>
                              <a:srgbClr val="202020"/>
                            </a:solidFill>
                          </a:rPr>
                          <m:t>2</m:t>
                        </m:r>
                      </m:sup>
                    </m:sSubSup>
                  </m:oMath>
                </a14:m>
                <a:r>
                  <a:rPr lang="ar-AE" dirty="0">
                    <a:solidFill>
                      <a:srgbClr val="202020"/>
                    </a:solidFill>
                  </a:rPr>
                  <a:t> </a:t>
                </a:r>
                <a:r>
                  <a:rPr lang="en-US" dirty="0">
                    <a:solidFill>
                      <a:srgbClr val="202020"/>
                    </a:solidFill>
                  </a:rPr>
                  <a:t>is constant across distance.</a:t>
                </a:r>
                <a:endParaRPr lang="en-US" b="0" dirty="0">
                  <a:solidFill>
                    <a:srgbClr val="202020"/>
                  </a:solidFill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512" y="1918079"/>
                <a:ext cx="10623792" cy="3865032"/>
              </a:xfrm>
              <a:prstGeom prst="rect">
                <a:avLst/>
              </a:prstGeom>
              <a:blipFill>
                <a:blip r:embed="rId2"/>
                <a:stretch>
                  <a:fillRect l="-344" t="-1420" b="-1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47120" cy="777240"/>
          </a:xfrm>
        </p:spPr>
        <p:txBody>
          <a:bodyPr tIns="18288" bIns="18288"/>
          <a:lstStyle/>
          <a:p>
            <a:r>
              <a:rPr sz="3200" dirty="0">
                <a:solidFill>
                  <a:srgbClr val="202020"/>
                </a:solidFill>
              </a:rPr>
              <a:t>Data and Measurements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 i="1" dirty="0">
                <a:solidFill>
                  <a:srgbClr val="555555"/>
                </a:solidFill>
                <a:latin typeface="Calibri"/>
              </a:rPr>
              <a:t>Plateau means (Run 1) and standard deviations at each distance, with background subtracted (mean of Run 2 = 0.0969%).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199710"/>
                  </p:ext>
                </p:extLst>
              </p:nvPr>
            </p:nvGraphicFramePr>
            <p:xfrm>
              <a:off x="731520" y="1691640"/>
              <a:ext cx="10698480" cy="310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801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441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r>
                            <a:rPr sz="1600" b="1" dirty="0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 (cm)</a:t>
                          </a:r>
                        </a:p>
                      </a:txBody>
                      <a:tcPr>
                        <a:solidFill>
                          <a:srgbClr val="1F4E7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oMath>
                            </m:oMathPara>
                          </a14:m>
                          <a:endParaRPr sz="1600" b="1" dirty="0">
                            <a:solidFill>
                              <a:srgbClr val="FFFFFF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1F4E7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𝒎𝒆𝒂𝒏</m:t>
                              </m:r>
                              <m:r>
                                <a:rPr lang="en-US" sz="16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  <m:r>
                                <a:rPr lang="en-US" sz="16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sz="1600" b="1" dirty="0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(%)</a:t>
                          </a:r>
                        </a:p>
                      </a:txBody>
                      <a:tcPr>
                        <a:solidFill>
                          <a:srgbClr val="1F4E7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00" b="1" dirty="0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std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  <m:r>
                                <a:rPr lang="en-US" sz="16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sz="1600" b="1" dirty="0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(%)</a:t>
                          </a:r>
                        </a:p>
                      </a:txBody>
                      <a:tcPr>
                        <a:solidFill>
                          <a:srgbClr val="1F4E7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𝒎𝒆𝒂𝒏</m:t>
                              </m:r>
                              <m:r>
                                <a:rPr lang="en-US" sz="16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16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𝒃𝒈</m:t>
                              </m:r>
                              <m:r>
                                <a:rPr lang="en-US" sz="16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sz="1600" b="1" dirty="0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(%)</a:t>
                          </a:r>
                        </a:p>
                      </a:txBody>
                      <a:tcPr>
                        <a:solidFill>
                          <a:srgbClr val="1F4E7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41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dirty="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194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96.2586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0.00918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96.1616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441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dirty="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117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44.7323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0.02925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dirty="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44.6354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41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dirty="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dirty="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155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16.1137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0.01200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16.0167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441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30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dirty="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206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8.2426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0.00304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8.1457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441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198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dirty="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5.0189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0.00568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4.9220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441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50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201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3.3788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dirty="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0.02726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dirty="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3.2819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199710"/>
                  </p:ext>
                </p:extLst>
              </p:nvPr>
            </p:nvGraphicFramePr>
            <p:xfrm>
              <a:off x="731520" y="1691640"/>
              <a:ext cx="10698480" cy="310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801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441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33" t="-2740" r="-633333" b="-6027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5238" t="-2740" r="-623810" b="-6027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5897" t="-2740" r="-235897" b="-6027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5897" t="-2740" r="-135897" b="-6027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667" t="-2740" r="-952" b="-6027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41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dirty="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194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96.2586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0.00918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96.1616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441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dirty="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117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44.7323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0.02925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dirty="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44.6354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41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dirty="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dirty="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155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16.1137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0.01200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16.0167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441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30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dirty="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206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8.2426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0.00304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8.1457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441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198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dirty="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5.0189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0.00568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4.9220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441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50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201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3.3788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dirty="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0.02726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dirty="0">
                              <a:solidFill>
                                <a:srgbClr val="202020"/>
                              </a:solidFill>
                              <a:latin typeface="+mn-lt"/>
                            </a:rPr>
                            <a:t>3.2819</a:t>
                          </a:r>
                        </a:p>
                      </a:txBody>
                      <a:tcPr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731520" y="4983480"/>
                <a:ext cx="10698480" cy="927177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>
                <a:spAutoFit/>
              </a:bodyPr>
              <a:lstStyle/>
              <a:p>
                <a:pPr algn="l">
                  <a:spcBef>
                    <a:spcPts val="400"/>
                  </a:spcBef>
                  <a:spcAft>
                    <a:spcPts val="400"/>
                  </a:spcAft>
                </a:pPr>
                <a:r>
                  <a:rPr sz="1400" b="0" i="0" dirty="0">
                    <a:solidFill>
                      <a:srgbClr val="202020"/>
                    </a:solidFill>
                  </a:rPr>
                  <a:t>Background (Run 2): 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1669</m:t>
                    </m:r>
                  </m:oMath>
                </a14:m>
                <a:r>
                  <a:rPr sz="1400" b="0" i="0" dirty="0">
                    <a:solidFill>
                      <a:srgbClr val="20202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ean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0969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%,</m:t>
                    </m:r>
                  </m:oMath>
                </a14:m>
                <a:r>
                  <a:rPr sz="1400" b="0" i="0" dirty="0">
                    <a:solidFill>
                      <a:srgbClr val="20202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0012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%  </m:t>
                    </m:r>
                  </m:oMath>
                </a14:m>
                <a:r>
                  <a:rPr sz="1400" b="0" i="0" dirty="0">
                    <a:solidFill>
                      <a:srgbClr val="202020"/>
                    </a:solidFill>
                  </a:rPr>
                  <a:t>(Gaussian).</a:t>
                </a:r>
              </a:p>
              <a:p>
                <a:pPr algn="l">
                  <a:spcBef>
                    <a:spcPts val="400"/>
                  </a:spcBef>
                  <a:spcAft>
                    <a:spcPts val="400"/>
                  </a:spcAft>
                </a:pPr>
                <a:r>
                  <a:rPr sz="1400" b="0" i="0" dirty="0">
                    <a:solidFill>
                      <a:srgbClr val="202020"/>
                    </a:solidFill>
                  </a:rPr>
                  <a:t>Distance uncertainty: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1400" b="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400" b="0" i="0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mm</m:t>
                    </m:r>
                    <m:r>
                      <m:rPr>
                        <m:lit/>
                      </m:rPr>
                      <a:rPr lang="en-US" sz="1400" b="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US" sz="1400" b="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400" b="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US" sz="1400" b="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400" b="0" i="0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mm</m:t>
                    </m:r>
                  </m:oMath>
                </a14:m>
                <a:r>
                  <a:rPr sz="1400" b="0" i="0" dirty="0">
                    <a:solidFill>
                      <a:srgbClr val="202020"/>
                    </a:solidFill>
                  </a:rPr>
                  <a:t> (rectangular PDF; ruler resolution + endpoint).</a:t>
                </a:r>
              </a:p>
              <a:p>
                <a:pPr algn="l">
                  <a:spcBef>
                    <a:spcPts val="400"/>
                  </a:spcBef>
                  <a:spcAft>
                    <a:spcPts val="400"/>
                  </a:spcAft>
                </a:pPr>
                <a:r>
                  <a:rPr sz="1400" b="0" i="0" dirty="0">
                    <a:solidFill>
                      <a:srgbClr val="202020"/>
                    </a:solidFill>
                  </a:rPr>
                  <a:t>Sensor resolution</a:t>
                </a:r>
                <a:r>
                  <a:rPr lang="en-US" sz="1400" b="0" i="0" dirty="0">
                    <a:solidFill>
                      <a:srgbClr val="20202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𝑟𝑒𝑠</m:t>
                        </m:r>
                      </m:sub>
                    </m:sSub>
                  </m:oMath>
                </a14:m>
                <a:r>
                  <a:rPr sz="1400" b="0" i="0" dirty="0">
                    <a:solidFill>
                      <a:srgbClr val="202020"/>
                    </a:solidFill>
                  </a:rPr>
                  <a:t>: 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⁻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⁶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400" b="0" i="0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Lux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400" b="0" i="0" dirty="0">
                    <a:solidFill>
                      <a:srgbClr val="202020"/>
                    </a:solidFill>
                  </a:rPr>
                  <a:t>(rectangular PDF) — negligible vs plateau std.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4983480"/>
                <a:ext cx="10698480" cy="927177"/>
              </a:xfrm>
              <a:prstGeom prst="rect">
                <a:avLst/>
              </a:prstGeom>
              <a:blipFill>
                <a:blip r:embed="rId3"/>
                <a:stretch>
                  <a:fillRect l="-570" t="-2632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47120" cy="777240"/>
          </a:xfrm>
        </p:spPr>
        <p:txBody>
          <a:bodyPr tIns="18288" bIns="18288"/>
          <a:lstStyle/>
          <a:p>
            <a:r>
              <a:rPr sz="3200" dirty="0">
                <a:solidFill>
                  <a:srgbClr val="202020"/>
                </a:solidFill>
              </a:rPr>
              <a:t>Per-Distance Distributions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8784180" y="1815422"/>
                <a:ext cx="3200400" cy="3625608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>
                <a:spAutoFit/>
              </a:bodyPr>
              <a:lstStyle/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sz="1400" b="0" dirty="0">
                    <a:solidFill>
                      <a:srgbClr val="202020"/>
                    </a:solidFill>
                  </a:rPr>
                  <a:t>Each plateau yields one mean and one standard deviation.</a:t>
                </a: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sz="1400" b="0" dirty="0">
                    <a:solidFill>
                      <a:srgbClr val="202020"/>
                    </a:solidFill>
                  </a:rPr>
                  <a:t>Histograms peak around the mean and span a finite range.</a:t>
                </a: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sz="1400" b="0" dirty="0">
                    <a:solidFill>
                      <a:srgbClr val="202020"/>
                    </a:solidFill>
                  </a:rPr>
                  <a:t>Approximately Gaussian shape — normal PDF justified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solidFill>
                              <a:srgbClr val="202020"/>
                            </a:solidFill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202020"/>
                            </a:solidFill>
                          </a:rPr>
                          <m:t>𝜎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rgbClr val="202020"/>
                            </a:solidFill>
                          </a:rPr>
                          <m:t>𝐸</m:t>
                        </m:r>
                      </m:sub>
                    </m:sSub>
                  </m:oMath>
                </a14:m>
                <a:endParaRPr sz="1400" b="0" dirty="0">
                  <a:solidFill>
                    <a:srgbClr val="202020"/>
                  </a:solidFill>
                </a:endParaRP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sz="1400" b="0" dirty="0">
                    <a:solidFill>
                      <a:srgbClr val="202020"/>
                    </a:solidFill>
                  </a:rPr>
                  <a:t>Plateau std is the dominant (type A) contribution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solidFill>
                              <a:srgbClr val="202020"/>
                            </a:solidFill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202020"/>
                            </a:solidFill>
                          </a:rPr>
                          <m:t>𝜎</m:t>
                        </m:r>
                      </m:e>
                      <m:sub>
                        <m:r>
                          <a:rPr lang="en-US" sz="1400" b="0" i="1" dirty="0" err="1" smtClean="0">
                            <a:solidFill>
                              <a:srgbClr val="202020"/>
                            </a:solidFill>
                          </a:rPr>
                          <m:t>𝐸</m:t>
                        </m:r>
                      </m:sub>
                    </m:sSub>
                  </m:oMath>
                </a14:m>
                <a:endParaRPr sz="1400" b="0" dirty="0">
                  <a:solidFill>
                    <a:srgbClr val="202020"/>
                  </a:solidFill>
                </a:endParaRP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sz="1400" b="0" dirty="0">
                    <a:solidFill>
                      <a:srgbClr val="202020"/>
                    </a:solidFill>
                  </a:rPr>
                  <a:t>Background and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1 µ</m:t>
                    </m:r>
                    <m:r>
                      <m:rPr>
                        <m:sty m:val="p"/>
                      </m:rPr>
                      <a:rPr lang="en-US" sz="1400" b="0" i="0" dirty="0" smtClean="0">
                        <a:solidFill>
                          <a:srgbClr val="202020"/>
                        </a:solidFill>
                      </a:rPr>
                      <m:t>Lux</m:t>
                    </m:r>
                  </m:oMath>
                </a14:m>
                <a:r>
                  <a:rPr sz="1400" b="0" dirty="0">
                    <a:solidFill>
                      <a:srgbClr val="202020"/>
                    </a:solidFill>
                  </a:rPr>
                  <a:t> sensor resolution add negligibly in quadrature.</a:t>
                </a: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sz="1400" b="0" dirty="0">
                    <a:solidFill>
                      <a:srgbClr val="202020"/>
                    </a:solidFill>
                  </a:rPr>
                  <a:t>Standard deviations:</a:t>
                </a:r>
                <a:r>
                  <a:rPr lang="en-US" sz="1400" dirty="0">
                    <a:solidFill>
                      <a:srgbClr val="20202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0.003 – 0.029% </m:t>
                    </m:r>
                  </m:oMath>
                </a14:m>
                <a:r>
                  <a:rPr sz="1400" b="0" dirty="0">
                    <a:solidFill>
                      <a:srgbClr val="202020"/>
                    </a:solidFill>
                  </a:rPr>
                  <a:t>across the six distances.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4180" y="1815422"/>
                <a:ext cx="3200400" cy="3625608"/>
              </a:xfrm>
              <a:prstGeom prst="rect">
                <a:avLst/>
              </a:prstGeom>
              <a:blipFill>
                <a:blip r:embed="rId2"/>
                <a:stretch>
                  <a:fillRect l="-190" t="-672" r="-1143" b="-1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CFBED9E-512F-596A-C09C-0FD5DECDE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816" y="1483308"/>
            <a:ext cx="8449573" cy="4352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47120" cy="777240"/>
          </a:xfrm>
        </p:spPr>
        <p:txBody>
          <a:bodyPr tIns="18288" bIns="18288"/>
          <a:lstStyle/>
          <a:p>
            <a:r>
              <a:rPr sz="3200" dirty="0">
                <a:solidFill>
                  <a:srgbClr val="202020"/>
                </a:solidFill>
              </a:rPr>
              <a:t>Inverse-Square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1280160"/>
            <a:ext cx="4389120" cy="33239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800" b="1" i="0" dirty="0">
                <a:solidFill>
                  <a:srgbClr val="1F4E79"/>
                </a:solidFill>
                <a:latin typeface="Calibri"/>
              </a:rPr>
              <a:t>Fit form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589520" y="1645920"/>
                <a:ext cx="4434840" cy="4104200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>
                <a:spAutoFit/>
              </a:bodyPr>
              <a:lstStyle/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16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16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6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sz="16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6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₀</m:t>
                    </m:r>
                    <m:r>
                      <a:rPr lang="en-US" sz="16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6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²</m:t>
                    </m:r>
                    <m:r>
                      <a:rPr lang="en-US" sz="16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 ⇒ </m:t>
                    </m:r>
                  </m:oMath>
                </a14:m>
                <a:r>
                  <a:rPr lang="en-US" sz="1600" dirty="0">
                    <a:solidFill>
                      <a:srgbClr val="20202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6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6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6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1600" b="0" dirty="0">
                  <a:solidFill>
                    <a:srgbClr val="202020"/>
                  </a:solidFill>
                  <a:latin typeface="Calibri"/>
                </a:endParaRP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b="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₀</m:t>
                    </m:r>
                    <m:r>
                      <a:rPr lang="en-US" sz="1600" b="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1600" b="0" dirty="0">
                    <a:solidFill>
                      <a:srgbClr val="202020"/>
                    </a:solidFill>
                    <a:latin typeface="Calibri"/>
                  </a:rPr>
                  <a:t> offset between marked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6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600" b="0" dirty="0">
                    <a:solidFill>
                      <a:srgbClr val="202020"/>
                    </a:solidFill>
                    <a:latin typeface="Calibri"/>
                  </a:rPr>
                  <a:t> and the actual filament inside the bulb.</a:t>
                </a: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6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600" b="0" dirty="0">
                    <a:solidFill>
                      <a:srgbClr val="202020"/>
                    </a:solidFill>
                    <a:latin typeface="Calibri"/>
                  </a:rPr>
                  <a:t> excluded (sensor essentially at source — point-source </a:t>
                </a:r>
                <a:r>
                  <a:rPr sz="1600" b="0" dirty="0" err="1">
                    <a:solidFill>
                      <a:srgbClr val="202020"/>
                    </a:solidFill>
                    <a:latin typeface="Calibri"/>
                  </a:rPr>
                  <a:t>approx</a:t>
                </a:r>
                <a:r>
                  <a:rPr sz="1600" b="0" dirty="0">
                    <a:solidFill>
                      <a:srgbClr val="202020"/>
                    </a:solidFill>
                    <a:latin typeface="Calibri"/>
                  </a:rPr>
                  <a:t> fails).</a:t>
                </a: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sz="1600" b="0" dirty="0">
                    <a:solidFill>
                      <a:srgbClr val="202020"/>
                    </a:solidFill>
                    <a:latin typeface="Calibri"/>
                  </a:rPr>
                  <a:t>Reduced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𝜒</m:t>
                    </m:r>
                    <m:r>
                      <a:rPr lang="en-US" sz="16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sz="1600" b="0" dirty="0">
                    <a:solidFill>
                      <a:srgbClr val="202020"/>
                    </a:solidFill>
                    <a:latin typeface="Calibri"/>
                  </a:rPr>
                  <a:t>:</a:t>
                </a:r>
                <a:endParaRPr lang="en-US" sz="1600" b="0" dirty="0">
                  <a:solidFill>
                    <a:srgbClr val="202020"/>
                  </a:solidFill>
                  <a:latin typeface="Calibri"/>
                </a:endParaRPr>
              </a:p>
              <a:p>
                <a:pPr marL="4572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den>
                      </m:f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sz="1600" b="0" i="1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20202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solidFill>
                                            <a:srgbClr val="20202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20202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solidFill>
                                            <a:srgbClr val="20202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solidFill>
                                            <a:srgbClr val="20202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20202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̂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solidFill>
                                            <a:srgbClr val="20202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20202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rgbClr val="20202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solidFill>
                                    <a:srgbClr val="20202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20202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sz="1600" b="0" i="1" smtClean="0">
                                  <a:solidFill>
                                    <a:srgbClr val="20202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solidFill>
                                    <a:srgbClr val="20202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rgbClr val="20202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1600" b="0" dirty="0">
                  <a:solidFill>
                    <a:srgbClr val="202020"/>
                  </a:solidFill>
                  <a:latin typeface="Calibri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600" b="1" dirty="0">
                    <a:solidFill>
                      <a:srgbClr val="202020"/>
                    </a:solidFill>
                    <a:latin typeface="Calibri"/>
                  </a:rPr>
                  <a:t>Best-fit results:</a:t>
                </a:r>
              </a:p>
              <a:p>
                <a:pPr>
                  <a:spcBef>
                    <a:spcPts val="200"/>
                  </a:spcBef>
                  <a:spcAft>
                    <a:spcPts val="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600" i="1" dirty="0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600" i="1" dirty="0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</a:rPr>
                        <m:t>  = </m:t>
                      </m:r>
                      <m:r>
                        <a:rPr lang="en-US" sz="1600" i="1" dirty="0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600" i="1" dirty="0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i="1" dirty="0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</a:rPr>
                        <m:t>9932</m:t>
                      </m:r>
                      <m:r>
                        <a:rPr lang="en-US" sz="1600" i="1" dirty="0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</a:rPr>
                        <m:t> ± </m:t>
                      </m:r>
                      <m:r>
                        <a:rPr lang="en-US" sz="1600" i="1" dirty="0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600" i="1" dirty="0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i="1" dirty="0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</a:rPr>
                        <m:t>0008</m:t>
                      </m:r>
                      <m:r>
                        <a:rPr lang="en-US" sz="1600" i="1" dirty="0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</a:rPr>
                        <m:t>  %·</m:t>
                      </m:r>
                      <m:r>
                        <a:rPr lang="en-US" sz="1600" i="1" dirty="0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600" i="1" dirty="0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</a:rPr>
                        <m:t>²</m:t>
                      </m:r>
                    </m:oMath>
                  </m:oMathPara>
                </a14:m>
                <a:endParaRPr lang="en-US" sz="1600" dirty="0">
                  <a:solidFill>
                    <a:srgbClr val="202020"/>
                  </a:solidFill>
                  <a:latin typeface="Calibri"/>
                </a:endParaRPr>
              </a:p>
              <a:p>
                <a:pPr algn="ctr">
                  <a:spcBef>
                    <a:spcPts val="200"/>
                  </a:spcBef>
                  <a:spcAft>
                    <a:spcPts val="400"/>
                  </a:spcAft>
                </a:pPr>
                <a:r>
                  <a:rPr lang="en-US" sz="1600" dirty="0">
                    <a:solidFill>
                      <a:srgbClr val="202020"/>
                    </a:solidFill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91</m:t>
                    </m:r>
                    <m:r>
                      <a:rPr lang="en-US" sz="16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6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6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01</m:t>
                    </m:r>
                    <m:r>
                      <a:rPr lang="en-US" sz="1600" b="0" i="0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i="0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endParaRPr lang="en-US" sz="1600" dirty="0">
                  <a:solidFill>
                    <a:srgbClr val="202020"/>
                  </a:solidFill>
                  <a:latin typeface="Calibri"/>
                </a:endParaRPr>
              </a:p>
              <a:p>
                <a:pPr algn="ctr">
                  <a:spcBef>
                    <a:spcPts val="200"/>
                  </a:spcBef>
                  <a:spcAft>
                    <a:spcPts val="400"/>
                  </a:spcAft>
                </a:pPr>
                <a:r>
                  <a:rPr lang="en-US" sz="1600" dirty="0">
                    <a:solidFill>
                      <a:schemeClr val="tx1"/>
                    </a:solidFill>
                    <a:latin typeface="Calibri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 lang="en-US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den>
                    </m:f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85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en-US" sz="1600" dirty="0">
                  <a:solidFill>
                    <a:schemeClr val="tx1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9520" y="1645920"/>
                <a:ext cx="4434840" cy="4104200"/>
              </a:xfrm>
              <a:prstGeom prst="rect">
                <a:avLst/>
              </a:prstGeom>
              <a:blipFill>
                <a:blip r:embed="rId2"/>
                <a:stretch>
                  <a:fillRect l="-1786" t="-892" b="-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30C6B36-0AC5-A630-8589-894BEE74F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56" y="1033272"/>
            <a:ext cx="6977785" cy="5415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90F10F-54EF-632F-6D3A-19B42727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" name="Picture 2">
            <a:extLst>
              <a:ext uri="{FF2B5EF4-FFF2-40B4-BE49-F238E27FC236}">
                <a16:creationId xmlns:a16="http://schemas.microsoft.com/office/drawing/2014/main" id="{22790EC5-ACA7-4536-8066-B60199F3C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1044">
            <a:extLst>
              <a:ext uri="{FF2B5EF4-FFF2-40B4-BE49-F238E27FC236}">
                <a16:creationId xmlns:a16="http://schemas.microsoft.com/office/drawing/2014/main" id="{5F86BEAF-FD24-4827-AD37-6785EBC9C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046" name="Rectangle 1045">
            <a:extLst>
              <a:ext uri="{FF2B5EF4-FFF2-40B4-BE49-F238E27FC236}">
                <a16:creationId xmlns:a16="http://schemas.microsoft.com/office/drawing/2014/main" id="{4D4DD4CF-9732-4771-98FE-77886DC91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7" name="Picture 2">
            <a:extLst>
              <a:ext uri="{FF2B5EF4-FFF2-40B4-BE49-F238E27FC236}">
                <a16:creationId xmlns:a16="http://schemas.microsoft.com/office/drawing/2014/main" id="{0917E639-5738-4605-929E-122219831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24FC75D-515C-9830-8FCF-F30C02A544A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99304" y="226855"/>
                <a:ext cx="3352128" cy="869029"/>
              </a:xfr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r>
                  <a:rPr lang="en-US" sz="2400" dirty="0"/>
                  <a:t>Why include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24FC75D-515C-9830-8FCF-F30C02A544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99304" y="226855"/>
                <a:ext cx="3352128" cy="869029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4B0D42-49A8-AC79-B7DA-F8AB34ADD9A1}"/>
                  </a:ext>
                </a:extLst>
              </p:cNvPr>
              <p:cNvSpPr txBox="1"/>
              <p:nvPr/>
            </p:nvSpPr>
            <p:spPr>
              <a:xfrm>
                <a:off x="300148" y="1322740"/>
                <a:ext cx="4278832" cy="530840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/>
              <a:p>
                <a:pPr indent="-228600" defTabSz="914400">
                  <a:lnSpc>
                    <a:spcPct val="110000"/>
                  </a:lnSpc>
                  <a:spcAft>
                    <a:spcPts val="6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/>
                  <a:t>True distance form the source to sensor is </a:t>
                </a:r>
                <a14:m>
                  <m:oMath xmlns:m="http://schemas.openxmlformats.org/officeDocument/2006/math">
                    <m:r>
                      <a:rPr lang="en-US" sz="1400" b="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b="0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b="0" dirty="0"/>
                  <a:t> is the offset to be determined</a:t>
                </a:r>
              </a:p>
              <a:p>
                <a:pPr defTabSz="914400">
                  <a:lnSpc>
                    <a:spcPct val="110000"/>
                  </a:lnSpc>
                  <a:spcAft>
                    <a:spcPts val="600"/>
                  </a:spcAft>
                  <a:buClr>
                    <a:schemeClr val="tx1"/>
                  </a:buClr>
                </a:pPr>
                <a:r>
                  <a:rPr lang="en-US" sz="1400" dirty="0"/>
                  <a:t>It's the value that minimizes the weighted sum of squared residuals i.e., the fit that best balances all five data points (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40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400" i="0" dirty="0" smtClean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sz="1400" dirty="0"/>
                  <a:t>) given their individual uncertainties.</a:t>
                </a:r>
              </a:p>
              <a:p>
                <a:pPr defTabSz="914400">
                  <a:lnSpc>
                    <a:spcPct val="110000"/>
                  </a:lnSpc>
                  <a:spcAft>
                    <a:spcPts val="600"/>
                  </a:spcAft>
                  <a:buClr>
                    <a:schemeClr val="tx1"/>
                  </a:buClr>
                </a:pPr>
                <a:r>
                  <a:rPr lang="en-US" sz="1400" dirty="0"/>
                  <a:t>The uncertainty </a:t>
                </a:r>
                <a14:m>
                  <m:oMath xmlns:m="http://schemas.openxmlformats.org/officeDocument/2006/math">
                    <m:r>
                      <a:rPr lang="en-US" sz="1400" b="0"/>
                      <m:t>±</m:t>
                    </m:r>
                    <m:r>
                      <a:rPr lang="en-US" sz="1400" b="0" i="1"/>
                      <m:t>0</m:t>
                    </m:r>
                    <m:r>
                      <a:rPr lang="en-US" sz="1400" b="0"/>
                      <m:t>.</m:t>
                    </m:r>
                    <m:r>
                      <a:rPr lang="en-US" sz="1400" b="0" i="1"/>
                      <m:t>01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400" b="0" i="1" smtClean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sz="1400" dirty="0"/>
                  <a:t> comes from the covariance matrix that the fitter computes at the minimum quantifying the precision of the recovered parameter.</a:t>
                </a:r>
              </a:p>
              <a:p>
                <a:pPr defTabSz="914400">
                  <a:lnSpc>
                    <a:spcPct val="110000"/>
                  </a:lnSpc>
                  <a:spcAft>
                    <a:spcPts val="600"/>
                  </a:spcAft>
                  <a:buClr>
                    <a:schemeClr val="tx1"/>
                  </a:buClr>
                </a:pPr>
                <a:r>
                  <a:rPr lang="en-US" sz="1400" b="1" dirty="0"/>
                  <a:t>Evidence from data</a:t>
                </a:r>
              </a:p>
              <a:p>
                <a:pPr marL="285750" indent="-228600" defTabSz="914400">
                  <a:lnSpc>
                    <a:spcPct val="110000"/>
                  </a:lnSpc>
                  <a:spcAft>
                    <a:spcPts val="6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/>
                  <a:t>Fitting </a:t>
                </a:r>
                <a14:m>
                  <m:oMath xmlns:m="http://schemas.openxmlformats.org/officeDocument/2006/math">
                    <m:r>
                      <a:rPr lang="en-US" sz="1400" b="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lit/>
                      </m:rPr>
                      <a:rPr lang="en-US" sz="1400" b="0" i="1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14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dirty="0"/>
                  <a:t> gave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lit/>
                      </m:rPr>
                      <a:rPr lang="en-US" sz="1400" b="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131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773</m:t>
                    </m:r>
                  </m:oMath>
                </a14:m>
                <a:r>
                  <a:rPr lang="en-US" sz="1400" b="0" dirty="0"/>
                  <a:t> overestimating intensity at small distances and underestimating at large distances  </a:t>
                </a:r>
              </a:p>
              <a:p>
                <a:pPr marL="285750" indent="-228600" defTabSz="914400">
                  <a:lnSpc>
                    <a:spcPct val="110000"/>
                  </a:lnSpc>
                  <a:spcAft>
                    <a:spcPts val="6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/>
                  <a:t>Adding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dirty="0"/>
                  <a:t> as a free parameter dropped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lit/>
                      </m:rPr>
                      <a:rPr lang="en-US" sz="1400" b="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85</m:t>
                    </m:r>
                  </m:oMath>
                </a14:m>
                <a:endParaRPr lang="en-US" sz="1400" dirty="0"/>
              </a:p>
              <a:p>
                <a:pPr marL="285750" indent="-228600" defTabSz="914400">
                  <a:lnSpc>
                    <a:spcPct val="110000"/>
                  </a:lnSpc>
                  <a:spcAft>
                    <a:spcPts val="6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en-US" sz="1400" dirty="0"/>
              </a:p>
              <a:p>
                <a:pPr marL="57150" defTabSz="914400">
                  <a:lnSpc>
                    <a:spcPct val="110000"/>
                  </a:lnSpc>
                  <a:spcAft>
                    <a:spcPts val="600"/>
                  </a:spcAft>
                  <a:buClr>
                    <a:schemeClr val="tx1"/>
                  </a:buClr>
                </a:pPr>
                <a:r>
                  <a:rPr lang="en-US" sz="1400" dirty="0"/>
                  <a:t>Found using </a:t>
                </a:r>
                <a:r>
                  <a:rPr lang="en-US" sz="1400" dirty="0" err="1">
                    <a:highlight>
                      <a:srgbClr val="C0C0C0"/>
                    </a:highlight>
                    <a:latin typeface="Courier New" panose="02070309020205020404" pitchFamily="49" charset="0"/>
                    <a:cs typeface="Courier New" panose="02070309020205020404" pitchFamily="49" charset="0"/>
                  </a:rPr>
                  <a:t>scipy.optimize.curve_fit</a:t>
                </a:r>
                <a:r>
                  <a:rPr lang="en-US" sz="1400" dirty="0">
                    <a:highlight>
                      <a:srgbClr val="C0C0C0"/>
                    </a:highlight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  <a:r>
                  <a:rPr lang="en-US" sz="1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sz="1400" dirty="0">
                    <a:cs typeface="Courier New" panose="02070309020205020404" pitchFamily="49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14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4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14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4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sz="14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4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4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4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₀</m:t>
                    </m:r>
                    <m:r>
                      <a:rPr lang="en-US" sz="14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4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²</m:t>
                    </m:r>
                    <m:r>
                      <a:rPr lang="en-US" sz="14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cs typeface="Courier New" panose="02070309020205020404" pitchFamily="49" charset="0"/>
                  </a:rPr>
                  <a:t>and minimizing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1400" i="1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sub>
                      <m:sup>
                        <m:r>
                          <a:rPr lang="en-US" sz="1400" i="1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400" i="1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i="1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den>
                    </m:f>
                    <m:sSub>
                      <m:sSubPr>
                        <m:ctrlPr>
                          <a:rPr lang="en-US" sz="1400" i="1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1400" i="1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f>
                      <m:fPr>
                        <m:ctrlPr>
                          <a:rPr lang="en-US" sz="1400" i="1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400" i="1">
                                <a:solidFill>
                                  <a:srgbClr val="20202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>
                                    <a:solidFill>
                                      <a:srgbClr val="20202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rgbClr val="20202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rgbClr val="20202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rgbClr val="20202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solidFill>
                                      <a:srgbClr val="20202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i="1">
                                    <a:solidFill>
                                      <a:srgbClr val="202020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rgbClr val="20202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rgbClr val="20202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̂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rgbClr val="20202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400" i="1">
                                <a:solidFill>
                                  <a:srgbClr val="20202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sz="1400" i="1">
                                <a:solidFill>
                                  <a:srgbClr val="20202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>
                                <a:solidFill>
                                  <a:srgbClr val="20202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20202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sz="1400" i="1">
                                <a:solidFill>
                                  <a:srgbClr val="20202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i="1">
                                <a:solidFill>
                                  <a:srgbClr val="20202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400" i="1">
                                <a:solidFill>
                                  <a:srgbClr val="20202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1400" dirty="0">
                    <a:cs typeface="Courier New" panose="02070309020205020404" pitchFamily="49" charset="0"/>
                  </a:rPr>
                  <a:t>.</a:t>
                </a:r>
              </a:p>
              <a:p>
                <a:pPr marL="57150" defTabSz="914400">
                  <a:lnSpc>
                    <a:spcPct val="110000"/>
                  </a:lnSpc>
                  <a:spcAft>
                    <a:spcPts val="600"/>
                  </a:spcAft>
                  <a:buClr>
                    <a:schemeClr val="tx1"/>
                  </a:buClr>
                </a:pPr>
                <a:r>
                  <a:rPr lang="en-US" sz="1400" dirty="0">
                    <a:cs typeface="Courier New" panose="02070309020205020404" pitchFamily="49" charset="0"/>
                  </a:rPr>
                  <a:t>Varies both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𝑏</m:t>
                    </m:r>
                  </m:oMath>
                </a14:m>
                <a:r>
                  <a:rPr lang="en-US" sz="1400" b="0" dirty="0">
                    <a:cs typeface="Courier New" panose="02070309020205020404" pitchFamily="49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𝑟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b="0" dirty="0">
                    <a:cs typeface="Courier New" panose="02070309020205020404" pitchFamily="49" charset="0"/>
                  </a:rPr>
                  <a:t> simultaneously until it finds the smallest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𝜒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400" b="0" dirty="0">
                  <a:cs typeface="Courier New" panose="02070309020205020404" pitchFamily="49" charset="0"/>
                </a:endParaRPr>
              </a:p>
              <a:p>
                <a:pPr marL="57150" defTabSz="914400">
                  <a:lnSpc>
                    <a:spcPct val="110000"/>
                  </a:lnSpc>
                  <a:spcAft>
                    <a:spcPts val="600"/>
                  </a:spcAft>
                  <a:buClr>
                    <a:schemeClr val="tx1"/>
                  </a:buClr>
                </a:pPr>
                <a:endParaRPr lang="en-US" sz="1500" b="0" dirty="0">
                  <a:cs typeface="Courier New" panose="02070309020205020404" pitchFamily="49" charset="0"/>
                </a:endParaRPr>
              </a:p>
              <a:p>
                <a:pPr marL="57150" defTabSz="914400">
                  <a:lnSpc>
                    <a:spcPct val="110000"/>
                  </a:lnSpc>
                  <a:spcAft>
                    <a:spcPts val="600"/>
                  </a:spcAft>
                  <a:buClr>
                    <a:schemeClr val="tx1"/>
                  </a:buClr>
                </a:pPr>
                <a:endParaRPr lang="en-US" sz="1500" b="0" dirty="0">
                  <a:cs typeface="Courier New" panose="02070309020205020404" pitchFamily="49" charset="0"/>
                </a:endParaRPr>
              </a:p>
              <a:p>
                <a:pPr marL="57150" defTabSz="914400">
                  <a:lnSpc>
                    <a:spcPct val="110000"/>
                  </a:lnSpc>
                  <a:spcAft>
                    <a:spcPts val="600"/>
                  </a:spcAft>
                  <a:buClr>
                    <a:schemeClr val="tx1"/>
                  </a:buClr>
                </a:pPr>
                <a:endParaRPr lang="en-US" sz="1500" b="0" dirty="0"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4B0D42-49A8-AC79-B7DA-F8AB34ADD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148" y="1322740"/>
                <a:ext cx="4278832" cy="5308406"/>
              </a:xfrm>
              <a:prstGeom prst="rect">
                <a:avLst/>
              </a:prstGeom>
              <a:blipFill>
                <a:blip r:embed="rId5"/>
                <a:stretch>
                  <a:fillRect l="-427" t="-115" r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8" name="Rectangle 1047">
            <a:extLst>
              <a:ext uri="{FF2B5EF4-FFF2-40B4-BE49-F238E27FC236}">
                <a16:creationId xmlns:a16="http://schemas.microsoft.com/office/drawing/2014/main" id="{A2861A9C-C970-4FFE-B67C-222B6F573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1525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Basic Optics Light Source">
            <a:extLst>
              <a:ext uri="{FF2B5EF4-FFF2-40B4-BE49-F238E27FC236}">
                <a16:creationId xmlns:a16="http://schemas.microsoft.com/office/drawing/2014/main" id="{615AD033-233E-4CF2-719B-D1D62E02F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58" b="1"/>
          <a:stretch>
            <a:fillRect/>
          </a:stretch>
        </p:blipFill>
        <p:spPr bwMode="auto">
          <a:xfrm>
            <a:off x="4712842" y="10"/>
            <a:ext cx="74791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1042">
            <a:extLst>
              <a:ext uri="{FF2B5EF4-FFF2-40B4-BE49-F238E27FC236}">
                <a16:creationId xmlns:a16="http://schemas.microsoft.com/office/drawing/2014/main" id="{D2FDF82E-EBD8-4EC5-AD10-CD9E70EE8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50"/>
          <a:stretch/>
        </p:blipFill>
        <p:spPr>
          <a:xfrm>
            <a:off x="4651242" y="0"/>
            <a:ext cx="75407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25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47120" cy="777240"/>
          </a:xfrm>
        </p:spPr>
        <p:txBody>
          <a:bodyPr tIns="18288" bIns="18288"/>
          <a:lstStyle/>
          <a:p>
            <a:r>
              <a:rPr sz="3200" dirty="0">
                <a:solidFill>
                  <a:srgbClr val="202020"/>
                </a:solidFill>
              </a:rPr>
              <a:t>Is the Inferred Power Constant?</a:t>
            </a:r>
          </a:p>
        </p:txBody>
      </p:sp>
      <p:pic>
        <p:nvPicPr>
          <p:cNvPr id="3" name="Picture 2" descr="chart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680960" cy="4100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2440" y="1280160"/>
            <a:ext cx="40233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800" b="1" i="0" dirty="0">
                <a:solidFill>
                  <a:srgbClr val="1F4E79"/>
                </a:solidFill>
                <a:latin typeface="Calibri"/>
              </a:rPr>
              <a:t>Per-point power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8092440" y="1737360"/>
                <a:ext cx="4023360" cy="2476832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>
                <a:spAutoFit/>
              </a:bodyPr>
              <a:lstStyle/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sz="1400" b="0" dirty="0">
                    <a:solidFill>
                      <a:srgbClr val="202020"/>
                    </a:solidFill>
                    <a:latin typeface="Calibri"/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sSub>
                      <m:sSubPr>
                        <m:ctrlPr>
                          <a:rPr lang="en-US" sz="1400" b="0" i="1" dirty="0" err="1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err="1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400" b="0" i="1" dirty="0" err="1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1400" b="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b="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  <m:sSup>
                      <m:sSupPr>
                        <m:ctrlPr>
                          <a:rPr lang="en-US" sz="1400" b="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1400" b="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i="1" dirty="0">
                    <a:solidFill>
                      <a:srgbClr val="20202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sz="1400" b="0" dirty="0">
                    <a:solidFill>
                      <a:srgbClr val="202020"/>
                    </a:solidFill>
                    <a:latin typeface="Calibri"/>
                  </a:rPr>
                  <a:t>for each distance.</a:t>
                </a: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sz="1400" b="0" dirty="0">
                    <a:solidFill>
                      <a:srgbClr val="202020"/>
                    </a:solidFill>
                    <a:latin typeface="Calibri"/>
                  </a:rPr>
                  <a:t>Propagate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1400" b="0" i="0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400" b="0" dirty="0">
                    <a:solidFill>
                      <a:srgbClr val="202020"/>
                    </a:solidFill>
                    <a:latin typeface="Calibri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202020"/>
                    </a:solidFill>
                    <a:latin typeface="Calibri"/>
                  </a:rPr>
                  <a:t> </a:t>
                </a:r>
                <a:r>
                  <a:rPr sz="1400" b="0" dirty="0">
                    <a:solidFill>
                      <a:srgbClr val="202020"/>
                    </a:solidFill>
                    <a:latin typeface="Calibri"/>
                  </a:rPr>
                  <a:t>in quadrature:</a:t>
                </a:r>
                <a:endParaRPr lang="en-US" sz="1400" b="0" dirty="0">
                  <a:solidFill>
                    <a:srgbClr val="202020"/>
                  </a:solidFill>
                  <a:latin typeface="Calibri"/>
                </a:endParaRPr>
              </a:p>
              <a:p>
                <a:pPr marL="4572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b="0" i="1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rgbClr val="20202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r>
                                    <a:rPr lang="en-US" sz="14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14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𝐸𝑟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rgbClr val="20202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rgbClr val="20202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rgbClr val="20202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rgbClr val="20202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b="0" i="1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rgbClr val="20202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14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solidFill>
                                            <a:srgbClr val="20202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rgbClr val="20202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en-US" sz="1400" b="0" i="1" smtClean="0">
                                          <a:solidFill>
                                            <a:srgbClr val="20202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rgbClr val="20202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rgbClr val="20202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rgbClr val="20202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rgbClr val="20202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400" b="0" dirty="0">
                  <a:solidFill>
                    <a:srgbClr val="202020"/>
                  </a:solidFill>
                  <a:latin typeface="Calibri"/>
                </a:endParaRP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lang="en-US" sz="1400" dirty="0">
                    <a:solidFill>
                      <a:srgbClr val="202020"/>
                    </a:solidFill>
                    <a:latin typeface="Calibri"/>
                  </a:rPr>
                  <a:t>All five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40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40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40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1400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1400" i="1" dirty="0">
                    <a:solidFill>
                      <a:srgbClr val="20202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1400" dirty="0">
                    <a:solidFill>
                      <a:srgbClr val="202020"/>
                    </a:solidFill>
                    <a:latin typeface="Calibri"/>
                  </a:rPr>
                  <a:t>agree to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14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US" sz="1400" dirty="0">
                  <a:solidFill>
                    <a:srgbClr val="202020"/>
                  </a:solidFill>
                  <a:latin typeface="Calibri"/>
                </a:endParaRP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14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14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i="1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473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400" b="0" i="0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00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14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021</m:t>
                    </m:r>
                  </m:oMath>
                </a14:m>
                <a:endParaRPr lang="en-US" sz="1400" dirty="0">
                  <a:solidFill>
                    <a:srgbClr val="202020"/>
                  </a:solidFill>
                  <a:latin typeface="Calibri"/>
                </a:endParaRP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lit/>
                      </m:rPr>
                      <a:rPr lang="en-US" sz="1400" i="1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140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140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202020"/>
                    </a:solidFill>
                    <a:latin typeface="Calibri"/>
                  </a:rPr>
                  <a:t> behavior is confirmed.</a:t>
                </a:r>
              </a:p>
              <a:p>
                <a:pPr marL="45720">
                  <a:spcBef>
                    <a:spcPts val="600"/>
                  </a:spcBef>
                  <a:spcAft>
                    <a:spcPts val="600"/>
                  </a:spcAft>
                </a:pPr>
                <a:endParaRPr lang="en-US" sz="1400" b="0" dirty="0">
                  <a:solidFill>
                    <a:srgbClr val="202020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2440" y="1737360"/>
                <a:ext cx="4023360" cy="2476832"/>
              </a:xfrm>
              <a:prstGeom prst="rect">
                <a:avLst/>
              </a:prstGeom>
              <a:blipFill>
                <a:blip r:embed="rId3"/>
                <a:stretch>
                  <a:fillRect l="-152" t="-1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2D4C-430B-C79E-2182-24502BCD6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Linearization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CFED03-3687-F1A3-663F-DF8CF5057AD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078413" y="1035345"/>
            <a:ext cx="6592656" cy="40862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B3FB9C4E-9577-2EB2-1465-D54373731228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913774" y="2632852"/>
                <a:ext cx="4063075" cy="3158348"/>
              </a:xfrm>
            </p:spPr>
            <p:txBody>
              <a:bodyPr/>
              <a:lstStyle/>
              <a:p>
                <a:r>
                  <a:rPr lang="en-US" cap="none" dirty="0"/>
                  <a:t>If </a:t>
                </a:r>
                <a14:m>
                  <m:oMath xmlns:m="http://schemas.openxmlformats.org/officeDocument/2006/math">
                    <m:r>
                      <a:rPr lang="en-US" i="1" cap="none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cap="none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cap="none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lit/>
                      </m:rPr>
                      <a:rPr lang="en-US" i="1" cap="none" dirty="0" smtClean="0">
                        <a:latin typeface="Cambria Math" panose="02040503050406030204" pitchFamily="18" charset="0"/>
                      </a:rPr>
                      <m:t>/</m:t>
                    </m:r>
                    <m:sSubSup>
                      <m:sSubSupPr>
                        <m:ctrlPr>
                          <a:rPr lang="en-US" i="1" cap="none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cap="none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cap="none" dirty="0" smtClean="0">
                            <a:latin typeface="Cambria Math" panose="02040503050406030204" pitchFamily="18" charset="0"/>
                          </a:rPr>
                          <m:t>eff</m:t>
                        </m:r>
                      </m:sub>
                      <m:sup>
                        <m:r>
                          <a:rPr lang="en-US" i="1" cap="none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cap="none" dirty="0"/>
                  <a:t> holds, plotting </a:t>
                </a:r>
                <a14:m>
                  <m:oMath xmlns:m="http://schemas.openxmlformats.org/officeDocument/2006/math">
                    <m:r>
                      <a:rPr lang="en-US" i="1" cap="none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cap="none" dirty="0"/>
                  <a:t> against </a:t>
                </a:r>
                <a14:m>
                  <m:oMath xmlns:m="http://schemas.openxmlformats.org/officeDocument/2006/math">
                    <m:r>
                      <a:rPr lang="en-US" i="1" cap="none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lit/>
                      </m:rPr>
                      <a:rPr lang="en-US" i="1" cap="none" dirty="0" smtClean="0">
                        <a:latin typeface="Cambria Math" panose="02040503050406030204" pitchFamily="18" charset="0"/>
                      </a:rPr>
                      <m:t>/</m:t>
                    </m:r>
                    <m:sSubSup>
                      <m:sSubSupPr>
                        <m:ctrlPr>
                          <a:rPr lang="en-US" i="1" cap="none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cap="none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cap="none" dirty="0" smtClean="0">
                            <a:latin typeface="Cambria Math" panose="02040503050406030204" pitchFamily="18" charset="0"/>
                          </a:rPr>
                          <m:t>eff</m:t>
                        </m:r>
                      </m:sub>
                      <m:sup>
                        <m:r>
                          <a:rPr lang="en-US" i="1" cap="none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cap="none" dirty="0"/>
                  <a:t> should be linear through the origin with slope </a:t>
                </a:r>
                <a14:m>
                  <m:oMath xmlns:m="http://schemas.openxmlformats.org/officeDocument/2006/math">
                    <m:r>
                      <a:rPr lang="en-US" i="1" cap="none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cap="non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B3FB9C4E-9577-2EB2-1465-D543737312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913774" y="2632852"/>
                <a:ext cx="4063075" cy="315834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5461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47120" cy="777240"/>
          </a:xfrm>
        </p:spPr>
        <p:txBody>
          <a:bodyPr tIns="18288" bIns="18288"/>
          <a:lstStyle/>
          <a:p>
            <a:pPr algn="l"/>
            <a:r>
              <a:rPr sz="3200" b="1">
                <a:solidFill>
                  <a:srgbClr val="202020"/>
                </a:solidFill>
                <a:latin typeface="Calibri"/>
              </a:rPr>
              <a:t>Comparison and Significance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000" b="1" i="0" dirty="0">
                <a:solidFill>
                  <a:srgbClr val="1F4E79"/>
                </a:solidFill>
                <a:latin typeface="Calibri"/>
              </a:rPr>
              <a:t>t-test: cross-check vs fit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57200" y="2181298"/>
                <a:ext cx="5486400" cy="2499402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>
                <a:spAutoFit/>
              </a:bodyPr>
              <a:lstStyle/>
              <a:p>
                <a:pPr marL="4572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b="0" i="1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400" b="0" i="1" smtClean="0">
                                  <a:solidFill>
                                    <a:srgbClr val="20202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rgbClr val="20202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400" b="0" i="1" smtClean="0">
                                  <a:solidFill>
                                    <a:srgbClr val="20202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sz="14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</m:sub>
                                <m:sup>
                                  <m:r>
                                    <a:rPr lang="en-US" sz="14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400" b="0" i="1" smtClean="0">
                                  <a:solidFill>
                                    <a:srgbClr val="20202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4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  <m:sup>
                                  <m:r>
                                    <a:rPr lang="en-US" sz="1400" b="0" i="1" smtClean="0">
                                      <a:solidFill>
                                        <a:srgbClr val="20202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</m:oMath>
                  </m:oMathPara>
                </a14:m>
                <a:endParaRPr lang="en-US" sz="1400" b="0" dirty="0">
                  <a:solidFill>
                    <a:srgbClr val="202020"/>
                  </a:solidFill>
                  <a:latin typeface="Calibri"/>
                </a:endParaRP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solidFill>
                              <a:srgbClr val="202020"/>
                            </a:solidFill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202020"/>
                            </a:solidFill>
                          </a:rPr>
                          <m:t>𝑃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rgbClr val="202020"/>
                            </a:solidFill>
                          </a:rPr>
                          <m:t>𝑒𝑥𝑝</m:t>
                        </m:r>
                      </m:sub>
                    </m:sSub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=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12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.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473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±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0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.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009</m:t>
                    </m:r>
                  </m:oMath>
                </a14:m>
                <a:r>
                  <a:rPr lang="en-US" sz="1400" dirty="0">
                    <a:solidFill>
                      <a:srgbClr val="202020"/>
                    </a:solidFill>
                  </a:rPr>
                  <a:t> </a:t>
                </a:r>
                <a:r>
                  <a:rPr sz="1400" b="0" dirty="0">
                    <a:solidFill>
                      <a:srgbClr val="202020"/>
                    </a:solidFill>
                  </a:rPr>
                  <a:t>(mean of 5 distances)</a:t>
                </a: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rgbClr val="202020"/>
                            </a:solidFill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solidFill>
                              <a:srgbClr val="202020"/>
                            </a:solidFill>
                          </a:rPr>
                          <m:t>𝑃</m:t>
                        </m:r>
                      </m:e>
                      <m:sub>
                        <m:r>
                          <a:rPr lang="en-US" sz="1400" i="1" dirty="0" smtClean="0">
                            <a:solidFill>
                              <a:srgbClr val="202020"/>
                            </a:solidFill>
                          </a:rPr>
                          <m:t>𝑓𝑖𝑡</m:t>
                        </m:r>
                      </m:sub>
                    </m:sSub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=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12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.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480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±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0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.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010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 </m:t>
                    </m:r>
                  </m:oMath>
                </a14:m>
                <a:r>
                  <a:rPr sz="1400" b="0" dirty="0">
                    <a:solidFill>
                      <a:srgbClr val="202020"/>
                    </a:solidFill>
                  </a:rPr>
                  <a:t>(least-squares fit)</a:t>
                </a: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𝑡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 =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0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.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56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⇒  </m:t>
                    </m:r>
                  </m:oMath>
                </a14:m>
                <a:r>
                  <a:rPr sz="1400" b="0" dirty="0">
                    <a:solidFill>
                      <a:srgbClr val="202020"/>
                    </a:solidFill>
                  </a:rPr>
                  <a:t>fully consistent (Gaussian PDF,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𝑡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&lt;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1</m:t>
                    </m:r>
                  </m:oMath>
                </a14:m>
                <a:r>
                  <a:rPr sz="1400" b="0" dirty="0">
                    <a:solidFill>
                      <a:srgbClr val="202020"/>
                    </a:solidFill>
                  </a:rPr>
                  <a:t>).</a:t>
                </a: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sz="1400" b="0" dirty="0">
                    <a:solidFill>
                      <a:srgbClr val="202020"/>
                    </a:solidFill>
                  </a:rPr>
                  <a:t>Recall: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𝑡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=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1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→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68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%</m:t>
                    </m:r>
                  </m:oMath>
                </a14:m>
                <a:r>
                  <a:rPr sz="1400" b="0" dirty="0">
                    <a:solidFill>
                      <a:srgbClr val="202020"/>
                    </a:solidFill>
                  </a:rPr>
                  <a:t> probability of difference;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𝑡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 = 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2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 → 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95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%</m:t>
                    </m:r>
                  </m:oMath>
                </a14:m>
                <a:r>
                  <a:rPr sz="1400" b="0" dirty="0">
                    <a:solidFill>
                      <a:srgbClr val="202020"/>
                    </a:solidFill>
                  </a:rPr>
                  <a:t>;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𝑡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 = 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3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→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99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.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7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% </m:t>
                    </m:r>
                  </m:oMath>
                </a14:m>
                <a:endParaRPr sz="1400" b="0" dirty="0">
                  <a:solidFill>
                    <a:srgbClr val="20202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181298"/>
                <a:ext cx="5486400" cy="2499402"/>
              </a:xfrm>
              <a:prstGeom prst="rect">
                <a:avLst/>
              </a:prstGeom>
              <a:blipFill>
                <a:blip r:embed="rId2"/>
                <a:stretch>
                  <a:fillRect l="-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400800" y="1645920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000" b="1" i="0" dirty="0">
                <a:solidFill>
                  <a:srgbClr val="1F4E79"/>
                </a:solidFill>
                <a:latin typeface="Calibri"/>
              </a:rPr>
              <a:t>Sanity check vs source rating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6400800" y="2181298"/>
                <a:ext cx="5486400" cy="1224951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>
                <a:spAutoFit/>
              </a:bodyPr>
              <a:lstStyle/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sz="1400" b="0" dirty="0">
                    <a:solidFill>
                      <a:srgbClr val="202020"/>
                    </a:solidFill>
                  </a:rPr>
                  <a:t>Source: G4 halogen, 12 V, 10 W (electrical input).</a:t>
                </a: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sz="1400" b="0" dirty="0">
                    <a:solidFill>
                      <a:srgbClr val="202020"/>
                    </a:solidFill>
                  </a:rPr>
                  <a:t>Halogen luminous efficacy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≈ 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10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 –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15</m:t>
                    </m:r>
                    <m:r>
                      <a:rPr lang="en-US" sz="1400" b="0" i="1" dirty="0" smtClean="0">
                        <a:solidFill>
                          <a:srgbClr val="202020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400" b="0" i="0" dirty="0" err="1">
                        <a:solidFill>
                          <a:srgbClr val="202020"/>
                        </a:solidFill>
                      </a:rPr>
                      <m:t>lm</m:t>
                    </m:r>
                    <m:r>
                      <a:rPr lang="en-US" sz="1400" b="0" i="0" dirty="0">
                        <a:solidFill>
                          <a:srgbClr val="202020"/>
                        </a:solidFill>
                      </a:rPr>
                      <m:t>/</m:t>
                    </m:r>
                    <m:r>
                      <m:rPr>
                        <m:sty m:val="p"/>
                      </m:rPr>
                      <a:rPr lang="en-US" sz="1400" b="0" i="0" dirty="0">
                        <a:solidFill>
                          <a:srgbClr val="202020"/>
                        </a:solidFill>
                      </a:rPr>
                      <m:t>W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 ⇒ ≈ 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100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–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150</m:t>
                    </m:r>
                    <m:r>
                      <a:rPr lang="en-US" sz="1400" b="0" i="1" dirty="0">
                        <a:solidFill>
                          <a:srgbClr val="202020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400" b="0" i="0" dirty="0">
                        <a:solidFill>
                          <a:srgbClr val="202020"/>
                        </a:solidFill>
                      </a:rPr>
                      <m:t>lumens</m:t>
                    </m:r>
                  </m:oMath>
                </a14:m>
                <a:r>
                  <a:rPr sz="1400" b="0" dirty="0">
                    <a:solidFill>
                      <a:srgbClr val="202020"/>
                    </a:solidFill>
                  </a:rPr>
                  <a:t>.</a:t>
                </a: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sz="1400" b="0" dirty="0">
                    <a:solidFill>
                      <a:srgbClr val="202020"/>
                    </a:solidFill>
                  </a:rPr>
                  <a:t>Sensor reads % of full scale (not lux) — direct numeric comparison needs the % → lux calibration.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181298"/>
                <a:ext cx="5486400" cy="1224951"/>
              </a:xfrm>
              <a:prstGeom prst="rect">
                <a:avLst/>
              </a:prstGeom>
              <a:blipFill>
                <a:blip r:embed="rId3"/>
                <a:stretch>
                  <a:fillRect l="-111" t="-1990" b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47120" cy="777240"/>
          </a:xfrm>
        </p:spPr>
        <p:txBody>
          <a:bodyPr tIns="18288" bIns="18288"/>
          <a:lstStyle/>
          <a:p>
            <a:r>
              <a:rPr sz="3200" dirty="0">
                <a:solidFill>
                  <a:srgbClr val="202020"/>
                </a:solidFill>
              </a:rPr>
              <a:t>Conclusions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333209" y="1586017"/>
                <a:ext cx="9192861" cy="1061637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>
                <a:spAutoFit/>
              </a:bodyPr>
              <a:lstStyle/>
              <a:p>
                <a:pPr algn="ctr">
                  <a:spcBef>
                    <a:spcPts val="400"/>
                  </a:spcBef>
                  <a:spcAft>
                    <a:spcPts val="4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𝑒𝑥𝑝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480</m:t>
                    </m:r>
                    <m: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010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%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8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Calibri"/>
                  </a:rPr>
                  <a:t> </a:t>
                </a:r>
              </a:p>
              <a:p>
                <a:pPr algn="ctr">
                  <a:spcBef>
                    <a:spcPts val="400"/>
                  </a:spcBef>
                  <a:spcAft>
                    <a:spcPts val="4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92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cm</m:t>
                      </m:r>
                    </m:oMath>
                  </m:oMathPara>
                </a14:m>
                <a:endParaRPr lang="en-US" sz="2800" b="0" dirty="0">
                  <a:solidFill>
                    <a:schemeClr val="tx1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209" y="1586017"/>
                <a:ext cx="9192861" cy="1061637"/>
              </a:xfrm>
              <a:prstGeom prst="rect">
                <a:avLst/>
              </a:prstGeom>
              <a:blipFill>
                <a:blip r:embed="rId2"/>
                <a:stretch>
                  <a:fillRect t="-5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714488" y="2899225"/>
            <a:ext cx="4732544" cy="2554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300" b="0" i="1" dirty="0">
                <a:solidFill>
                  <a:srgbClr val="555555"/>
                </a:solidFill>
                <a:latin typeface="Calibri"/>
              </a:rPr>
              <a:t>Gaussian PDF, 68% confidence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43000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000" b="1" i="0" dirty="0">
                <a:solidFill>
                  <a:srgbClr val="1F4E79"/>
                </a:solidFill>
                <a:latin typeface="Calibri"/>
              </a:rPr>
              <a:t>Key findings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3703320"/>
                <a:ext cx="11430000" cy="1862561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>
                <a:spAutoFit/>
              </a:bodyPr>
              <a:lstStyle/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sz="1500" b="0" dirty="0">
                    <a:solidFill>
                      <a:srgbClr val="202020"/>
                    </a:solidFill>
                  </a:rPr>
                  <a:t>Inverse-square law confirmed: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b="0" i="1" dirty="0" smtClean="0">
                            <a:solidFill>
                              <a:srgbClr val="202020"/>
                            </a:solidFill>
                          </a:rPr>
                        </m:ctrlPr>
                      </m:sSupPr>
                      <m:e>
                        <m:r>
                          <a:rPr lang="en-US" sz="1500" b="0" i="1" dirty="0" smtClean="0">
                            <a:solidFill>
                              <a:srgbClr val="202020"/>
                            </a:solidFill>
                          </a:rPr>
                          <m:t>𝜒</m:t>
                        </m:r>
                      </m:e>
                      <m:sup>
                        <m:r>
                          <a:rPr lang="en-US" sz="1500" b="0" i="1" dirty="0" smtClean="0">
                            <a:solidFill>
                              <a:srgbClr val="202020"/>
                            </a:solidFill>
                          </a:rPr>
                          <m:t>2</m:t>
                        </m:r>
                      </m:sup>
                    </m:sSup>
                    <m:r>
                      <m:rPr>
                        <m:lit/>
                      </m:rPr>
                      <a:rPr lang="en-US" sz="1500" b="0" i="1" dirty="0" smtClean="0">
                        <a:solidFill>
                          <a:srgbClr val="202020"/>
                        </a:solidFill>
                      </a:rPr>
                      <m:t>/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𝜈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=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0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.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85</m:t>
                    </m:r>
                  </m:oMath>
                </a14:m>
                <a:r>
                  <a:rPr sz="1500" b="0" dirty="0">
                    <a:solidFill>
                      <a:srgbClr val="20202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𝑡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=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0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.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56</m:t>
                    </m:r>
                  </m:oMath>
                </a14:m>
                <a:r>
                  <a:rPr sz="1500" b="0" dirty="0">
                    <a:solidFill>
                      <a:srgbClr val="202020"/>
                    </a:solidFill>
                  </a:rPr>
                  <a:t>, residual pulls within </a:t>
                </a:r>
                <a14:m>
                  <m:oMath xmlns:m="http://schemas.openxmlformats.org/officeDocument/2006/math"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±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2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𝜎</m:t>
                    </m:r>
                  </m:oMath>
                </a14:m>
                <a:endParaRPr sz="1500" b="0" dirty="0">
                  <a:solidFill>
                    <a:srgbClr val="202020"/>
                  </a:solidFill>
                </a:endParaRP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sz="1500" b="0" dirty="0">
                    <a:solidFill>
                      <a:srgbClr val="202020"/>
                    </a:solidFill>
                  </a:rPr>
                  <a:t>Recovered source-position offset </a:t>
                </a:r>
                <a14:m>
                  <m:oMath xmlns:m="http://schemas.openxmlformats.org/officeDocument/2006/math"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𝑟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₀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 = 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4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.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91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500" b="0" i="0" dirty="0" smtClean="0">
                        <a:solidFill>
                          <a:srgbClr val="202020"/>
                        </a:solidFill>
                      </a:rPr>
                      <m:t>cm</m:t>
                    </m:r>
                  </m:oMath>
                </a14:m>
                <a:r>
                  <a:rPr sz="1500" b="0" dirty="0">
                    <a:solidFill>
                      <a:srgbClr val="202020"/>
                    </a:solidFill>
                  </a:rPr>
                  <a:t> (filament behind front of bulb housing).</a:t>
                </a: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dirty="0" smtClean="0">
                            <a:solidFill>
                              <a:srgbClr val="202020"/>
                            </a:solidFill>
                          </a:rPr>
                        </m:ctrlPr>
                      </m:sSubPr>
                      <m:e>
                        <m:r>
                          <a:rPr lang="en-US" sz="1500" b="0" i="1" dirty="0" smtClean="0">
                            <a:solidFill>
                              <a:srgbClr val="202020"/>
                            </a:solidFill>
                          </a:rPr>
                          <m:t>𝑃</m:t>
                        </m:r>
                      </m:e>
                      <m:sub>
                        <m:r>
                          <a:rPr lang="en-US" sz="1500" b="0" i="1" dirty="0" smtClean="0">
                            <a:solidFill>
                              <a:srgbClr val="202020"/>
                            </a:solidFill>
                          </a:rPr>
                          <m:t>𝑖</m:t>
                        </m:r>
                      </m:sub>
                    </m:sSub>
                    <m:r>
                      <a:rPr lang="en-US" sz="1500" b="0" i="1" dirty="0">
                        <a:solidFill>
                          <a:srgbClr val="202020"/>
                        </a:solidFill>
                      </a:rPr>
                      <m:t>=</m:t>
                    </m:r>
                    <m:r>
                      <a:rPr lang="en-US" sz="1500" b="0" i="1" dirty="0">
                        <a:solidFill>
                          <a:srgbClr val="202020"/>
                        </a:solidFill>
                      </a:rPr>
                      <m:t>4</m:t>
                    </m:r>
                    <m:r>
                      <a:rPr lang="en-US" sz="1500" b="0" i="1" dirty="0">
                        <a:solidFill>
                          <a:srgbClr val="202020"/>
                        </a:solidFill>
                      </a:rPr>
                      <m:t>𝜋</m:t>
                    </m:r>
                    <m:r>
                      <a:rPr lang="en-US" sz="1500" b="0" i="1" dirty="0">
                        <a:solidFill>
                          <a:srgbClr val="202020"/>
                        </a:solidFill>
                      </a:rPr>
                      <m:t>·</m:t>
                    </m:r>
                    <m:r>
                      <a:rPr lang="en-US" sz="1500" b="0" i="1" dirty="0">
                        <a:solidFill>
                          <a:srgbClr val="202020"/>
                        </a:solidFill>
                      </a:rPr>
                      <m:t>𝐸</m:t>
                    </m:r>
                    <m:r>
                      <a:rPr lang="en-US" sz="1500" b="0" i="1" dirty="0">
                        <a:solidFill>
                          <a:srgbClr val="202020"/>
                        </a:solidFill>
                      </a:rPr>
                      <m:t>·</m:t>
                    </m:r>
                    <m:sSubSup>
                      <m:sSubSupPr>
                        <m:ctrlPr>
                          <a:rPr lang="en-US" sz="1500" b="0" i="1" dirty="0">
                            <a:solidFill>
                              <a:srgbClr val="202020"/>
                            </a:solidFill>
                          </a:rPr>
                        </m:ctrlPr>
                      </m:sSubSupPr>
                      <m:e>
                        <m:r>
                          <a:rPr lang="en-US" sz="1500" b="0" i="1" dirty="0">
                            <a:solidFill>
                              <a:srgbClr val="202020"/>
                            </a:solidFill>
                          </a:rPr>
                          <m:t>𝑟</m:t>
                        </m:r>
                      </m:e>
                      <m:sub>
                        <m:r>
                          <a:rPr lang="en-US" sz="1500" b="0" i="1" dirty="0">
                            <a:solidFill>
                              <a:srgbClr val="202020"/>
                            </a:solidFill>
                          </a:rPr>
                          <m:t>𝑒𝑓𝑓</m:t>
                        </m:r>
                      </m:sub>
                      <m:sup>
                        <m:r>
                          <a:rPr lang="en-US" sz="1500" b="0" i="1" dirty="0">
                            <a:solidFill>
                              <a:srgbClr val="202020"/>
                            </a:solidFill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500" dirty="0">
                    <a:solidFill>
                      <a:srgbClr val="202020"/>
                    </a:solidFill>
                  </a:rPr>
                  <a:t> </a:t>
                </a:r>
                <a:r>
                  <a:rPr sz="1500" b="0" dirty="0">
                    <a:solidFill>
                      <a:srgbClr val="202020"/>
                    </a:solidFill>
                  </a:rPr>
                  <a:t>is constant across </a:t>
                </a:r>
                <a14:m>
                  <m:oMath xmlns:m="http://schemas.openxmlformats.org/officeDocument/2006/math"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𝑑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 = 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10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500" b="0" i="1" dirty="0" smtClean="0">
                        <a:solidFill>
                          <a:srgbClr val="202020"/>
                        </a:solidFill>
                      </a:rPr>
                      <m:t>to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 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50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500" b="0" i="0" dirty="0" smtClean="0">
                        <a:solidFill>
                          <a:srgbClr val="202020"/>
                        </a:solidFill>
                      </a:rPr>
                      <m:t>cm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 </m:t>
                    </m:r>
                  </m:oMath>
                </a14:m>
                <a:r>
                  <a:rPr sz="1500" b="0" dirty="0">
                    <a:solidFill>
                      <a:srgbClr val="202020"/>
                    </a:solidFill>
                  </a:rPr>
                  <a:t>to </a:t>
                </a:r>
                <a14:m>
                  <m:oMath xmlns:m="http://schemas.openxmlformats.org/officeDocument/2006/math"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~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0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.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2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%</m:t>
                    </m:r>
                  </m:oMath>
                </a14:m>
                <a:endParaRPr sz="1500" b="0" dirty="0">
                  <a:solidFill>
                    <a:srgbClr val="202020"/>
                  </a:solidFill>
                </a:endParaRP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sz="1500" b="0" dirty="0">
                    <a:solidFill>
                      <a:srgbClr val="202020"/>
                    </a:solidFill>
                  </a:rPr>
                  <a:t>Order of magnitude consistent with manufacturer rating (12 V / 10 W halogen ≈ 100 </a:t>
                </a:r>
                <a:r>
                  <a:rPr sz="1500" b="0" dirty="0" err="1">
                    <a:solidFill>
                      <a:srgbClr val="202020"/>
                    </a:solidFill>
                  </a:rPr>
                  <a:t>lm</a:t>
                </a:r>
                <a:r>
                  <a:rPr sz="1500" b="0" dirty="0">
                    <a:solidFill>
                      <a:srgbClr val="202020"/>
                    </a:solidFill>
                  </a:rPr>
                  <a:t>).</a:t>
                </a:r>
              </a:p>
              <a:p>
                <a:pPr marL="246888" indent="-201168">
                  <a:spcBef>
                    <a:spcPts val="600"/>
                  </a:spcBef>
                  <a:spcAft>
                    <a:spcPts val="600"/>
                  </a:spcAft>
                  <a:buFont typeface="Arial"/>
                  <a:buChar char="•"/>
                </a:pPr>
                <a:r>
                  <a:rPr sz="1500" b="0" dirty="0">
                    <a:solidFill>
                      <a:srgbClr val="202020"/>
                    </a:solidFill>
                  </a:rPr>
                  <a:t>Limitations: sensor in % units (no lux calibration); single trial; finite source size breaks point-source approximation near </a:t>
                </a:r>
                <a14:m>
                  <m:oMath xmlns:m="http://schemas.openxmlformats.org/officeDocument/2006/math"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𝑑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 = </m:t>
                    </m:r>
                    <m:r>
                      <a:rPr lang="en-US" sz="1500" b="0" i="1" dirty="0" smtClean="0">
                        <a:solidFill>
                          <a:srgbClr val="202020"/>
                        </a:solidFill>
                      </a:rPr>
                      <m:t>0</m:t>
                    </m:r>
                  </m:oMath>
                </a14:m>
                <a:r>
                  <a:rPr sz="1500" b="0" dirty="0">
                    <a:solidFill>
                      <a:srgbClr val="20202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703320"/>
                <a:ext cx="11430000" cy="1862561"/>
              </a:xfrm>
              <a:prstGeom prst="rect">
                <a:avLst/>
              </a:prstGeom>
              <a:blipFill>
                <a:blip r:embed="rId3"/>
                <a:stretch>
                  <a:fillRect l="-107" t="-1639" b="-3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D9F89EB-FB5D-D14E-A96C-DFCD1B57E22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ec3a5262-0ae8-4d4e-b02f-fbba4ec8d08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D7DC529-B2F2-4EB7-AA31-EB1C9A441026}">
  <we:reference id="4b785c87-866c-4bad-85d8-5d1ae467ac9a" version="3.23.0.0" store="EXCatalog" storeType="EXCatalog"/>
  <we:alternateReferences>
    <we:reference id="WA104381909" version="3.23.0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0CEFF5852D694286F2BC0CE7A6C997" ma:contentTypeVersion="6" ma:contentTypeDescription="Create a new document." ma:contentTypeScope="" ma:versionID="526a12cdb4104c8474d1a1c7b98d28ce">
  <xsd:schema xmlns:xsd="http://www.w3.org/2001/XMLSchema" xmlns:xs="http://www.w3.org/2001/XMLSchema" xmlns:p="http://schemas.microsoft.com/office/2006/metadata/properties" xmlns:ns3="c64525cb-669c-474a-bb1c-a1df3ff42bd0" targetNamespace="http://schemas.microsoft.com/office/2006/metadata/properties" ma:root="true" ma:fieldsID="bbbd96e4c2bf71238f876c69fa445afd" ns3:_="">
    <xsd:import namespace="c64525cb-669c-474a-bb1c-a1df3ff42bd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4525cb-669c-474a-bb1c-a1df3ff42bd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64525cb-669c-474a-bb1c-a1df3ff42bd0" xsi:nil="true"/>
  </documentManagement>
</p:properties>
</file>

<file path=customXml/itemProps1.xml><?xml version="1.0" encoding="utf-8"?>
<ds:datastoreItem xmlns:ds="http://schemas.openxmlformats.org/officeDocument/2006/customXml" ds:itemID="{737607DC-AD28-4B6A-9497-E6CBE4D39B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4525cb-669c-474a-bb1c-a1df3ff42b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37C8FD-C768-4F57-B223-C8CB82EB09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12DD3B-FC0C-42E4-A0E5-A7F5E43A6E5A}">
  <ds:schemaRefs>
    <ds:schemaRef ds:uri="http://purl.org/dc/elements/1.1/"/>
    <ds:schemaRef ds:uri="http://purl.org/dc/dcmitype/"/>
    <ds:schemaRef ds:uri="http://purl.org/dc/terms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c64525cb-669c-474a-bb1c-a1df3ff42bd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pressure-and-temperature_presentation</Template>
  <TotalTime>350</TotalTime>
  <Words>1048</Words>
  <Application>Microsoft Office PowerPoint</Application>
  <PresentationFormat>Widescreen</PresentationFormat>
  <Paragraphs>119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 Math</vt:lpstr>
      <vt:lpstr>Courier New</vt:lpstr>
      <vt:lpstr>Tw Cen MT</vt:lpstr>
      <vt:lpstr>Droplet</vt:lpstr>
      <vt:lpstr>Lab 6 Light Intensity &amp; Distance</vt:lpstr>
      <vt:lpstr>Objective and Experiment</vt:lpstr>
      <vt:lpstr>Method</vt:lpstr>
      <vt:lpstr>Data and Measurements</vt:lpstr>
      <vt:lpstr>Per-Distance Distributions</vt:lpstr>
      <vt:lpstr>Inverse-Square Fit</vt:lpstr>
      <vt:lpstr>Why include r_0?</vt:lpstr>
      <vt:lpstr>Is the Inferred Power Constant?</vt:lpstr>
      <vt:lpstr>Linearization</vt:lpstr>
      <vt:lpstr>Comparison and Significance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Daksh Khandelwal</dc:creator>
  <cp:lastModifiedBy>Daksh Khandelwal</cp:lastModifiedBy>
  <cp:revision>50</cp:revision>
  <dcterms:created xsi:type="dcterms:W3CDTF">2026-03-22T19:27:30Z</dcterms:created>
  <dcterms:modified xsi:type="dcterms:W3CDTF">2026-05-04T02:30:26Z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0x010100300CEFF5852D694286F2BC0CE7A6C997</vt:lpwstr>
  </property>
</Properties>
</file>