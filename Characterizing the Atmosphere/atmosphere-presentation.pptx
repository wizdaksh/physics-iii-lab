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9" r:id="rId5"/>
    <p:sldId id="258" r:id="rId6"/>
    <p:sldId id="263" r:id="rId7"/>
    <p:sldId id="264" r:id="rId8"/>
    <p:sldId id="262"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6"/>
    <p:restoredTop sz="96190"/>
  </p:normalViewPr>
  <p:slideViewPr>
    <p:cSldViewPr snapToGrid="0">
      <p:cViewPr varScale="1">
        <p:scale>
          <a:sx n="100" d="100"/>
          <a:sy n="100" d="100"/>
        </p:scale>
        <p:origin x="160"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2/15/26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2/15/26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AD13-E6BC-79E6-F8E2-3F15168BE759}"/>
              </a:ext>
            </a:extLst>
          </p:cNvPr>
          <p:cNvSpPr>
            <a:spLocks noGrp="1"/>
          </p:cNvSpPr>
          <p:nvPr>
            <p:ph type="ctrTitle"/>
          </p:nvPr>
        </p:nvSpPr>
        <p:spPr/>
        <p:txBody>
          <a:bodyPr>
            <a:normAutofit/>
          </a:bodyPr>
          <a:lstStyle/>
          <a:p>
            <a:r>
              <a:rPr lang="en-US" sz="4400" dirty="0"/>
              <a:t>Lab 1</a:t>
            </a:r>
            <a:br>
              <a:rPr lang="en-US" sz="4400" dirty="0"/>
            </a:br>
            <a:r>
              <a:rPr lang="en-US" sz="4400" dirty="0"/>
              <a:t>Characterizing the Atmosphere</a:t>
            </a:r>
          </a:p>
        </p:txBody>
      </p:sp>
      <p:sp>
        <p:nvSpPr>
          <p:cNvPr id="3" name="Subtitle 2">
            <a:extLst>
              <a:ext uri="{FF2B5EF4-FFF2-40B4-BE49-F238E27FC236}">
                <a16:creationId xmlns:a16="http://schemas.microsoft.com/office/drawing/2014/main" id="{88F7CE5D-381D-9A2D-BABA-991516D7C183}"/>
              </a:ext>
            </a:extLst>
          </p:cNvPr>
          <p:cNvSpPr>
            <a:spLocks noGrp="1"/>
          </p:cNvSpPr>
          <p:nvPr>
            <p:ph type="subTitle" idx="1"/>
          </p:nvPr>
        </p:nvSpPr>
        <p:spPr/>
        <p:txBody>
          <a:bodyPr/>
          <a:lstStyle/>
          <a:p>
            <a:r>
              <a:rPr lang="en-US" dirty="0"/>
              <a:t>By Daksh Khandelwal</a:t>
            </a:r>
          </a:p>
        </p:txBody>
      </p:sp>
    </p:spTree>
    <p:extLst>
      <p:ext uri="{BB962C8B-B14F-4D97-AF65-F5344CB8AC3E}">
        <p14:creationId xmlns:p14="http://schemas.microsoft.com/office/powerpoint/2010/main" val="151686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F161A-66AC-63FC-0CAE-32A661A1D5B2}"/>
              </a:ext>
            </a:extLst>
          </p:cNvPr>
          <p:cNvSpPr>
            <a:spLocks noGrp="1"/>
          </p:cNvSpPr>
          <p:nvPr>
            <p:ph type="title"/>
          </p:nvPr>
        </p:nvSpPr>
        <p:spPr/>
        <p:txBody>
          <a:bodyPr/>
          <a:lstStyle/>
          <a:p>
            <a:r>
              <a:rPr lang="en-US" dirty="0"/>
              <a:t>Objective and Experiment</a:t>
            </a:r>
          </a:p>
        </p:txBody>
      </p:sp>
      <p:sp>
        <p:nvSpPr>
          <p:cNvPr id="3" name="Content Placeholder 2">
            <a:extLst>
              <a:ext uri="{FF2B5EF4-FFF2-40B4-BE49-F238E27FC236}">
                <a16:creationId xmlns:a16="http://schemas.microsoft.com/office/drawing/2014/main" id="{B1C92ABD-1612-B5F6-F88B-704DDB50E916}"/>
              </a:ext>
            </a:extLst>
          </p:cNvPr>
          <p:cNvSpPr>
            <a:spLocks noGrp="1"/>
          </p:cNvSpPr>
          <p:nvPr>
            <p:ph sz="quarter" idx="13"/>
          </p:nvPr>
        </p:nvSpPr>
        <p:spPr/>
        <p:txBody>
          <a:bodyPr/>
          <a:lstStyle/>
          <a:p>
            <a:r>
              <a:rPr lang="en-US" cap="none" dirty="0"/>
              <a:t>To determine the accuracy and precision of smartphone pressure sensors using </a:t>
            </a:r>
            <a:r>
              <a:rPr lang="en-US" cap="none" dirty="0" err="1"/>
              <a:t>Phyphox</a:t>
            </a:r>
            <a:r>
              <a:rPr lang="en-US" cap="none" dirty="0"/>
              <a:t>, and determine the relationship between atmospheric pressure and altitude</a:t>
            </a:r>
          </a:p>
          <a:p>
            <a:r>
              <a:rPr lang="en-US" cap="none" dirty="0"/>
              <a:t>We collected our data in the stairwell of Planetary Hall by placing our phones on the floor on each level</a:t>
            </a:r>
          </a:p>
          <a:p>
            <a:r>
              <a:rPr lang="en-US" cap="none" dirty="0"/>
              <a:t>We all used iPhones with Bosch barometers with a sample rate of 1 Hz</a:t>
            </a:r>
          </a:p>
        </p:txBody>
      </p:sp>
    </p:spTree>
    <p:extLst>
      <p:ext uri="{BB962C8B-B14F-4D97-AF65-F5344CB8AC3E}">
        <p14:creationId xmlns:p14="http://schemas.microsoft.com/office/powerpoint/2010/main" val="914678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01D65-2631-F22F-5619-4AEB95343DEC}"/>
              </a:ext>
            </a:extLst>
          </p:cNvPr>
          <p:cNvSpPr>
            <a:spLocks noGrp="1"/>
          </p:cNvSpPr>
          <p:nvPr>
            <p:ph type="title"/>
          </p:nvPr>
        </p:nvSpPr>
        <p:spPr/>
        <p:txBody>
          <a:bodyPr/>
          <a:lstStyle/>
          <a:p>
            <a:r>
              <a:rPr lang="en-US" dirty="0"/>
              <a:t>Sensor Characterization</a:t>
            </a:r>
          </a:p>
        </p:txBody>
      </p:sp>
      <p:sp>
        <p:nvSpPr>
          <p:cNvPr id="3" name="Text Placeholder 2">
            <a:extLst>
              <a:ext uri="{FF2B5EF4-FFF2-40B4-BE49-F238E27FC236}">
                <a16:creationId xmlns:a16="http://schemas.microsoft.com/office/drawing/2014/main" id="{6B19EDF5-FDE6-2AAA-B9C5-8D92B154F341}"/>
              </a:ext>
            </a:extLst>
          </p:cNvPr>
          <p:cNvSpPr>
            <a:spLocks noGrp="1"/>
          </p:cNvSpPr>
          <p:nvPr>
            <p:ph type="body" idx="1"/>
          </p:nvPr>
        </p:nvSpPr>
        <p:spPr/>
        <p:txBody>
          <a:bodyPr/>
          <a:lstStyle/>
          <a:p>
            <a:r>
              <a:rPr lang="en-US" cap="none" dirty="0"/>
              <a:t>The accuracy and precision of the barometers were measured by leaving them on the table inside.</a:t>
            </a:r>
          </a:p>
          <a:p>
            <a:r>
              <a:rPr lang="en-US" cap="none" dirty="0"/>
              <a:t>This will help us determine the accuracy and precision of the barometer</a:t>
            </a:r>
          </a:p>
          <a:p>
            <a:endParaRPr lang="en-US" dirty="0"/>
          </a:p>
        </p:txBody>
      </p:sp>
    </p:spTree>
    <p:extLst>
      <p:ext uri="{BB962C8B-B14F-4D97-AF65-F5344CB8AC3E}">
        <p14:creationId xmlns:p14="http://schemas.microsoft.com/office/powerpoint/2010/main" val="2138456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AE76B-8E9F-C535-D590-39C3AB1FDAB7}"/>
              </a:ext>
            </a:extLst>
          </p:cNvPr>
          <p:cNvSpPr>
            <a:spLocks noGrp="1"/>
          </p:cNvSpPr>
          <p:nvPr>
            <p:ph type="title"/>
          </p:nvPr>
        </p:nvSpPr>
        <p:spPr>
          <a:xfrm>
            <a:off x="913775" y="609600"/>
            <a:ext cx="3935688" cy="1104900"/>
          </a:xfrm>
        </p:spPr>
        <p:txBody>
          <a:bodyPr/>
          <a:lstStyle/>
          <a:p>
            <a:r>
              <a:rPr lang="en-US" dirty="0"/>
              <a:t>Sensor Characterization</a:t>
            </a:r>
          </a:p>
        </p:txBody>
      </p:sp>
      <p:graphicFrame>
        <p:nvGraphicFramePr>
          <p:cNvPr id="5" name="Content Placeholder 4">
            <a:extLst>
              <a:ext uri="{FF2B5EF4-FFF2-40B4-BE49-F238E27FC236}">
                <a16:creationId xmlns:a16="http://schemas.microsoft.com/office/drawing/2014/main" id="{09FCE248-2217-DE1E-9A87-A1F705515C0A}"/>
              </a:ext>
            </a:extLst>
          </p:cNvPr>
          <p:cNvGraphicFramePr>
            <a:graphicFrameLocks noGrp="1"/>
          </p:cNvGraphicFramePr>
          <p:nvPr>
            <p:ph sz="quarter" idx="13"/>
            <p:extLst>
              <p:ext uri="{D42A27DB-BD31-4B8C-83A1-F6EECF244321}">
                <p14:modId xmlns:p14="http://schemas.microsoft.com/office/powerpoint/2010/main" val="4244549341"/>
              </p:ext>
            </p:extLst>
          </p:nvPr>
        </p:nvGraphicFramePr>
        <p:xfrm>
          <a:off x="5078412" y="431800"/>
          <a:ext cx="6326188" cy="5943600"/>
        </p:xfrm>
        <a:graphic>
          <a:graphicData uri="http://schemas.openxmlformats.org/drawingml/2006/table">
            <a:tbl>
              <a:tblPr firstRow="1" bandRow="1">
                <a:tableStyleId>{5C22544A-7EE6-4342-B048-85BDC9FD1C3A}</a:tableStyleId>
              </a:tblPr>
              <a:tblGrid>
                <a:gridCol w="1581547">
                  <a:extLst>
                    <a:ext uri="{9D8B030D-6E8A-4147-A177-3AD203B41FA5}">
                      <a16:colId xmlns:a16="http://schemas.microsoft.com/office/drawing/2014/main" val="3878520019"/>
                    </a:ext>
                  </a:extLst>
                </a:gridCol>
                <a:gridCol w="1581547">
                  <a:extLst>
                    <a:ext uri="{9D8B030D-6E8A-4147-A177-3AD203B41FA5}">
                      <a16:colId xmlns:a16="http://schemas.microsoft.com/office/drawing/2014/main" val="3508637464"/>
                    </a:ext>
                  </a:extLst>
                </a:gridCol>
                <a:gridCol w="1581547">
                  <a:extLst>
                    <a:ext uri="{9D8B030D-6E8A-4147-A177-3AD203B41FA5}">
                      <a16:colId xmlns:a16="http://schemas.microsoft.com/office/drawing/2014/main" val="4176131829"/>
                    </a:ext>
                  </a:extLst>
                </a:gridCol>
                <a:gridCol w="1581547">
                  <a:extLst>
                    <a:ext uri="{9D8B030D-6E8A-4147-A177-3AD203B41FA5}">
                      <a16:colId xmlns:a16="http://schemas.microsoft.com/office/drawing/2014/main" val="2243111069"/>
                    </a:ext>
                  </a:extLst>
                </a:gridCol>
              </a:tblGrid>
              <a:tr h="1188720">
                <a:tc>
                  <a:txBody>
                    <a:bodyPr/>
                    <a:lstStyle/>
                    <a:p>
                      <a:pPr algn="ctr" rtl="0">
                        <a:buNone/>
                      </a:pPr>
                      <a:r>
                        <a:rPr lang="en-US" b="1" dirty="0">
                          <a:solidFill>
                            <a:srgbClr val="1F1F1F"/>
                          </a:solidFill>
                          <a:effectLst/>
                          <a:latin typeface="Google Sans Text"/>
                        </a:rPr>
                        <a:t>Member</a:t>
                      </a:r>
                      <a:endParaRPr lang="en-US" dirty="0">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a:solidFill>
                            <a:srgbClr val="1F1F1F"/>
                          </a:solidFill>
                          <a:effectLst/>
                          <a:latin typeface="Google Sans Text"/>
                        </a:rPr>
                        <a:t>Mean Pressure (hPa)</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a:solidFill>
                            <a:srgbClr val="1F1F1F"/>
                          </a:solidFill>
                          <a:effectLst/>
                          <a:latin typeface="Google Sans Text"/>
                        </a:rPr>
                        <a:t>Standard Deviation (hPa)</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a:solidFill>
                            <a:srgbClr val="1F1F1F"/>
                          </a:solidFill>
                          <a:effectLst/>
                          <a:latin typeface="Google Sans Text"/>
                        </a:rPr>
                        <a:t>Relative Accuracy (hPa)</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0039390"/>
                  </a:ext>
                </a:extLst>
              </a:tr>
              <a:tr h="1188720">
                <a:tc>
                  <a:txBody>
                    <a:bodyPr/>
                    <a:lstStyle/>
                    <a:p>
                      <a:pPr algn="ctr" rtl="0">
                        <a:buNone/>
                      </a:pPr>
                      <a:r>
                        <a:rPr lang="en-US" b="1" dirty="0">
                          <a:solidFill>
                            <a:srgbClr val="1F1F1F"/>
                          </a:solidFill>
                          <a:effectLst/>
                          <a:latin typeface="Google Sans Text"/>
                        </a:rPr>
                        <a:t>Daksh</a:t>
                      </a:r>
                      <a:endParaRPr lang="en-US" dirty="0">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a:solidFill>
                            <a:srgbClr val="1F1F1F"/>
                          </a:solidFill>
                          <a:effectLst/>
                          <a:latin typeface="Google Sans Text"/>
                        </a:rPr>
                        <a:t>1012.281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a:solidFill>
                            <a:srgbClr val="1F1F1F"/>
                          </a:solidFill>
                          <a:effectLst/>
                          <a:latin typeface="Google Sans Text"/>
                        </a:rPr>
                        <a:t>0.0017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a:solidFill>
                            <a:srgbClr val="1F1F1F"/>
                          </a:solidFill>
                          <a:effectLst/>
                          <a:latin typeface="Google Sans Text"/>
                        </a:rPr>
                        <a:t>0.058</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6173423"/>
                  </a:ext>
                </a:extLst>
              </a:tr>
              <a:tr h="1188720">
                <a:tc>
                  <a:txBody>
                    <a:bodyPr/>
                    <a:lstStyle/>
                    <a:p>
                      <a:pPr algn="ctr" rtl="0">
                        <a:buNone/>
                      </a:pPr>
                      <a:r>
                        <a:rPr lang="en-US" b="1">
                          <a:solidFill>
                            <a:srgbClr val="1F1F1F"/>
                          </a:solidFill>
                          <a:effectLst/>
                          <a:latin typeface="Google Sans Text"/>
                        </a:rPr>
                        <a:t>Clarisse</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a:solidFill>
                            <a:srgbClr val="1F1F1F"/>
                          </a:solidFill>
                          <a:effectLst/>
                          <a:latin typeface="Google Sans Text"/>
                        </a:rPr>
                        <a:t>1012.285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a:solidFill>
                            <a:srgbClr val="1F1F1F"/>
                          </a:solidFill>
                          <a:effectLst/>
                          <a:latin typeface="Google Sans Text"/>
                        </a:rPr>
                        <a:t>0.004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a:solidFill>
                            <a:srgbClr val="1F1F1F"/>
                          </a:solidFill>
                          <a:effectLst/>
                          <a:latin typeface="Google Sans Text"/>
                        </a:rPr>
                        <a:t>0.062</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7979754"/>
                  </a:ext>
                </a:extLst>
              </a:tr>
              <a:tr h="1188720">
                <a:tc>
                  <a:txBody>
                    <a:bodyPr/>
                    <a:lstStyle/>
                    <a:p>
                      <a:pPr algn="ctr" rtl="0">
                        <a:buNone/>
                      </a:pPr>
                      <a:r>
                        <a:rPr lang="en-US" b="1">
                          <a:solidFill>
                            <a:srgbClr val="1F1F1F"/>
                          </a:solidFill>
                          <a:effectLst/>
                          <a:latin typeface="Google Sans Text"/>
                        </a:rPr>
                        <a:t>Tim</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a:solidFill>
                            <a:srgbClr val="1F1F1F"/>
                          </a:solidFill>
                          <a:effectLst/>
                          <a:latin typeface="Google Sans Text"/>
                        </a:rPr>
                        <a:t>1012.277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a:solidFill>
                            <a:srgbClr val="1F1F1F"/>
                          </a:solidFill>
                          <a:effectLst/>
                          <a:latin typeface="Google Sans Text"/>
                        </a:rPr>
                        <a:t>0.007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a:solidFill>
                            <a:srgbClr val="1F1F1F"/>
                          </a:solidFill>
                          <a:effectLst/>
                          <a:latin typeface="Google Sans Text"/>
                        </a:rPr>
                        <a:t>0.054</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2657225"/>
                  </a:ext>
                </a:extLst>
              </a:tr>
              <a:tr h="1188720">
                <a:tc>
                  <a:txBody>
                    <a:bodyPr/>
                    <a:lstStyle/>
                    <a:p>
                      <a:pPr algn="ctr" rtl="0">
                        <a:buNone/>
                      </a:pPr>
                      <a:r>
                        <a:rPr lang="en-US" b="1">
                          <a:solidFill>
                            <a:srgbClr val="1F1F1F"/>
                          </a:solidFill>
                          <a:effectLst/>
                          <a:latin typeface="Google Sans Text"/>
                        </a:rPr>
                        <a:t>Joel</a:t>
                      </a:r>
                      <a:endParaRPr lang="en-US">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dirty="0">
                          <a:solidFill>
                            <a:srgbClr val="1F1F1F"/>
                          </a:solidFill>
                          <a:effectLst/>
                          <a:latin typeface="Google Sans Text"/>
                        </a:rPr>
                        <a:t>1012.281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a:solidFill>
                            <a:srgbClr val="1F1F1F"/>
                          </a:solidFill>
                          <a:effectLst/>
                          <a:latin typeface="Google Sans Text"/>
                        </a:rPr>
                        <a:t>0.0017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dirty="0">
                          <a:solidFill>
                            <a:srgbClr val="1F1F1F"/>
                          </a:solidFill>
                          <a:effectLst/>
                          <a:latin typeface="Google Sans Text"/>
                        </a:rPr>
                        <a:t>0.058</a:t>
                      </a:r>
                      <a:endParaRPr lang="en-US" dirty="0">
                        <a:solidFill>
                          <a:srgbClr val="1F1F1F"/>
                        </a:solidFill>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7704357"/>
                  </a:ext>
                </a:extLst>
              </a:tr>
            </a:tbl>
          </a:graphicData>
        </a:graphic>
      </p:graphicFrame>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F946D31B-31C2-1EA3-3589-2B7767A33B8C}"/>
                  </a:ext>
                </a:extLst>
              </p:cNvPr>
              <p:cNvSpPr>
                <a:spLocks noGrp="1"/>
              </p:cNvSpPr>
              <p:nvPr>
                <p:ph type="body" sz="half" idx="2"/>
              </p:nvPr>
            </p:nvSpPr>
            <p:spPr>
              <a:xfrm>
                <a:off x="913774" y="1854200"/>
                <a:ext cx="3935689" cy="4521200"/>
              </a:xfrm>
            </p:spPr>
            <p:txBody>
              <a:bodyPr>
                <a:normAutofit fontScale="85000" lnSpcReduction="20000"/>
              </a:bodyPr>
              <a:lstStyle/>
              <a:p>
                <a:pPr algn="l"/>
                <a:r>
                  <a:rPr lang="en-US" sz="2000" cap="none" dirty="0"/>
                  <a:t>A relative accuracy for everyone was calculated by </a:t>
                </a:r>
                <a14:m>
                  <m:oMath xmlns:m="http://schemas.openxmlformats.org/officeDocument/2006/math">
                    <m:d>
                      <m:dPr>
                        <m:begChr m:val="|"/>
                        <m:endChr m:val="|"/>
                        <m:ctrlPr>
                          <a:rPr lang="en-US" sz="2000" i="1" cap="none">
                            <a:latin typeface="Cambria Math" panose="02040503050406030204" pitchFamily="18" charset="0"/>
                          </a:rPr>
                        </m:ctrlPr>
                      </m:dPr>
                      <m:e>
                        <m:sSub>
                          <m:sSubPr>
                            <m:ctrlPr>
                              <a:rPr lang="en-US" sz="2000" i="1" cap="none">
                                <a:latin typeface="Cambria Math" panose="02040503050406030204" pitchFamily="18" charset="0"/>
                              </a:rPr>
                            </m:ctrlPr>
                          </m:sSubPr>
                          <m:e>
                            <m:r>
                              <a:rPr lang="en-US" sz="2000" i="1" cap="none">
                                <a:latin typeface="Cambria Math" panose="02040503050406030204" pitchFamily="18" charset="0"/>
                              </a:rPr>
                              <m:t>𝜇</m:t>
                            </m:r>
                          </m:e>
                          <m:sub>
                            <m:r>
                              <a:rPr lang="en-US" sz="2000" i="1" cap="none">
                                <a:latin typeface="Cambria Math" panose="02040503050406030204" pitchFamily="18" charset="0"/>
                              </a:rPr>
                              <m:t>𝑔𝑟𝑜𝑢𝑝</m:t>
                            </m:r>
                          </m:sub>
                        </m:sSub>
                        <m:r>
                          <a:rPr lang="en-US" sz="2000" i="1" cap="none">
                            <a:latin typeface="Cambria Math" panose="02040503050406030204" pitchFamily="18" charset="0"/>
                          </a:rPr>
                          <m:t>−</m:t>
                        </m:r>
                        <m:sSub>
                          <m:sSubPr>
                            <m:ctrlPr>
                              <a:rPr lang="en-US" sz="2000" i="1" cap="none">
                                <a:latin typeface="Cambria Math" panose="02040503050406030204" pitchFamily="18" charset="0"/>
                              </a:rPr>
                            </m:ctrlPr>
                          </m:sSubPr>
                          <m:e>
                            <m:r>
                              <a:rPr lang="en-US" sz="2000" i="1" cap="none">
                                <a:latin typeface="Cambria Math" panose="02040503050406030204" pitchFamily="18" charset="0"/>
                              </a:rPr>
                              <m:t>𝜇</m:t>
                            </m:r>
                          </m:e>
                          <m:sub>
                            <m:r>
                              <a:rPr lang="en-US" sz="2000" i="1" cap="none">
                                <a:latin typeface="Cambria Math" panose="02040503050406030204" pitchFamily="18" charset="0"/>
                              </a:rPr>
                              <m:t>𝑖𝑛𝑑</m:t>
                            </m:r>
                          </m:sub>
                        </m:sSub>
                      </m:e>
                    </m:d>
                    <m:r>
                      <a:rPr lang="en-US" sz="2000" i="1" cap="none">
                        <a:latin typeface="Cambria Math" panose="02040503050406030204" pitchFamily="18" charset="0"/>
                      </a:rPr>
                      <m:t> </m:t>
                    </m:r>
                  </m:oMath>
                </a14:m>
                <a:r>
                  <a:rPr lang="en-US" sz="2000" b="0" cap="none" dirty="0"/>
                  <a:t>where </a:t>
                </a:r>
                <a14:m>
                  <m:oMath xmlns:m="http://schemas.openxmlformats.org/officeDocument/2006/math">
                    <m:sSub>
                      <m:sSubPr>
                        <m:ctrlPr>
                          <a:rPr lang="en-US" sz="2000" b="0" i="1" cap="none" smtClean="0">
                            <a:latin typeface="Cambria Math" panose="02040503050406030204" pitchFamily="18" charset="0"/>
                          </a:rPr>
                        </m:ctrlPr>
                      </m:sSubPr>
                      <m:e>
                        <m:r>
                          <a:rPr lang="en-US" sz="2000" b="0" i="1" cap="none" smtClean="0">
                            <a:latin typeface="Cambria Math" panose="02040503050406030204" pitchFamily="18" charset="0"/>
                          </a:rPr>
                          <m:t>𝜇</m:t>
                        </m:r>
                      </m:e>
                      <m:sub>
                        <m:r>
                          <a:rPr lang="en-US" sz="2000" b="0" i="1" cap="none" smtClean="0">
                            <a:latin typeface="Cambria Math" panose="02040503050406030204" pitchFamily="18" charset="0"/>
                          </a:rPr>
                          <m:t>𝑔𝑟𝑜𝑢𝑝</m:t>
                        </m:r>
                      </m:sub>
                    </m:sSub>
                    <m:r>
                      <a:rPr lang="en-US" sz="2000" b="0" i="1" cap="none" smtClean="0">
                        <a:latin typeface="Cambria Math" panose="02040503050406030204" pitchFamily="18" charset="0"/>
                      </a:rPr>
                      <m:t>=</m:t>
                    </m:r>
                    <m:f>
                      <m:fPr>
                        <m:ctrlPr>
                          <a:rPr lang="en-US" sz="2000" b="0" i="1" cap="none" smtClean="0">
                            <a:latin typeface="Cambria Math" panose="02040503050406030204" pitchFamily="18" charset="0"/>
                          </a:rPr>
                        </m:ctrlPr>
                      </m:fPr>
                      <m:num>
                        <m:r>
                          <a:rPr lang="en-US" sz="2000" b="0" i="1" cap="none" smtClean="0">
                            <a:latin typeface="Cambria Math" panose="02040503050406030204" pitchFamily="18" charset="0"/>
                          </a:rPr>
                          <m:t>1</m:t>
                        </m:r>
                      </m:num>
                      <m:den>
                        <m:r>
                          <a:rPr lang="en-US" sz="2000" b="0" i="1" cap="none" smtClean="0">
                            <a:latin typeface="Cambria Math" panose="02040503050406030204" pitchFamily="18" charset="0"/>
                          </a:rPr>
                          <m:t>4</m:t>
                        </m:r>
                      </m:den>
                    </m:f>
                    <m:r>
                      <a:rPr lang="en-US" sz="2000" b="0" i="1" cap="none" smtClean="0">
                        <a:latin typeface="Cambria Math" panose="02040503050406030204" pitchFamily="18" charset="0"/>
                      </a:rPr>
                      <m:t>∑</m:t>
                    </m:r>
                    <m:sSub>
                      <m:sSubPr>
                        <m:ctrlPr>
                          <a:rPr lang="en-US" sz="2000" b="0" i="1" cap="none" smtClean="0">
                            <a:latin typeface="Cambria Math" panose="02040503050406030204" pitchFamily="18" charset="0"/>
                          </a:rPr>
                        </m:ctrlPr>
                      </m:sSubPr>
                      <m:e>
                        <m:r>
                          <a:rPr lang="en-US" sz="2000" b="0" i="1" cap="none" smtClean="0">
                            <a:latin typeface="Cambria Math" panose="02040503050406030204" pitchFamily="18" charset="0"/>
                          </a:rPr>
                          <m:t>𝜇</m:t>
                        </m:r>
                      </m:e>
                      <m:sub>
                        <m:r>
                          <a:rPr lang="en-US" sz="2000" b="0" i="1" cap="none" smtClean="0">
                            <a:latin typeface="Cambria Math" panose="02040503050406030204" pitchFamily="18" charset="0"/>
                          </a:rPr>
                          <m:t>𝑖𝑛𝑑</m:t>
                        </m:r>
                      </m:sub>
                    </m:sSub>
                  </m:oMath>
                </a14:m>
                <a:r>
                  <a:rPr lang="en-US" sz="2000" b="0" cap="none" dirty="0"/>
                  <a:t>.</a:t>
                </a:r>
              </a:p>
              <a:p>
                <a:pPr algn="l"/>
                <a:r>
                  <a:rPr lang="en-US" sz="2000" cap="none" dirty="0"/>
                  <a:t>The relative accuracy shows how close a person's sensor is to an agreeable group value.</a:t>
                </a:r>
              </a:p>
              <a:p>
                <a:pPr algn="l"/>
                <a:r>
                  <a:rPr lang="en-US" sz="2000" cap="none" dirty="0"/>
                  <a:t>The low standard deviation values confirm that the internal "noise" or oscillation of the sensors was minimal during the 13-second collection window.</a:t>
                </a:r>
              </a:p>
              <a:p>
                <a:pPr algn="l"/>
                <a:r>
                  <a:rPr lang="en-US" sz="2000" cap="none" dirty="0"/>
                  <a:t>All sensors are within approximately 0.06 </a:t>
                </a:r>
                <a:r>
                  <a:rPr lang="en-US" sz="2000" cap="none" dirty="0" err="1"/>
                  <a:t>hPa</a:t>
                </a:r>
                <a:r>
                  <a:rPr lang="en-US" sz="2000" cap="none" dirty="0"/>
                  <a:t> of the group mean, indicating high precision from the manufacturer calibration between different iPhone models (13-16).</a:t>
                </a:r>
              </a:p>
              <a:p>
                <a:pPr algn="just"/>
                <a:endParaRPr lang="en-US" sz="2000" b="0" cap="none" dirty="0"/>
              </a:p>
              <a:p>
                <a:pPr algn="just"/>
                <a:endParaRPr lang="en-US" sz="2000" cap="none" baseline="-25000" dirty="0"/>
              </a:p>
            </p:txBody>
          </p:sp>
        </mc:Choice>
        <mc:Fallback>
          <p:sp>
            <p:nvSpPr>
              <p:cNvPr id="4" name="Text Placeholder 3">
                <a:extLst>
                  <a:ext uri="{FF2B5EF4-FFF2-40B4-BE49-F238E27FC236}">
                    <a16:creationId xmlns:a16="http://schemas.microsoft.com/office/drawing/2014/main" id="{F946D31B-31C2-1EA3-3589-2B7767A33B8C}"/>
                  </a:ext>
                </a:extLst>
              </p:cNvPr>
              <p:cNvSpPr>
                <a:spLocks noGrp="1" noRot="1" noChangeAspect="1" noMove="1" noResize="1" noEditPoints="1" noAdjustHandles="1" noChangeArrowheads="1" noChangeShapeType="1" noTextEdit="1"/>
              </p:cNvSpPr>
              <p:nvPr>
                <p:ph type="body" sz="half" idx="2"/>
              </p:nvPr>
            </p:nvSpPr>
            <p:spPr>
              <a:xfrm>
                <a:off x="913774" y="1854200"/>
                <a:ext cx="3935689" cy="4521200"/>
              </a:xfrm>
              <a:blipFill>
                <a:blip r:embed="rId2"/>
                <a:stretch>
                  <a:fillRect l="-965" t="-279" r="-965"/>
                </a:stretch>
              </a:blipFill>
            </p:spPr>
            <p:txBody>
              <a:bodyPr/>
              <a:lstStyle/>
              <a:p>
                <a:r>
                  <a:rPr lang="en-US">
                    <a:noFill/>
                  </a:rPr>
                  <a:t> </a:t>
                </a:r>
              </a:p>
            </p:txBody>
          </p:sp>
        </mc:Fallback>
      </mc:AlternateContent>
    </p:spTree>
    <p:extLst>
      <p:ext uri="{BB962C8B-B14F-4D97-AF65-F5344CB8AC3E}">
        <p14:creationId xmlns:p14="http://schemas.microsoft.com/office/powerpoint/2010/main" val="2057470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2B60-8EA8-0674-B0A4-95E3B1F0E17C}"/>
              </a:ext>
            </a:extLst>
          </p:cNvPr>
          <p:cNvSpPr>
            <a:spLocks noGrp="1"/>
          </p:cNvSpPr>
          <p:nvPr>
            <p:ph type="title"/>
          </p:nvPr>
        </p:nvSpPr>
        <p:spPr>
          <a:xfrm>
            <a:off x="913775" y="609600"/>
            <a:ext cx="3935688" cy="1155700"/>
          </a:xfrm>
        </p:spPr>
        <p:txBody>
          <a:bodyPr/>
          <a:lstStyle/>
          <a:p>
            <a:r>
              <a:rPr lang="en-US" dirty="0"/>
              <a:t>Sensor characterization</a:t>
            </a:r>
          </a:p>
        </p:txBody>
      </p:sp>
      <p:graphicFrame>
        <p:nvGraphicFramePr>
          <p:cNvPr id="5" name="Content Placeholder 4">
            <a:extLst>
              <a:ext uri="{FF2B5EF4-FFF2-40B4-BE49-F238E27FC236}">
                <a16:creationId xmlns:a16="http://schemas.microsoft.com/office/drawing/2014/main" id="{EB64F73D-4192-5634-E006-0F4187F751A4}"/>
              </a:ext>
            </a:extLst>
          </p:cNvPr>
          <p:cNvGraphicFramePr>
            <a:graphicFrameLocks noGrp="1"/>
          </p:cNvGraphicFramePr>
          <p:nvPr>
            <p:ph sz="quarter" idx="13"/>
            <p:extLst>
              <p:ext uri="{D42A27DB-BD31-4B8C-83A1-F6EECF244321}">
                <p14:modId xmlns:p14="http://schemas.microsoft.com/office/powerpoint/2010/main" val="68376204"/>
              </p:ext>
            </p:extLst>
          </p:nvPr>
        </p:nvGraphicFramePr>
        <p:xfrm>
          <a:off x="5333999" y="609601"/>
          <a:ext cx="5944224" cy="5727701"/>
        </p:xfrm>
        <a:graphic>
          <a:graphicData uri="http://schemas.openxmlformats.org/drawingml/2006/table">
            <a:tbl>
              <a:tblPr firstRow="1" bandRow="1">
                <a:tableStyleId>{5C22544A-7EE6-4342-B048-85BDC9FD1C3A}</a:tableStyleId>
              </a:tblPr>
              <a:tblGrid>
                <a:gridCol w="1981408">
                  <a:extLst>
                    <a:ext uri="{9D8B030D-6E8A-4147-A177-3AD203B41FA5}">
                      <a16:colId xmlns:a16="http://schemas.microsoft.com/office/drawing/2014/main" val="1943623141"/>
                    </a:ext>
                  </a:extLst>
                </a:gridCol>
                <a:gridCol w="1981408">
                  <a:extLst>
                    <a:ext uri="{9D8B030D-6E8A-4147-A177-3AD203B41FA5}">
                      <a16:colId xmlns:a16="http://schemas.microsoft.com/office/drawing/2014/main" val="2450344931"/>
                    </a:ext>
                  </a:extLst>
                </a:gridCol>
                <a:gridCol w="1981408">
                  <a:extLst>
                    <a:ext uri="{9D8B030D-6E8A-4147-A177-3AD203B41FA5}">
                      <a16:colId xmlns:a16="http://schemas.microsoft.com/office/drawing/2014/main" val="2428496797"/>
                    </a:ext>
                  </a:extLst>
                </a:gridCol>
              </a:tblGrid>
              <a:tr h="818243">
                <a:tc>
                  <a:txBody>
                    <a:bodyPr/>
                    <a:lstStyle/>
                    <a:p>
                      <a:pPr algn="ctr" rtl="0" fontAlgn="b">
                        <a:buNone/>
                      </a:pPr>
                      <a:r>
                        <a:rPr lang="en-US" dirty="0">
                          <a:solidFill>
                            <a:schemeClr val="tx1"/>
                          </a:solidFill>
                          <a:effectLst/>
                        </a:rPr>
                        <a:t>Device Comparison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a:solidFill>
                            <a:schemeClr val="tx1"/>
                          </a:solidFill>
                          <a:effectLst/>
                        </a:rPr>
                        <a:t>Calculated Difference (hPa)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Reported Precision (</a:t>
                      </a:r>
                      <a:r>
                        <a:rPr lang="en-US" dirty="0" err="1">
                          <a:solidFill>
                            <a:schemeClr val="tx1"/>
                          </a:solidFill>
                          <a:effectLst/>
                        </a:rPr>
                        <a:t>hPa</a:t>
                      </a:r>
                      <a:r>
                        <a:rPr lang="en-US" dirty="0">
                          <a:solidFill>
                            <a:schemeClr val="tx1"/>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0018279"/>
                  </a:ext>
                </a:extLst>
              </a:tr>
              <a:tr h="818243">
                <a:tc>
                  <a:txBody>
                    <a:bodyPr/>
                    <a:lstStyle/>
                    <a:p>
                      <a:pPr algn="ctr" rtl="0" fontAlgn="b">
                        <a:buNone/>
                      </a:pPr>
                      <a:r>
                        <a:rPr lang="en-US" dirty="0">
                          <a:solidFill>
                            <a:schemeClr val="tx1"/>
                          </a:solidFill>
                          <a:effectLst/>
                        </a:rPr>
                        <a:t>Daksh vs. Clarisse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0.0055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a:solidFill>
                            <a:schemeClr val="tx1"/>
                          </a:solidFill>
                          <a:effectLst/>
                        </a:rPr>
                        <a:t>0.006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056925"/>
                  </a:ext>
                </a:extLst>
              </a:tr>
              <a:tr h="818243">
                <a:tc>
                  <a:txBody>
                    <a:bodyPr/>
                    <a:lstStyle/>
                    <a:p>
                      <a:pPr algn="ctr" rtl="0" fontAlgn="b">
                        <a:buNone/>
                      </a:pPr>
                      <a:r>
                        <a:rPr lang="en-US" dirty="0">
                          <a:solidFill>
                            <a:schemeClr val="tx1"/>
                          </a:solidFill>
                          <a:effectLst/>
                        </a:rPr>
                        <a:t>Daksh vs. Tim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0.0054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5561260"/>
                  </a:ext>
                </a:extLst>
              </a:tr>
              <a:tr h="818243">
                <a:tc>
                  <a:txBody>
                    <a:bodyPr/>
                    <a:lstStyle/>
                    <a:p>
                      <a:pPr algn="ctr" rtl="0" fontAlgn="b">
                        <a:buNone/>
                      </a:pPr>
                      <a:r>
                        <a:rPr lang="en-US" dirty="0">
                          <a:solidFill>
                            <a:schemeClr val="tx1"/>
                          </a:solidFill>
                          <a:effectLst/>
                        </a:rPr>
                        <a:t>Daksh vs. Joel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2595744"/>
                  </a:ext>
                </a:extLst>
              </a:tr>
              <a:tr h="818243">
                <a:tc>
                  <a:txBody>
                    <a:bodyPr/>
                    <a:lstStyle/>
                    <a:p>
                      <a:pPr algn="ctr" rtl="0" fontAlgn="b">
                        <a:buNone/>
                      </a:pPr>
                      <a:r>
                        <a:rPr lang="en-US">
                          <a:solidFill>
                            <a:schemeClr val="tx1"/>
                          </a:solidFill>
                          <a:effectLst/>
                        </a:rPr>
                        <a:t>Clarisse vs. Tim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0.0104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9828135"/>
                  </a:ext>
                </a:extLst>
              </a:tr>
              <a:tr h="818243">
                <a:tc>
                  <a:txBody>
                    <a:bodyPr/>
                    <a:lstStyle/>
                    <a:p>
                      <a:pPr algn="ctr" rtl="0" fontAlgn="b">
                        <a:buNone/>
                      </a:pPr>
                      <a:r>
                        <a:rPr lang="en-US">
                          <a:solidFill>
                            <a:schemeClr val="tx1"/>
                          </a:solidFill>
                          <a:effectLst/>
                        </a:rPr>
                        <a:t>Clarisse vs. Joel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a:solidFill>
                            <a:schemeClr val="tx1"/>
                          </a:solidFill>
                          <a:effectLst/>
                        </a:rPr>
                        <a:t>0.0055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989342"/>
                  </a:ext>
                </a:extLst>
              </a:tr>
              <a:tr h="818243">
                <a:tc>
                  <a:txBody>
                    <a:bodyPr/>
                    <a:lstStyle/>
                    <a:p>
                      <a:pPr algn="ctr" rtl="0" fontAlgn="b">
                        <a:buNone/>
                      </a:pPr>
                      <a:r>
                        <a:rPr lang="en-US">
                          <a:solidFill>
                            <a:schemeClr val="tx1"/>
                          </a:solidFill>
                          <a:effectLst/>
                        </a:rPr>
                        <a:t>Tim vs. Joel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a:solidFill>
                            <a:schemeClr val="tx1"/>
                          </a:solidFill>
                          <a:effectLst/>
                        </a:rPr>
                        <a:t>0.0054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r>
                        <a:rPr lang="en-US" dirty="0">
                          <a:solidFill>
                            <a:schemeClr val="tx1"/>
                          </a:solidFill>
                          <a:effectLst/>
                        </a:rPr>
                        <a:t>0.005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3710103"/>
                  </a:ext>
                </a:extLst>
              </a:tr>
            </a:tbl>
          </a:graphicData>
        </a:graphic>
      </p:graphicFrame>
      <p:sp>
        <p:nvSpPr>
          <p:cNvPr id="4" name="Text Placeholder 3">
            <a:extLst>
              <a:ext uri="{FF2B5EF4-FFF2-40B4-BE49-F238E27FC236}">
                <a16:creationId xmlns:a16="http://schemas.microsoft.com/office/drawing/2014/main" id="{84E2C251-0BB0-2AD7-AB01-179B4F55295D}"/>
              </a:ext>
            </a:extLst>
          </p:cNvPr>
          <p:cNvSpPr>
            <a:spLocks noGrp="1"/>
          </p:cNvSpPr>
          <p:nvPr>
            <p:ph type="body" sz="half" idx="2"/>
          </p:nvPr>
        </p:nvSpPr>
        <p:spPr>
          <a:xfrm>
            <a:off x="913774" y="1905000"/>
            <a:ext cx="3935689" cy="3886200"/>
          </a:xfrm>
        </p:spPr>
        <p:txBody>
          <a:bodyPr>
            <a:normAutofit/>
          </a:bodyPr>
          <a:lstStyle/>
          <a:p>
            <a:pPr algn="l"/>
            <a:r>
              <a:rPr lang="en-US" sz="2000" cap="none" dirty="0"/>
              <a:t>The table here is showing the precision of the sensors by taking the absolute difference of the standard deviations of each person compared to another. The </a:t>
            </a:r>
          </a:p>
          <a:p>
            <a:pPr algn="l"/>
            <a:r>
              <a:rPr lang="en-US" sz="2000" cap="none" dirty="0"/>
              <a:t>The reported precision concludes that random fluctuations are negligible</a:t>
            </a:r>
          </a:p>
        </p:txBody>
      </p:sp>
    </p:spTree>
    <p:extLst>
      <p:ext uri="{BB962C8B-B14F-4D97-AF65-F5344CB8AC3E}">
        <p14:creationId xmlns:p14="http://schemas.microsoft.com/office/powerpoint/2010/main" val="2724483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52036-283E-3B55-F4AF-742576B28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5D96D-4211-2C13-7A30-2128DD6B838B}"/>
              </a:ext>
            </a:extLst>
          </p:cNvPr>
          <p:cNvSpPr>
            <a:spLocks noGrp="1"/>
          </p:cNvSpPr>
          <p:nvPr>
            <p:ph type="title"/>
          </p:nvPr>
        </p:nvSpPr>
        <p:spPr>
          <a:xfrm>
            <a:off x="913775" y="609600"/>
            <a:ext cx="3935688" cy="1435100"/>
          </a:xfrm>
        </p:spPr>
        <p:txBody>
          <a:bodyPr>
            <a:normAutofit fontScale="90000"/>
          </a:bodyPr>
          <a:lstStyle/>
          <a:p>
            <a:r>
              <a:rPr lang="en-US" dirty="0"/>
              <a:t>Modeling the relationship between Pressure vs height</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9A70114E-C42B-9DF4-2D94-F4C078C1DE52}"/>
                  </a:ext>
                </a:extLst>
              </p:cNvPr>
              <p:cNvSpPr>
                <a:spLocks noGrp="1"/>
              </p:cNvSpPr>
              <p:nvPr>
                <p:ph type="body" sz="half" idx="2"/>
              </p:nvPr>
            </p:nvSpPr>
            <p:spPr>
              <a:xfrm>
                <a:off x="913774" y="2044700"/>
                <a:ext cx="3935689" cy="4203700"/>
              </a:xfrm>
            </p:spPr>
            <p:txBody>
              <a:bodyPr>
                <a:noAutofit/>
              </a:bodyPr>
              <a:lstStyle/>
              <a:p>
                <a:pPr algn="l"/>
                <a:r>
                  <a:rPr lang="en-US" sz="1800" b="0" cap="none" dirty="0"/>
                  <a:t>Using the </a:t>
                </a:r>
                <a14:m>
                  <m:oMath xmlns:m="http://schemas.openxmlformats.org/officeDocument/2006/math">
                    <m:d>
                      <m:dPr>
                        <m:begChr m:val="|"/>
                        <m:endChr m:val="|"/>
                        <m:ctrlPr>
                          <a:rPr lang="en-US" sz="1800" b="0" i="1" cap="none" smtClean="0">
                            <a:latin typeface="Cambria Math" panose="02040503050406030204" pitchFamily="18" charset="0"/>
                          </a:rPr>
                        </m:ctrlPr>
                      </m:dPr>
                      <m:e>
                        <m:sSub>
                          <m:sSubPr>
                            <m:ctrlPr>
                              <a:rPr lang="en-US" sz="1800" b="0" i="1" cap="none" smtClean="0">
                                <a:latin typeface="Cambria Math" panose="02040503050406030204" pitchFamily="18" charset="0"/>
                              </a:rPr>
                            </m:ctrlPr>
                          </m:sSubPr>
                          <m:e>
                            <m:r>
                              <a:rPr lang="en-US" sz="1800" b="0" i="1" cap="none" smtClean="0">
                                <a:latin typeface="Cambria Math" panose="02040503050406030204" pitchFamily="18" charset="0"/>
                              </a:rPr>
                              <m:t>𝜇</m:t>
                            </m:r>
                          </m:e>
                          <m:sub>
                            <m:r>
                              <a:rPr lang="en-US" sz="1800" b="0" i="1" cap="none" smtClean="0">
                                <a:latin typeface="Cambria Math" panose="02040503050406030204" pitchFamily="18" charset="0"/>
                              </a:rPr>
                              <m:t>𝑔𝑟𝑜𝑢𝑝</m:t>
                            </m:r>
                          </m:sub>
                        </m:sSub>
                        <m:r>
                          <a:rPr lang="en-US" sz="1800" b="0" i="1" cap="none" smtClean="0">
                            <a:latin typeface="Cambria Math" panose="02040503050406030204" pitchFamily="18" charset="0"/>
                          </a:rPr>
                          <m:t>−</m:t>
                        </m:r>
                        <m:sSub>
                          <m:sSubPr>
                            <m:ctrlPr>
                              <a:rPr lang="en-US" sz="1800" b="0" i="1" cap="none" smtClean="0">
                                <a:latin typeface="Cambria Math" panose="02040503050406030204" pitchFamily="18" charset="0"/>
                              </a:rPr>
                            </m:ctrlPr>
                          </m:sSubPr>
                          <m:e>
                            <m:r>
                              <a:rPr lang="en-US" sz="1800" b="0" i="1" cap="none" smtClean="0">
                                <a:latin typeface="Cambria Math" panose="02040503050406030204" pitchFamily="18" charset="0"/>
                              </a:rPr>
                              <m:t>𝜇</m:t>
                            </m:r>
                          </m:e>
                          <m:sub>
                            <m:r>
                              <a:rPr lang="en-US" sz="1800" b="0" i="1" cap="none" smtClean="0">
                                <a:latin typeface="Cambria Math" panose="02040503050406030204" pitchFamily="18" charset="0"/>
                              </a:rPr>
                              <m:t>𝑖𝑛𝑑</m:t>
                            </m:r>
                          </m:sub>
                        </m:sSub>
                      </m:e>
                    </m:d>
                  </m:oMath>
                </a14:m>
                <a:r>
                  <a:rPr lang="en-US" sz="1800" cap="none" dirty="0"/>
                  <a:t> we can visualize how far off an individual was from the agreed measurement.</a:t>
                </a:r>
              </a:p>
              <a:p>
                <a:pPr algn="l"/>
                <a:r>
                  <a:rPr lang="en-US" sz="1800" cap="none" dirty="0"/>
                  <a:t>This graph illustrates the relative accuracy of each device across the five floors. Error bars represent the internal stability (standard deviation) of each sensor. The consistent horizontal trends demonstrate that despite small absolute offsets </a:t>
                </a:r>
                <a14:m>
                  <m:oMath xmlns:m="http://schemas.openxmlformats.org/officeDocument/2006/math">
                    <m:d>
                      <m:dPr>
                        <m:ctrlPr>
                          <a:rPr lang="en-US" sz="1800" i="1" cap="none" dirty="0" smtClean="0">
                            <a:latin typeface="Cambria Math" panose="02040503050406030204" pitchFamily="18" charset="0"/>
                          </a:rPr>
                        </m:ctrlPr>
                      </m:dPr>
                      <m:e>
                        <m:r>
                          <a:rPr lang="en-US" sz="1800" i="1" cap="none" dirty="0" smtClean="0">
                            <a:latin typeface="Cambria Math" panose="02040503050406030204" pitchFamily="18" charset="0"/>
                          </a:rPr>
                          <m:t>≈</m:t>
                        </m:r>
                        <m:r>
                          <a:rPr lang="en-US" sz="1800" i="1" cap="none" dirty="0">
                            <a:latin typeface="Cambria Math" panose="02040503050406030204" pitchFamily="18" charset="0"/>
                          </a:rPr>
                          <m:t>0.06</m:t>
                        </m:r>
                        <m:r>
                          <m:rPr>
                            <m:nor/>
                          </m:rPr>
                          <a:rPr lang="en-US" sz="1800" i="0" cap="none" dirty="0">
                            <a:latin typeface="Cambria Math" panose="02040503050406030204" pitchFamily="18" charset="0"/>
                          </a:rPr>
                          <m:t> </m:t>
                        </m:r>
                        <m:r>
                          <m:rPr>
                            <m:nor/>
                          </m:rPr>
                          <a:rPr lang="en-US" sz="1800" i="0" cap="none" dirty="0" err="1">
                            <a:latin typeface="Cambria Math" panose="02040503050406030204" pitchFamily="18" charset="0"/>
                          </a:rPr>
                          <m:t>h</m:t>
                        </m:r>
                        <m:r>
                          <m:rPr>
                            <m:nor/>
                          </m:rPr>
                          <a:rPr lang="en-US" sz="1800" b="0" i="0" cap="none" dirty="0" smtClean="0">
                            <a:latin typeface="Cambria Math" panose="02040503050406030204" pitchFamily="18" charset="0"/>
                          </a:rPr>
                          <m:t>P</m:t>
                        </m:r>
                        <m:r>
                          <m:rPr>
                            <m:nor/>
                          </m:rPr>
                          <a:rPr lang="en-US" sz="1800" i="0" cap="none" dirty="0" err="1">
                            <a:latin typeface="Cambria Math" panose="02040503050406030204" pitchFamily="18" charset="0"/>
                          </a:rPr>
                          <m:t>a</m:t>
                        </m:r>
                      </m:e>
                    </m:d>
                  </m:oMath>
                </a14:m>
                <a:r>
                  <a:rPr lang="en-US" sz="1800" cap="none" dirty="0"/>
                  <a:t>, the sensors maintain high relative precision throughout the experiment.</a:t>
                </a:r>
                <a:endParaRPr lang="en-US" sz="1800" b="0" cap="none" dirty="0"/>
              </a:p>
            </p:txBody>
          </p:sp>
        </mc:Choice>
        <mc:Fallback>
          <p:sp>
            <p:nvSpPr>
              <p:cNvPr id="4" name="Text Placeholder 3">
                <a:extLst>
                  <a:ext uri="{FF2B5EF4-FFF2-40B4-BE49-F238E27FC236}">
                    <a16:creationId xmlns:a16="http://schemas.microsoft.com/office/drawing/2014/main" id="{9A70114E-C42B-9DF4-2D94-F4C078C1DE52}"/>
                  </a:ext>
                </a:extLst>
              </p:cNvPr>
              <p:cNvSpPr>
                <a:spLocks noGrp="1" noRot="1" noChangeAspect="1" noMove="1" noResize="1" noEditPoints="1" noAdjustHandles="1" noChangeArrowheads="1" noChangeShapeType="1" noTextEdit="1"/>
              </p:cNvSpPr>
              <p:nvPr>
                <p:ph type="body" sz="half" idx="2"/>
              </p:nvPr>
            </p:nvSpPr>
            <p:spPr>
              <a:xfrm>
                <a:off x="913774" y="2044700"/>
                <a:ext cx="3935689" cy="4203700"/>
              </a:xfrm>
              <a:blipFill>
                <a:blip r:embed="rId2"/>
                <a:stretch>
                  <a:fillRect l="-1608" b="-2102"/>
                </a:stretch>
              </a:blipFill>
            </p:spPr>
            <p:txBody>
              <a:bodyPr/>
              <a:lstStyle/>
              <a:p>
                <a:r>
                  <a:rPr lang="en-US">
                    <a:noFill/>
                  </a:rPr>
                  <a:t> </a:t>
                </a:r>
              </a:p>
            </p:txBody>
          </p:sp>
        </mc:Fallback>
      </mc:AlternateContent>
      <p:pic>
        <p:nvPicPr>
          <p:cNvPr id="7" name="Content Placeholder 6" descr="A graph with red and blue lines&#10;&#10;AI-generated content may be incorrect.">
            <a:extLst>
              <a:ext uri="{FF2B5EF4-FFF2-40B4-BE49-F238E27FC236}">
                <a16:creationId xmlns:a16="http://schemas.microsoft.com/office/drawing/2014/main" id="{A728CC48-3FCF-BFA1-5D7D-AB9409D3FB79}"/>
              </a:ext>
            </a:extLst>
          </p:cNvPr>
          <p:cNvPicPr>
            <a:picLocks noGrp="1" noChangeAspect="1"/>
          </p:cNvPicPr>
          <p:nvPr>
            <p:ph sz="quarter" idx="13"/>
          </p:nvPr>
        </p:nvPicPr>
        <p:blipFill>
          <a:blip r:embed="rId3"/>
          <a:stretch>
            <a:fillRect/>
          </a:stretch>
        </p:blipFill>
        <p:spPr>
          <a:xfrm>
            <a:off x="5078413" y="1271366"/>
            <a:ext cx="6199187" cy="3858068"/>
          </a:xfrm>
          <a:prstGeom prst="rect">
            <a:avLst/>
          </a:prstGeom>
        </p:spPr>
      </p:pic>
    </p:spTree>
    <p:extLst>
      <p:ext uri="{BB962C8B-B14F-4D97-AF65-F5344CB8AC3E}">
        <p14:creationId xmlns:p14="http://schemas.microsoft.com/office/powerpoint/2010/main" val="3846327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4A4D-13E8-94DC-C524-DA7A2AC46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7DFD3-5CF9-94CF-348B-D5B319F47832}"/>
              </a:ext>
            </a:extLst>
          </p:cNvPr>
          <p:cNvSpPr>
            <a:spLocks noGrp="1"/>
          </p:cNvSpPr>
          <p:nvPr>
            <p:ph type="title"/>
          </p:nvPr>
        </p:nvSpPr>
        <p:spPr>
          <a:xfrm>
            <a:off x="913775" y="609600"/>
            <a:ext cx="3935688" cy="1435100"/>
          </a:xfrm>
        </p:spPr>
        <p:txBody>
          <a:bodyPr>
            <a:normAutofit fontScale="90000"/>
          </a:bodyPr>
          <a:lstStyle/>
          <a:p>
            <a:r>
              <a:rPr lang="en-US" dirty="0"/>
              <a:t>Modeling the relationship between Pressure vs height</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A8DB204B-AEF1-7E91-A35B-67F16178A523}"/>
                  </a:ext>
                </a:extLst>
              </p:cNvPr>
              <p:cNvSpPr>
                <a:spLocks noGrp="1"/>
              </p:cNvSpPr>
              <p:nvPr>
                <p:ph type="body" sz="half" idx="2"/>
              </p:nvPr>
            </p:nvSpPr>
            <p:spPr>
              <a:xfrm>
                <a:off x="913774" y="2044700"/>
                <a:ext cx="3935689" cy="4203700"/>
              </a:xfrm>
            </p:spPr>
            <p:txBody>
              <a:bodyPr>
                <a:normAutofit/>
              </a:bodyPr>
              <a:lstStyle/>
              <a:p>
                <a:pPr algn="l"/>
                <a:r>
                  <a:rPr lang="en-US" sz="2000" cap="none" dirty="0"/>
                  <a:t>The data points represent the group average of four smartphone barometers at five floor levels. Error bars denote ±1 standard deviation of the measured pressure at each floor. The black line represents the linear best-fit </a:t>
                </a:r>
                <a14:m>
                  <m:oMath xmlns:m="http://schemas.openxmlformats.org/officeDocument/2006/math">
                    <m:d>
                      <m:dPr>
                        <m:ctrlPr>
                          <a:rPr lang="en-US" sz="2000" i="1" cap="none" dirty="0" smtClean="0">
                            <a:latin typeface="Cambria Math" panose="02040503050406030204" pitchFamily="18" charset="0"/>
                          </a:rPr>
                        </m:ctrlPr>
                      </m:dPr>
                      <m:e>
                        <m:r>
                          <a:rPr lang="en-US" sz="2000" i="1" cap="none" dirty="0" smtClean="0">
                            <a:latin typeface="Cambria Math" panose="02040503050406030204" pitchFamily="18" charset="0"/>
                          </a:rPr>
                          <m:t>𝑃</m:t>
                        </m:r>
                        <m:r>
                          <a:rPr lang="en-US" sz="2000" i="1" cap="none" dirty="0" smtClean="0">
                            <a:latin typeface="Cambria Math" panose="02040503050406030204" pitchFamily="18" charset="0"/>
                          </a:rPr>
                          <m:t>=−0.1562</m:t>
                        </m:r>
                        <m:r>
                          <a:rPr lang="en-US" sz="2000" i="1" cap="none" dirty="0" smtClean="0">
                            <a:latin typeface="Cambria Math" panose="02040503050406030204" pitchFamily="18" charset="0"/>
                          </a:rPr>
                          <m:t>𝑦</m:t>
                        </m:r>
                        <m:r>
                          <a:rPr lang="en-US" sz="2000" i="1" cap="none" dirty="0" smtClean="0">
                            <a:latin typeface="Cambria Math" panose="02040503050406030204" pitchFamily="18" charset="0"/>
                          </a:rPr>
                          <m:t>+</m:t>
                        </m:r>
                        <m:sSub>
                          <m:sSubPr>
                            <m:ctrlPr>
                              <a:rPr lang="en-US" sz="2000" i="1" cap="none" dirty="0" smtClean="0">
                                <a:latin typeface="Cambria Math" panose="02040503050406030204" pitchFamily="18" charset="0"/>
                              </a:rPr>
                            </m:ctrlPr>
                          </m:sSubPr>
                          <m:e>
                            <m:r>
                              <a:rPr lang="en-US" sz="2000" i="1" cap="none" dirty="0" smtClean="0">
                                <a:latin typeface="Cambria Math" panose="02040503050406030204" pitchFamily="18" charset="0"/>
                              </a:rPr>
                              <m:t>𝑃</m:t>
                            </m:r>
                          </m:e>
                          <m:sub>
                            <m:r>
                              <a:rPr lang="en-US" sz="2000" i="1" cap="none" dirty="0" smtClean="0">
                                <a:latin typeface="Cambria Math" panose="02040503050406030204" pitchFamily="18" charset="0"/>
                              </a:rPr>
                              <m:t>0</m:t>
                            </m:r>
                          </m:sub>
                        </m:sSub>
                      </m:e>
                    </m:d>
                  </m:oMath>
                </a14:m>
                <a:r>
                  <a:rPr lang="en-US" sz="2000" cap="none" dirty="0"/>
                  <a:t>, used to derive experimental air density.</a:t>
                </a:r>
                <a:endParaRPr lang="en-US" sz="2000" b="0" cap="none" dirty="0"/>
              </a:p>
            </p:txBody>
          </p:sp>
        </mc:Choice>
        <mc:Fallback>
          <p:sp>
            <p:nvSpPr>
              <p:cNvPr id="4" name="Text Placeholder 3">
                <a:extLst>
                  <a:ext uri="{FF2B5EF4-FFF2-40B4-BE49-F238E27FC236}">
                    <a16:creationId xmlns:a16="http://schemas.microsoft.com/office/drawing/2014/main" id="{A8DB204B-AEF1-7E91-A35B-67F16178A523}"/>
                  </a:ext>
                </a:extLst>
              </p:cNvPr>
              <p:cNvSpPr>
                <a:spLocks noGrp="1" noRot="1" noChangeAspect="1" noMove="1" noResize="1" noEditPoints="1" noAdjustHandles="1" noChangeArrowheads="1" noChangeShapeType="1" noTextEdit="1"/>
              </p:cNvSpPr>
              <p:nvPr>
                <p:ph type="body" sz="half" idx="2"/>
              </p:nvPr>
            </p:nvSpPr>
            <p:spPr>
              <a:xfrm>
                <a:off x="913774" y="2044700"/>
                <a:ext cx="3935689" cy="4203700"/>
              </a:xfrm>
              <a:blipFill>
                <a:blip r:embed="rId2"/>
                <a:stretch>
                  <a:fillRect l="-3859" r="-643"/>
                </a:stretch>
              </a:blipFill>
            </p:spPr>
            <p:txBody>
              <a:bodyPr/>
              <a:lstStyle/>
              <a:p>
                <a:r>
                  <a:rPr lang="en-US">
                    <a:noFill/>
                  </a:rPr>
                  <a:t> </a:t>
                </a:r>
              </a:p>
            </p:txBody>
          </p:sp>
        </mc:Fallback>
      </mc:AlternateContent>
      <p:pic>
        <p:nvPicPr>
          <p:cNvPr id="8" name="Content Placeholder 7" descr="A graph with numbers and points&#10;&#10;AI-generated content may be incorrect.">
            <a:extLst>
              <a:ext uri="{FF2B5EF4-FFF2-40B4-BE49-F238E27FC236}">
                <a16:creationId xmlns:a16="http://schemas.microsoft.com/office/drawing/2014/main" id="{B68A7613-5768-147F-91A8-DFF3E27CE23C}"/>
              </a:ext>
            </a:extLst>
          </p:cNvPr>
          <p:cNvPicPr>
            <a:picLocks noGrp="1" noChangeAspect="1"/>
          </p:cNvPicPr>
          <p:nvPr>
            <p:ph sz="quarter" idx="13"/>
          </p:nvPr>
        </p:nvPicPr>
        <p:blipFill>
          <a:blip r:embed="rId3"/>
          <a:stretch>
            <a:fillRect/>
          </a:stretch>
        </p:blipFill>
        <p:spPr>
          <a:xfrm>
            <a:off x="5408692" y="1014116"/>
            <a:ext cx="6326107" cy="4829768"/>
          </a:xfrm>
          <a:prstGeom prst="rect">
            <a:avLst/>
          </a:prstGeom>
        </p:spPr>
      </p:pic>
    </p:spTree>
    <p:extLst>
      <p:ext uri="{BB962C8B-B14F-4D97-AF65-F5344CB8AC3E}">
        <p14:creationId xmlns:p14="http://schemas.microsoft.com/office/powerpoint/2010/main" val="3462715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20FC4-FD66-952E-77A7-4D3EE3C4E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D30F2-2F87-9252-23C9-ACB144A3C55C}"/>
              </a:ext>
            </a:extLst>
          </p:cNvPr>
          <p:cNvSpPr>
            <a:spLocks noGrp="1"/>
          </p:cNvSpPr>
          <p:nvPr>
            <p:ph type="title"/>
          </p:nvPr>
        </p:nvSpPr>
        <p:spPr>
          <a:xfrm>
            <a:off x="913775" y="609600"/>
            <a:ext cx="3935688" cy="1435100"/>
          </a:xfrm>
        </p:spPr>
        <p:txBody>
          <a:bodyPr>
            <a:normAutofit fontScale="90000"/>
          </a:bodyPr>
          <a:lstStyle/>
          <a:p>
            <a:r>
              <a:rPr lang="en-US" dirty="0"/>
              <a:t>Modeling the relationship between Pressure vs height</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48C87EFD-C655-0D53-25F4-D913C89F154A}"/>
                  </a:ext>
                </a:extLst>
              </p:cNvPr>
              <p:cNvSpPr>
                <a:spLocks noGrp="1"/>
              </p:cNvSpPr>
              <p:nvPr>
                <p:ph type="body" sz="half" idx="2"/>
              </p:nvPr>
            </p:nvSpPr>
            <p:spPr>
              <a:xfrm>
                <a:off x="913774" y="2044700"/>
                <a:ext cx="3935689" cy="4203700"/>
              </a:xfrm>
            </p:spPr>
            <p:txBody>
              <a:bodyPr>
                <a:normAutofit fontScale="55000" lnSpcReduction="20000"/>
              </a:bodyPr>
              <a:lstStyle/>
              <a:p>
                <a:pPr algn="l"/>
                <a:r>
                  <a:rPr lang="en-US" sz="3200" cap="none" dirty="0"/>
                  <a:t>The slope finds an experimental air density of </a:t>
                </a:r>
                <a14:m>
                  <m:oMath xmlns:m="http://schemas.openxmlformats.org/officeDocument/2006/math">
                    <m:r>
                      <a:rPr lang="en-US" sz="3200" i="1" cap="none" dirty="0" smtClean="0">
                        <a:latin typeface="Cambria Math" panose="02040503050406030204" pitchFamily="18" charset="0"/>
                      </a:rPr>
                      <m:t>1.5927</m:t>
                    </m:r>
                    <m:r>
                      <a:rPr lang="en-US" sz="3200" b="0" i="1" cap="none" dirty="0" smtClean="0">
                        <a:latin typeface="Cambria Math" panose="02040503050406030204" pitchFamily="18" charset="0"/>
                      </a:rPr>
                      <m:t> </m:t>
                    </m:r>
                    <m:r>
                      <a:rPr lang="en-US" sz="3200" b="0" i="1" cap="none" dirty="0" smtClean="0">
                        <a:latin typeface="Cambria Math" panose="02040503050406030204" pitchFamily="18" charset="0"/>
                      </a:rPr>
                      <m:t>𝑘𝑔</m:t>
                    </m:r>
                    <m:r>
                      <m:rPr>
                        <m:lit/>
                      </m:rPr>
                      <a:rPr lang="en-US" sz="3200" b="0" i="1" cap="none" dirty="0" smtClean="0">
                        <a:latin typeface="Cambria Math" panose="02040503050406030204" pitchFamily="18" charset="0"/>
                      </a:rPr>
                      <m:t>/</m:t>
                    </m:r>
                    <m:sSup>
                      <m:sSupPr>
                        <m:ctrlPr>
                          <a:rPr lang="en-US" sz="3200" b="0" i="1" cap="none" dirty="0" smtClean="0">
                            <a:latin typeface="Cambria Math" panose="02040503050406030204" pitchFamily="18" charset="0"/>
                          </a:rPr>
                        </m:ctrlPr>
                      </m:sSupPr>
                      <m:e>
                        <m:r>
                          <a:rPr lang="en-US" sz="3200" b="0" i="1" cap="none" dirty="0" smtClean="0">
                            <a:latin typeface="Cambria Math" panose="02040503050406030204" pitchFamily="18" charset="0"/>
                          </a:rPr>
                          <m:t>𝑚</m:t>
                        </m:r>
                      </m:e>
                      <m:sup>
                        <m:r>
                          <a:rPr lang="en-US" sz="3200" b="0" i="1" cap="none" dirty="0" smtClean="0">
                            <a:latin typeface="Cambria Math" panose="02040503050406030204" pitchFamily="18" charset="0"/>
                          </a:rPr>
                          <m:t>3</m:t>
                        </m:r>
                      </m:sup>
                    </m:sSup>
                  </m:oMath>
                </a14:m>
                <a:r>
                  <a:rPr lang="en-US" sz="3200" b="0" i="1" cap="none" dirty="0">
                    <a:latin typeface="Cambria Math" panose="02040503050406030204" pitchFamily="18" charset="0"/>
                  </a:rPr>
                  <a:t> </a:t>
                </a:r>
                <a:r>
                  <a:rPr lang="en-US" sz="3200" b="0" cap="none" dirty="0"/>
                  <a:t>with a percent error of </a:t>
                </a:r>
                <a14:m>
                  <m:oMath xmlns:m="http://schemas.openxmlformats.org/officeDocument/2006/math">
                    <m:r>
                      <a:rPr lang="en-US" sz="3200" b="0" i="1" cap="none" smtClean="0">
                        <a:latin typeface="Cambria Math" panose="02040503050406030204" pitchFamily="18" charset="0"/>
                      </a:rPr>
                      <m:t>32.37%</m:t>
                    </m:r>
                  </m:oMath>
                </a14:m>
                <a:r>
                  <a:rPr lang="en-US" sz="3200" b="0" i="1" cap="none" dirty="0"/>
                  <a:t> </a:t>
                </a:r>
                <a:r>
                  <a:rPr lang="en-US" sz="3200" b="0" cap="none" dirty="0"/>
                  <a:t>to the theoretical density of </a:t>
                </a:r>
                <a14:m>
                  <m:oMath xmlns:m="http://schemas.openxmlformats.org/officeDocument/2006/math">
                    <m:r>
                      <a:rPr lang="en-US" sz="3200" b="0" i="1" cap="none" smtClean="0">
                        <a:latin typeface="Cambria Math" panose="02040503050406030204" pitchFamily="18" charset="0"/>
                      </a:rPr>
                      <m:t>1.2032 </m:t>
                    </m:r>
                    <m:r>
                      <a:rPr lang="en-US" sz="3200" b="0" i="1" cap="none" smtClean="0">
                        <a:latin typeface="Cambria Math" panose="02040503050406030204" pitchFamily="18" charset="0"/>
                      </a:rPr>
                      <m:t>𝑘𝑔</m:t>
                    </m:r>
                    <m:r>
                      <m:rPr>
                        <m:lit/>
                      </m:rPr>
                      <a:rPr lang="en-US" sz="3200" b="0" i="1" cap="none" smtClean="0">
                        <a:latin typeface="Cambria Math" panose="02040503050406030204" pitchFamily="18" charset="0"/>
                      </a:rPr>
                      <m:t>/</m:t>
                    </m:r>
                    <m:sSup>
                      <m:sSupPr>
                        <m:ctrlPr>
                          <a:rPr lang="en-US" sz="3200" b="0" i="1" cap="none" smtClean="0">
                            <a:latin typeface="Cambria Math" panose="02040503050406030204" pitchFamily="18" charset="0"/>
                          </a:rPr>
                        </m:ctrlPr>
                      </m:sSupPr>
                      <m:e>
                        <m:r>
                          <a:rPr lang="en-US" sz="3200" b="0" i="1" cap="none" smtClean="0">
                            <a:latin typeface="Cambria Math" panose="02040503050406030204" pitchFamily="18" charset="0"/>
                          </a:rPr>
                          <m:t>𝑚</m:t>
                        </m:r>
                      </m:e>
                      <m:sup>
                        <m:r>
                          <a:rPr lang="en-US" sz="3200" b="0" i="1" cap="none" smtClean="0">
                            <a:latin typeface="Cambria Math" panose="02040503050406030204" pitchFamily="18" charset="0"/>
                          </a:rPr>
                          <m:t>3</m:t>
                        </m:r>
                      </m:sup>
                    </m:sSup>
                  </m:oMath>
                </a14:m>
                <a:r>
                  <a:rPr lang="en-US" sz="3200" cap="none" dirty="0"/>
                  <a:t>.</a:t>
                </a:r>
              </a:p>
              <a:p>
                <a:pPr algn="l"/>
                <a:r>
                  <a:rPr lang="en-US" sz="3200" b="0" cap="none" dirty="0"/>
                  <a:t>Using </a:t>
                </a:r>
                <a14:m>
                  <m:oMath xmlns:m="http://schemas.openxmlformats.org/officeDocument/2006/math">
                    <m:r>
                      <a:rPr lang="en-US" sz="3200" b="0" i="1" cap="none" smtClean="0">
                        <a:latin typeface="Cambria Math" panose="02040503050406030204" pitchFamily="18" charset="0"/>
                      </a:rPr>
                      <m:t>𝑃</m:t>
                    </m:r>
                    <m:r>
                      <a:rPr lang="en-US" sz="3200" b="0" i="1" cap="none" smtClean="0">
                        <a:latin typeface="Cambria Math" panose="02040503050406030204" pitchFamily="18" charset="0"/>
                      </a:rPr>
                      <m:t>=</m:t>
                    </m:r>
                    <m:sSub>
                      <m:sSubPr>
                        <m:ctrlPr>
                          <a:rPr lang="en-US" sz="3200" b="0" i="1" cap="none" smtClean="0">
                            <a:latin typeface="Cambria Math" panose="02040503050406030204" pitchFamily="18" charset="0"/>
                          </a:rPr>
                        </m:ctrlPr>
                      </m:sSubPr>
                      <m:e>
                        <m:r>
                          <a:rPr lang="en-US" sz="3200" b="0" i="1" cap="none" smtClean="0">
                            <a:latin typeface="Cambria Math" panose="02040503050406030204" pitchFamily="18" charset="0"/>
                          </a:rPr>
                          <m:t>𝑃</m:t>
                        </m:r>
                      </m:e>
                      <m:sub>
                        <m:r>
                          <a:rPr lang="en-US" sz="3200" b="0" i="1" cap="none" smtClean="0">
                            <a:latin typeface="Cambria Math" panose="02040503050406030204" pitchFamily="18" charset="0"/>
                          </a:rPr>
                          <m:t>0</m:t>
                        </m:r>
                      </m:sub>
                    </m:sSub>
                    <m:r>
                      <a:rPr lang="en-US" sz="3200" b="0" i="1" cap="none" smtClean="0">
                        <a:latin typeface="Cambria Math" panose="02040503050406030204" pitchFamily="18" charset="0"/>
                      </a:rPr>
                      <m:t>−</m:t>
                    </m:r>
                    <m:r>
                      <a:rPr lang="en-US" sz="3200" b="0" i="1" cap="none" smtClean="0">
                        <a:latin typeface="Cambria Math" panose="02040503050406030204" pitchFamily="18" charset="0"/>
                      </a:rPr>
                      <m:t>𝜌</m:t>
                    </m:r>
                    <m:r>
                      <a:rPr lang="en-US" sz="3200" b="0" i="1" cap="none" smtClean="0">
                        <a:latin typeface="Cambria Math" panose="02040503050406030204" pitchFamily="18" charset="0"/>
                      </a:rPr>
                      <m:t>𝑔𝑦</m:t>
                    </m:r>
                  </m:oMath>
                </a14:m>
                <a:r>
                  <a:rPr lang="en-US" sz="3200" b="0" cap="none" dirty="0"/>
                  <a:t>, the derived air densit</a:t>
                </a:r>
                <a:r>
                  <a:rPr lang="en-US" sz="3200" cap="none" dirty="0"/>
                  <a:t>y from </a:t>
                </a:r>
                <a:r>
                  <a:rPr lang="en-US" sz="3200" cap="none" dirty="0" err="1"/>
                  <a:t>hPa</a:t>
                </a:r>
                <a:r>
                  <a:rPr lang="en-US" sz="3200" cap="none" dirty="0"/>
                  <a:t> to kg/m^3 is </a:t>
                </a:r>
              </a:p>
              <a:p>
                <a:pPr algn="l"/>
                <a14:m>
                  <m:oMathPara xmlns:m="http://schemas.openxmlformats.org/officeDocument/2006/math">
                    <m:oMathParaPr>
                      <m:jc m:val="centerGroup"/>
                    </m:oMathParaPr>
                    <m:oMath xmlns:m="http://schemas.openxmlformats.org/officeDocument/2006/math">
                      <m:sSub>
                        <m:sSubPr>
                          <m:ctrlPr>
                            <a:rPr lang="en-US" sz="3200" b="0" i="1" cap="none" smtClean="0">
                              <a:latin typeface="Cambria Math" panose="02040503050406030204" pitchFamily="18" charset="0"/>
                            </a:rPr>
                          </m:ctrlPr>
                        </m:sSubPr>
                        <m:e>
                          <m:r>
                            <a:rPr lang="en-US" sz="3200" b="0" i="1" cap="none" smtClean="0">
                              <a:latin typeface="Cambria Math" panose="02040503050406030204" pitchFamily="18" charset="0"/>
                            </a:rPr>
                            <m:t>𝜌</m:t>
                          </m:r>
                        </m:e>
                        <m:sub>
                          <m:r>
                            <m:rPr>
                              <m:sty m:val="p"/>
                            </m:rPr>
                            <a:rPr lang="en-US" sz="3200" b="0" i="1" cap="none" smtClean="0">
                              <a:latin typeface="Cambria Math" panose="02040503050406030204" pitchFamily="18" charset="0"/>
                            </a:rPr>
                            <m:t>experimental</m:t>
                          </m:r>
                        </m:sub>
                      </m:sSub>
                      <m:r>
                        <a:rPr lang="en-US" sz="3200" b="0" i="1" cap="none" smtClean="0">
                          <a:latin typeface="Cambria Math" panose="02040503050406030204" pitchFamily="18" charset="0"/>
                        </a:rPr>
                        <m:t>=</m:t>
                      </m:r>
                      <m:f>
                        <m:fPr>
                          <m:ctrlPr>
                            <a:rPr lang="en-US" sz="3200" b="0" i="1" cap="none" smtClean="0">
                              <a:latin typeface="Cambria Math" panose="02040503050406030204" pitchFamily="18" charset="0"/>
                            </a:rPr>
                          </m:ctrlPr>
                        </m:fPr>
                        <m:num>
                          <m:r>
                            <a:rPr lang="en-US" sz="3200" b="0" i="1" cap="none" smtClean="0">
                              <a:latin typeface="Cambria Math" panose="02040503050406030204" pitchFamily="18" charset="0"/>
                            </a:rPr>
                            <m:t>−</m:t>
                          </m:r>
                          <m:d>
                            <m:dPr>
                              <m:ctrlPr>
                                <a:rPr lang="en-US" sz="3200" b="0" i="1" cap="none" smtClean="0">
                                  <a:latin typeface="Cambria Math" panose="02040503050406030204" pitchFamily="18" charset="0"/>
                                </a:rPr>
                              </m:ctrlPr>
                            </m:dPr>
                            <m:e>
                              <m:r>
                                <a:rPr lang="en-US" sz="3200" b="0" i="1" cap="none" smtClean="0">
                                  <a:latin typeface="Cambria Math" panose="02040503050406030204" pitchFamily="18" charset="0"/>
                                </a:rPr>
                                <m:t>𝑠𝑙𝑜𝑝𝑒</m:t>
                              </m:r>
                              <m:r>
                                <a:rPr lang="en-US" sz="3200" b="0" i="1" cap="none" smtClean="0">
                                  <a:latin typeface="Cambria Math" panose="02040503050406030204" pitchFamily="18" charset="0"/>
                                </a:rPr>
                                <m:t>×100</m:t>
                              </m:r>
                            </m:e>
                          </m:d>
                        </m:num>
                        <m:den>
                          <m:r>
                            <a:rPr lang="en-US" sz="3200" b="0" i="1" cap="none" smtClean="0">
                              <a:latin typeface="Cambria Math" panose="02040503050406030204" pitchFamily="18" charset="0"/>
                            </a:rPr>
                            <m:t>𝑔</m:t>
                          </m:r>
                        </m:den>
                      </m:f>
                    </m:oMath>
                  </m:oMathPara>
                </a14:m>
                <a:endParaRPr lang="en-US" sz="3200" b="0" cap="none" dirty="0"/>
              </a:p>
              <a:p>
                <a:pPr algn="l"/>
                <a:r>
                  <a:rPr lang="en-US" sz="3200" cap="none" dirty="0"/>
                  <a:t>The theoretical air density was found using ideal gas law at </a:t>
                </a:r>
                <a14:m>
                  <m:oMath xmlns:m="http://schemas.openxmlformats.org/officeDocument/2006/math">
                    <m:r>
                      <a:rPr lang="en-US" sz="3200" b="0" i="1" cap="none" smtClean="0">
                        <a:latin typeface="Cambria Math" panose="02040503050406030204" pitchFamily="18" charset="0"/>
                      </a:rPr>
                      <m:t>𝑇</m:t>
                    </m:r>
                    <m:r>
                      <a:rPr lang="en-US" sz="3200" b="0" i="1" cap="none" smtClean="0">
                        <a:latin typeface="Cambria Math" panose="02040503050406030204" pitchFamily="18" charset="0"/>
                      </a:rPr>
                      <m:t>=20°</m:t>
                    </m:r>
                    <m:r>
                      <a:rPr lang="en-US" sz="3200" b="0" i="1" cap="none" smtClean="0">
                        <a:latin typeface="Cambria Math" panose="02040503050406030204" pitchFamily="18" charset="0"/>
                      </a:rPr>
                      <m:t>𝐶</m:t>
                    </m:r>
                    <m:r>
                      <a:rPr lang="en-US" sz="3200" b="0" i="1" cap="none" smtClean="0">
                        <a:latin typeface="Cambria Math" panose="02040503050406030204" pitchFamily="18" charset="0"/>
                      </a:rPr>
                      <m:t>, </m:t>
                    </m:r>
                    <m:r>
                      <a:rPr lang="en-US" sz="3200" b="0" i="1" cap="none" smtClean="0">
                        <a:latin typeface="Cambria Math" panose="02040503050406030204" pitchFamily="18" charset="0"/>
                      </a:rPr>
                      <m:t>𝑀</m:t>
                    </m:r>
                    <m:r>
                      <a:rPr lang="en-US" sz="3200" b="0" i="1" cap="none" smtClean="0">
                        <a:latin typeface="Cambria Math" panose="02040503050406030204" pitchFamily="18" charset="0"/>
                      </a:rPr>
                      <m:t>=0.02897 </m:t>
                    </m:r>
                    <m:r>
                      <a:rPr lang="en-US" sz="3200" b="0" i="1" cap="none" smtClean="0">
                        <a:latin typeface="Cambria Math" panose="02040503050406030204" pitchFamily="18" charset="0"/>
                      </a:rPr>
                      <m:t>𝑘𝑔</m:t>
                    </m:r>
                    <m:r>
                      <m:rPr>
                        <m:lit/>
                      </m:rPr>
                      <a:rPr lang="en-US" sz="3200" b="0" i="1" cap="none" smtClean="0">
                        <a:latin typeface="Cambria Math" panose="02040503050406030204" pitchFamily="18" charset="0"/>
                      </a:rPr>
                      <m:t>/</m:t>
                    </m:r>
                    <m:r>
                      <a:rPr lang="en-US" sz="3200" b="0" i="1" cap="none" smtClean="0">
                        <a:latin typeface="Cambria Math" panose="02040503050406030204" pitchFamily="18" charset="0"/>
                      </a:rPr>
                      <m:t>𝑚𝑜𝑙</m:t>
                    </m:r>
                    <m:r>
                      <a:rPr lang="en-US" sz="3200" b="0" i="1" cap="none" smtClean="0">
                        <a:latin typeface="Cambria Math" panose="02040503050406030204" pitchFamily="18" charset="0"/>
                      </a:rPr>
                      <m:t>, </m:t>
                    </m:r>
                    <m:r>
                      <a:rPr lang="en-US" sz="3200" b="0" i="1" cap="none" smtClean="0">
                        <a:latin typeface="Cambria Math" panose="02040503050406030204" pitchFamily="18" charset="0"/>
                      </a:rPr>
                      <m:t>𝑅</m:t>
                    </m:r>
                    <m:r>
                      <a:rPr lang="en-US" sz="3200" b="0" i="1" cap="none" smtClean="0">
                        <a:latin typeface="Cambria Math" panose="02040503050406030204" pitchFamily="18" charset="0"/>
                      </a:rPr>
                      <m:t>=8.314 </m:t>
                    </m:r>
                    <m:r>
                      <a:rPr lang="en-US" sz="3200" b="0" i="1" cap="none" smtClean="0">
                        <a:latin typeface="Cambria Math" panose="02040503050406030204" pitchFamily="18" charset="0"/>
                      </a:rPr>
                      <m:t>𝐽</m:t>
                    </m:r>
                    <m:r>
                      <m:rPr>
                        <m:lit/>
                      </m:rPr>
                      <a:rPr lang="en-US" sz="3200" b="0" i="1" cap="none" smtClean="0">
                        <a:latin typeface="Cambria Math" panose="02040503050406030204" pitchFamily="18" charset="0"/>
                      </a:rPr>
                      <m:t>/</m:t>
                    </m:r>
                    <m:d>
                      <m:dPr>
                        <m:ctrlPr>
                          <a:rPr lang="en-US" sz="3200" b="0" i="1" cap="none" smtClean="0">
                            <a:latin typeface="Cambria Math" panose="02040503050406030204" pitchFamily="18" charset="0"/>
                          </a:rPr>
                        </m:ctrlPr>
                      </m:dPr>
                      <m:e>
                        <m:r>
                          <a:rPr lang="en-US" sz="3200" b="0" i="1" cap="none" smtClean="0">
                            <a:latin typeface="Cambria Math" panose="02040503050406030204" pitchFamily="18" charset="0"/>
                          </a:rPr>
                          <m:t>𝑚𝑜𝑙</m:t>
                        </m:r>
                        <m:r>
                          <a:rPr lang="en-US" sz="3200" b="0" i="1" cap="none" smtClean="0">
                            <a:latin typeface="Cambria Math" panose="02040503050406030204" pitchFamily="18" charset="0"/>
                          </a:rPr>
                          <m:t>⋅</m:t>
                        </m:r>
                        <m:r>
                          <a:rPr lang="en-US" sz="3200" b="0" i="1" cap="none" smtClean="0">
                            <a:latin typeface="Cambria Math" panose="02040503050406030204" pitchFamily="18" charset="0"/>
                          </a:rPr>
                          <m:t>𝐾</m:t>
                        </m:r>
                      </m:e>
                    </m:d>
                    <m:r>
                      <a:rPr lang="en-US" sz="3200" b="0" i="1" cap="none" smtClean="0">
                        <a:latin typeface="Cambria Math" panose="02040503050406030204" pitchFamily="18" charset="0"/>
                      </a:rPr>
                      <m:t>, </m:t>
                    </m:r>
                    <m:r>
                      <a:rPr lang="en-US" sz="3200" b="0" i="1" cap="none" smtClean="0">
                        <a:latin typeface="Cambria Math" panose="02040503050406030204" pitchFamily="18" charset="0"/>
                      </a:rPr>
                      <m:t>𝑃</m:t>
                    </m:r>
                    <m:r>
                      <a:rPr lang="en-US" sz="3200" b="0" i="1" cap="none" smtClean="0">
                        <a:latin typeface="Cambria Math" panose="02040503050406030204" pitchFamily="18" charset="0"/>
                      </a:rPr>
                      <m:t>=101227.93 </m:t>
                    </m:r>
                    <m:r>
                      <a:rPr lang="en-US" sz="3200" b="0" i="1" cap="none" smtClean="0">
                        <a:latin typeface="Cambria Math" panose="02040503050406030204" pitchFamily="18" charset="0"/>
                      </a:rPr>
                      <m:t>𝑃𝑎</m:t>
                    </m:r>
                  </m:oMath>
                </a14:m>
                <a:endParaRPr lang="en-US" sz="3200" b="0" cap="none" dirty="0"/>
              </a:p>
            </p:txBody>
          </p:sp>
        </mc:Choice>
        <mc:Fallback>
          <p:sp>
            <p:nvSpPr>
              <p:cNvPr id="4" name="Text Placeholder 3">
                <a:extLst>
                  <a:ext uri="{FF2B5EF4-FFF2-40B4-BE49-F238E27FC236}">
                    <a16:creationId xmlns:a16="http://schemas.microsoft.com/office/drawing/2014/main" id="{48C87EFD-C655-0D53-25F4-D913C89F154A}"/>
                  </a:ext>
                </a:extLst>
              </p:cNvPr>
              <p:cNvSpPr>
                <a:spLocks noGrp="1" noRot="1" noChangeAspect="1" noMove="1" noResize="1" noEditPoints="1" noAdjustHandles="1" noChangeArrowheads="1" noChangeShapeType="1" noTextEdit="1"/>
              </p:cNvSpPr>
              <p:nvPr>
                <p:ph type="body" sz="half" idx="2"/>
              </p:nvPr>
            </p:nvSpPr>
            <p:spPr>
              <a:xfrm>
                <a:off x="913774" y="2044700"/>
                <a:ext cx="3935689" cy="4203700"/>
              </a:xfrm>
              <a:blipFill>
                <a:blip r:embed="rId2"/>
                <a:stretch>
                  <a:fillRect l="-4502" t="-601" r="-1929" b="-6607"/>
                </a:stretch>
              </a:blipFill>
            </p:spPr>
            <p:txBody>
              <a:bodyPr/>
              <a:lstStyle/>
              <a:p>
                <a:r>
                  <a:rPr lang="en-US">
                    <a:noFill/>
                  </a:rPr>
                  <a:t> </a:t>
                </a:r>
              </a:p>
            </p:txBody>
          </p:sp>
        </mc:Fallback>
      </mc:AlternateContent>
      <p:pic>
        <p:nvPicPr>
          <p:cNvPr id="8" name="Content Placeholder 7" descr="A graph with numbers and points&#10;&#10;AI-generated content may be incorrect.">
            <a:extLst>
              <a:ext uri="{FF2B5EF4-FFF2-40B4-BE49-F238E27FC236}">
                <a16:creationId xmlns:a16="http://schemas.microsoft.com/office/drawing/2014/main" id="{22A6A502-5237-27ED-D0AE-47FD41CF8104}"/>
              </a:ext>
            </a:extLst>
          </p:cNvPr>
          <p:cNvPicPr>
            <a:picLocks noGrp="1" noChangeAspect="1"/>
          </p:cNvPicPr>
          <p:nvPr>
            <p:ph sz="quarter" idx="13"/>
          </p:nvPr>
        </p:nvPicPr>
        <p:blipFill>
          <a:blip r:embed="rId3"/>
          <a:stretch>
            <a:fillRect/>
          </a:stretch>
        </p:blipFill>
        <p:spPr>
          <a:xfrm>
            <a:off x="5408692" y="1014116"/>
            <a:ext cx="6326107" cy="4829768"/>
          </a:xfrm>
          <a:prstGeom prst="rect">
            <a:avLst/>
          </a:prstGeom>
        </p:spPr>
      </p:pic>
    </p:spTree>
    <p:extLst>
      <p:ext uri="{BB962C8B-B14F-4D97-AF65-F5344CB8AC3E}">
        <p14:creationId xmlns:p14="http://schemas.microsoft.com/office/powerpoint/2010/main" val="1821994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8D231-F0E7-FCE4-188B-69D6127343CC}"/>
              </a:ext>
            </a:extLst>
          </p:cNvPr>
          <p:cNvSpPr>
            <a:spLocks noGrp="1"/>
          </p:cNvSpPr>
          <p:nvPr>
            <p:ph type="title"/>
          </p:nvPr>
        </p:nvSpPr>
        <p:spPr>
          <a:xfrm>
            <a:off x="913775" y="609600"/>
            <a:ext cx="3935688" cy="749300"/>
          </a:xfrm>
        </p:spPr>
        <p:txBody>
          <a:bodyPr/>
          <a:lstStyle/>
          <a:p>
            <a:r>
              <a:rPr lang="en-US" dirty="0"/>
              <a:t>Height discrepancy</a:t>
            </a:r>
          </a:p>
        </p:txBody>
      </p:sp>
      <p:sp>
        <p:nvSpPr>
          <p:cNvPr id="3" name="Content Placeholder 2">
            <a:extLst>
              <a:ext uri="{FF2B5EF4-FFF2-40B4-BE49-F238E27FC236}">
                <a16:creationId xmlns:a16="http://schemas.microsoft.com/office/drawing/2014/main" id="{9885C0D2-085A-6740-6976-E8AE87870B94}"/>
              </a:ext>
            </a:extLst>
          </p:cNvPr>
          <p:cNvSpPr>
            <a:spLocks noGrp="1"/>
          </p:cNvSpPr>
          <p:nvPr>
            <p:ph sz="quarter" idx="13"/>
          </p:nvPr>
        </p:nvSpPr>
        <p:spPr/>
        <p:txBody>
          <a:bodyPr/>
          <a:lstStyle/>
          <a:p>
            <a:r>
              <a:rPr lang="en-US" dirty="0"/>
              <a:t>Sources of error</a:t>
            </a:r>
          </a:p>
          <a:p>
            <a:pPr lvl="1"/>
            <a:r>
              <a:rPr lang="en-US" cap="none" dirty="0"/>
              <a:t>Active ventilation may have caused pressure gradients independent of altitude</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86F5B222-3CAE-1863-FE91-8A2A7D7FCE0E}"/>
                  </a:ext>
                </a:extLst>
              </p:cNvPr>
              <p:cNvSpPr>
                <a:spLocks noGrp="1"/>
              </p:cNvSpPr>
              <p:nvPr>
                <p:ph type="body" sz="half" idx="2"/>
              </p:nvPr>
            </p:nvSpPr>
            <p:spPr>
              <a:xfrm>
                <a:off x="913774" y="1358900"/>
                <a:ext cx="3935689" cy="4432300"/>
              </a:xfrm>
            </p:spPr>
            <p:txBody>
              <a:bodyPr>
                <a:normAutofit/>
              </a:bodyPr>
              <a:lstStyle/>
              <a:p>
                <a:r>
                  <a:rPr lang="en-US" sz="2000" cap="none" dirty="0"/>
                  <a:t>The height was estimated to be 395cm or about 4m between each floor. A 32% error in the slope suggest that the barometers think we are not changing each floor by 4m.</a:t>
                </a:r>
              </a:p>
              <a:p>
                <a:r>
                  <a:rPr lang="en-US" sz="2000" cap="none" dirty="0"/>
                  <a:t>If we use </a:t>
                </a:r>
                <a14:m>
                  <m:oMath xmlns:m="http://schemas.openxmlformats.org/officeDocument/2006/math">
                    <m:r>
                      <m:rPr>
                        <m:sty m:val="p"/>
                      </m:rPr>
                      <a:rPr lang="en-US" sz="2000" b="0" i="0" cap="none" smtClean="0">
                        <a:latin typeface="Cambria Math" panose="02040503050406030204" pitchFamily="18" charset="0"/>
                      </a:rPr>
                      <m:t>Δ</m:t>
                    </m:r>
                    <m:r>
                      <a:rPr lang="en-US" sz="2000" b="0" i="1" cap="none" smtClean="0">
                        <a:latin typeface="Cambria Math" panose="02040503050406030204" pitchFamily="18" charset="0"/>
                      </a:rPr>
                      <m:t>𝑦</m:t>
                    </m:r>
                    <m:r>
                      <a:rPr lang="en-US" sz="2000" b="0" i="1" cap="none" smtClean="0">
                        <a:latin typeface="Cambria Math" panose="02040503050406030204" pitchFamily="18" charset="0"/>
                      </a:rPr>
                      <m:t>=</m:t>
                    </m:r>
                    <m:f>
                      <m:fPr>
                        <m:ctrlPr>
                          <a:rPr lang="en-US" sz="2000" b="0" i="1" cap="none" smtClean="0">
                            <a:latin typeface="Cambria Math" panose="02040503050406030204" pitchFamily="18" charset="0"/>
                          </a:rPr>
                        </m:ctrlPr>
                      </m:fPr>
                      <m:num>
                        <m:r>
                          <m:rPr>
                            <m:sty m:val="p"/>
                          </m:rPr>
                          <a:rPr lang="en-US" sz="2000" b="0" i="0" cap="none" smtClean="0">
                            <a:latin typeface="Cambria Math" panose="02040503050406030204" pitchFamily="18" charset="0"/>
                          </a:rPr>
                          <m:t>Δ</m:t>
                        </m:r>
                        <m:r>
                          <a:rPr lang="en-US" sz="2000" b="0" i="1" cap="none" smtClean="0">
                            <a:latin typeface="Cambria Math" panose="02040503050406030204" pitchFamily="18" charset="0"/>
                          </a:rPr>
                          <m:t>𝑃</m:t>
                        </m:r>
                      </m:num>
                      <m:den>
                        <m:r>
                          <a:rPr lang="en-US" sz="2000" b="0" i="1" cap="none" smtClean="0">
                            <a:latin typeface="Cambria Math" panose="02040503050406030204" pitchFamily="18" charset="0"/>
                          </a:rPr>
                          <m:t>𝑔</m:t>
                        </m:r>
                        <m:sSub>
                          <m:sSubPr>
                            <m:ctrlPr>
                              <a:rPr lang="en-US" sz="2000" b="0" i="1" cap="none" smtClean="0">
                                <a:latin typeface="Cambria Math" panose="02040503050406030204" pitchFamily="18" charset="0"/>
                              </a:rPr>
                            </m:ctrlPr>
                          </m:sSubPr>
                          <m:e>
                            <m:r>
                              <a:rPr lang="en-US" sz="2000" b="0" i="1" cap="none" smtClean="0">
                                <a:latin typeface="Cambria Math" panose="02040503050406030204" pitchFamily="18" charset="0"/>
                              </a:rPr>
                              <m:t>𝜌</m:t>
                            </m:r>
                          </m:e>
                          <m:sub>
                            <m:r>
                              <a:rPr lang="en-US" sz="2000" b="0" i="1" cap="none" smtClean="0">
                                <a:latin typeface="Cambria Math" panose="02040503050406030204" pitchFamily="18" charset="0"/>
                              </a:rPr>
                              <m:t>𝑡h𝑒𝑜</m:t>
                            </m:r>
                          </m:sub>
                        </m:sSub>
                      </m:den>
                    </m:f>
                  </m:oMath>
                </a14:m>
                <a:endParaRPr lang="en-US" sz="2000" b="0" cap="none" dirty="0"/>
              </a:p>
              <a:p>
                <a:r>
                  <a:rPr lang="en-US" sz="2000" cap="none" dirty="0"/>
                  <a:t>We get 5.3m</a:t>
                </a:r>
                <a:endParaRPr lang="en-US" sz="2000" b="0" cap="none" dirty="0"/>
              </a:p>
              <a:p>
                <a:endParaRPr lang="en-US" sz="2000" b="0" cap="none" dirty="0"/>
              </a:p>
              <a:p>
                <a:endParaRPr lang="en-US" sz="2000" cap="none" dirty="0"/>
              </a:p>
            </p:txBody>
          </p:sp>
        </mc:Choice>
        <mc:Fallback>
          <p:sp>
            <p:nvSpPr>
              <p:cNvPr id="4" name="Text Placeholder 3">
                <a:extLst>
                  <a:ext uri="{FF2B5EF4-FFF2-40B4-BE49-F238E27FC236}">
                    <a16:creationId xmlns:a16="http://schemas.microsoft.com/office/drawing/2014/main" id="{86F5B222-3CAE-1863-FE91-8A2A7D7FCE0E}"/>
                  </a:ext>
                </a:extLst>
              </p:cNvPr>
              <p:cNvSpPr>
                <a:spLocks noGrp="1" noRot="1" noChangeAspect="1" noMove="1" noResize="1" noEditPoints="1" noAdjustHandles="1" noChangeArrowheads="1" noChangeShapeType="1" noTextEdit="1"/>
              </p:cNvSpPr>
              <p:nvPr>
                <p:ph type="body" sz="half" idx="2"/>
              </p:nvPr>
            </p:nvSpPr>
            <p:spPr>
              <a:xfrm>
                <a:off x="913774" y="1358900"/>
                <a:ext cx="3935689" cy="4432300"/>
              </a:xfrm>
              <a:blipFill>
                <a:blip r:embed="rId2"/>
                <a:stretch>
                  <a:fillRect l="-965" r="-2251"/>
                </a:stretch>
              </a:blipFill>
            </p:spPr>
            <p:txBody>
              <a:bodyPr/>
              <a:lstStyle/>
              <a:p>
                <a:r>
                  <a:rPr lang="en-US">
                    <a:noFill/>
                  </a:rPr>
                  <a:t> </a:t>
                </a:r>
              </a:p>
            </p:txBody>
          </p:sp>
        </mc:Fallback>
      </mc:AlternateContent>
    </p:spTree>
    <p:extLst>
      <p:ext uri="{BB962C8B-B14F-4D97-AF65-F5344CB8AC3E}">
        <p14:creationId xmlns:p14="http://schemas.microsoft.com/office/powerpoint/2010/main" val="2399237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7E23B-F539-C712-DA05-23023B656DE4}"/>
              </a:ext>
            </a:extLst>
          </p:cNvPr>
          <p:cNvSpPr>
            <a:spLocks noGrp="1"/>
          </p:cNvSpPr>
          <p:nvPr>
            <p:ph type="title"/>
          </p:nvPr>
        </p:nvSpPr>
        <p:spPr/>
        <p:txBody>
          <a:bodyPr/>
          <a:lstStyle/>
          <a:p>
            <a:r>
              <a:rPr lang="en-US" dirty="0"/>
              <a:t>Conclusion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54330BC-FCB6-9890-EA9F-74540299DC66}"/>
                  </a:ext>
                </a:extLst>
              </p:cNvPr>
              <p:cNvSpPr>
                <a:spLocks noGrp="1"/>
              </p:cNvSpPr>
              <p:nvPr>
                <p:ph sz="quarter" idx="13"/>
              </p:nvPr>
            </p:nvSpPr>
            <p:spPr/>
            <p:txBody>
              <a:bodyPr/>
              <a:lstStyle/>
              <a:p>
                <a:r>
                  <a:rPr lang="en-US" cap="none" dirty="0"/>
                  <a:t>The barometric data indicates an actual average floor height of 5.30 meters. Although the floors were initially estimated at 4m, the measured pressure drop per floor </a:t>
                </a:r>
                <a14:m>
                  <m:oMath xmlns:m="http://schemas.openxmlformats.org/officeDocument/2006/math">
                    <m:d>
                      <m:dPr>
                        <m:ctrlPr>
                          <a:rPr lang="en-US" i="1" cap="none" dirty="0" smtClean="0">
                            <a:latin typeface="Cambria Math" panose="02040503050406030204" pitchFamily="18" charset="0"/>
                          </a:rPr>
                        </m:ctrlPr>
                      </m:dPr>
                      <m:e>
                        <m:r>
                          <a:rPr lang="en-US" i="1" cap="none" dirty="0" smtClean="0">
                            <a:latin typeface="Cambria Math" panose="02040503050406030204" pitchFamily="18" charset="0"/>
                          </a:rPr>
                          <m:t>0.6257</m:t>
                        </m:r>
                        <m:r>
                          <m:rPr>
                            <m:nor/>
                          </m:rPr>
                          <a:rPr lang="en-US" i="0" cap="none" dirty="0">
                            <a:latin typeface="Cambria Math" panose="02040503050406030204" pitchFamily="18" charset="0"/>
                          </a:rPr>
                          <m:t> </m:t>
                        </m:r>
                        <m:r>
                          <m:rPr>
                            <m:nor/>
                          </m:rPr>
                          <a:rPr lang="en-US" i="0" cap="none" dirty="0" err="1">
                            <a:latin typeface="Cambria Math" panose="02040503050406030204" pitchFamily="18" charset="0"/>
                          </a:rPr>
                          <m:t>hpa</m:t>
                        </m:r>
                      </m:e>
                    </m:d>
                  </m:oMath>
                </a14:m>
                <a:r>
                  <a:rPr lang="en-US" cap="none" dirty="0"/>
                  <a:t> indicates a significantly greater vertical distance. While factors such as building ventilation (creating non-static gradients) could influence the results, the most robust physical explanation for the consistent pressure drop is that the architectural height of each floor is approximately 5.30 meters.</a:t>
                </a:r>
              </a:p>
            </p:txBody>
          </p:sp>
        </mc:Choice>
        <mc:Fallback>
          <p:sp>
            <p:nvSpPr>
              <p:cNvPr id="3" name="Content Placeholder 2">
                <a:extLst>
                  <a:ext uri="{FF2B5EF4-FFF2-40B4-BE49-F238E27FC236}">
                    <a16:creationId xmlns:a16="http://schemas.microsoft.com/office/drawing/2014/main" id="{954330BC-FCB6-9890-EA9F-74540299DC66}"/>
                  </a:ext>
                </a:extLst>
              </p:cNvPr>
              <p:cNvSpPr>
                <a:spLocks noGrp="1" noRot="1" noChangeAspect="1" noMove="1" noResize="1" noEditPoints="1" noAdjustHandles="1" noChangeArrowheads="1" noChangeShapeType="1" noTextEdit="1"/>
              </p:cNvSpPr>
              <p:nvPr>
                <p:ph sz="quarter" idx="13"/>
              </p:nvPr>
            </p:nvSpPr>
            <p:spPr>
              <a:blipFill>
                <a:blip r:embed="rId2"/>
                <a:stretch>
                  <a:fillRect l="-61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868A9A1F-D443-7281-85F3-29BC15D657E8}"/>
              </a:ext>
            </a:extLst>
          </p:cNvPr>
          <p:cNvSpPr>
            <a:spLocks noGrp="1"/>
          </p:cNvSpPr>
          <p:nvPr>
            <p:ph type="body" sz="half" idx="2"/>
          </p:nvPr>
        </p:nvSpPr>
        <p:spPr/>
        <p:txBody>
          <a:bodyPr/>
          <a:lstStyle/>
          <a:p>
            <a:r>
              <a:rPr lang="en-US" cap="none" dirty="0"/>
              <a:t>the results are shocking</a:t>
            </a:r>
          </a:p>
        </p:txBody>
      </p:sp>
    </p:spTree>
    <p:extLst>
      <p:ext uri="{BB962C8B-B14F-4D97-AF65-F5344CB8AC3E}">
        <p14:creationId xmlns:p14="http://schemas.microsoft.com/office/powerpoint/2010/main" val="343340186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122</TotalTime>
  <Words>664</Words>
  <Application>Microsoft Macintosh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Google Sans Text</vt:lpstr>
      <vt:lpstr>Arial</vt:lpstr>
      <vt:lpstr>Cambria Math</vt:lpstr>
      <vt:lpstr>Tw Cen MT</vt:lpstr>
      <vt:lpstr>Droplet</vt:lpstr>
      <vt:lpstr>Lab 1 Characterizing the Atmosphere</vt:lpstr>
      <vt:lpstr>Objective and Experiment</vt:lpstr>
      <vt:lpstr>Sensor Characterization</vt:lpstr>
      <vt:lpstr>Sensor Characterization</vt:lpstr>
      <vt:lpstr>Sensor characterization</vt:lpstr>
      <vt:lpstr>Modeling the relationship between Pressure vs height</vt:lpstr>
      <vt:lpstr>Modeling the relationship between Pressure vs height</vt:lpstr>
      <vt:lpstr>Modeling the relationship between Pressure vs height</vt:lpstr>
      <vt:lpstr>Height discrepancy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Daksh Khandelwal</dc:creator>
  <cp:lastModifiedBy>Daksh Khandelwal</cp:lastModifiedBy>
  <cp:revision>18</cp:revision>
  <dcterms:created xsi:type="dcterms:W3CDTF">2026-02-16T04:30:20Z</dcterms:created>
  <dcterms:modified xsi:type="dcterms:W3CDTF">2026-02-16T06:32:58Z</dcterms:modified>
</cp:coreProperties>
</file>