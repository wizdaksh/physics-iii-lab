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68" r:id="rId7"/>
    <p:sldId id="267" r:id="rId8"/>
    <p:sldId id="263" r:id="rId9"/>
    <p:sldId id="269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6164"/>
  </p:normalViewPr>
  <p:slideViewPr>
    <p:cSldViewPr snapToGrid="0">
      <p:cViewPr varScale="1">
        <p:scale>
          <a:sx n="71" d="100"/>
          <a:sy n="71" d="100"/>
        </p:scale>
        <p:origin x="192" y="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AD13-E6BC-79E6-F8E2-3F15168BE7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Lab 2</a:t>
            </a:r>
            <a:br>
              <a:rPr lang="en-US" sz="4400" dirty="0"/>
            </a:br>
            <a:r>
              <a:rPr lang="en-US" sz="4400" dirty="0"/>
              <a:t>Pressure and temperature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7CE5D-381D-9A2D-BABA-991516D7C1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Daksh Khandelwal</a:t>
            </a:r>
          </a:p>
        </p:txBody>
      </p:sp>
    </p:spTree>
    <p:extLst>
      <p:ext uri="{BB962C8B-B14F-4D97-AF65-F5344CB8AC3E}">
        <p14:creationId xmlns:p14="http://schemas.microsoft.com/office/powerpoint/2010/main" val="151686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F161A-66AC-63FC-0CAE-32A661A1D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and 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92ABD-1612-B5F6-F88B-704DDB50E91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/>
              <a:t>To determine the relationship between temperature and pressure of a gas</a:t>
            </a:r>
          </a:p>
          <a:p>
            <a:r>
              <a:rPr lang="en-US" cap="none" dirty="0"/>
              <a:t>Collecting pressure data with </a:t>
            </a:r>
            <a:r>
              <a:rPr lang="en-US" cap="none" dirty="0" err="1"/>
              <a:t>Phyphox</a:t>
            </a:r>
            <a:r>
              <a:rPr lang="en-US" cap="none" dirty="0"/>
              <a:t> by placing phones in a mason jar inside a fridge to cool down for 15 min.</a:t>
            </a:r>
          </a:p>
        </p:txBody>
      </p:sp>
    </p:spTree>
    <p:extLst>
      <p:ext uri="{BB962C8B-B14F-4D97-AF65-F5344CB8AC3E}">
        <p14:creationId xmlns:p14="http://schemas.microsoft.com/office/powerpoint/2010/main" val="914678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6B5C9-0E8F-F28A-6777-9EB7EB8F4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B496D-8D16-B4BA-68CC-0ADC40D5E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1435100"/>
          </a:xfrm>
        </p:spPr>
        <p:txBody>
          <a:bodyPr>
            <a:normAutofit/>
          </a:bodyPr>
          <a:lstStyle/>
          <a:p>
            <a:r>
              <a:rPr lang="en-US" dirty="0"/>
              <a:t>Raw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F77A9-7AD4-2495-4809-C97A796AB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3774" y="2044700"/>
            <a:ext cx="3935689" cy="4203700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cap="none" dirty="0"/>
              <a:t>Justin’s Android data was under sampled to match sample size of iPhone data for visualization and calculation purposes.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cap="none" dirty="0"/>
              <a:t>The android barometer appears to be calibrated differently from the iPhone’s (Allen, Joel, Tim)</a:t>
            </a:r>
            <a:br>
              <a:rPr lang="en-US" cap="none" dirty="0"/>
            </a:br>
            <a:endParaRPr lang="en-US" cap="none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63925EF-5F45-0E26-8352-8418F0AE1A2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5078413" y="1044563"/>
            <a:ext cx="6199187" cy="431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00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AB76A-54C2-2F3C-1B68-A9835015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561A7-A332-2BE8-A6E6-BB6A24531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1435100"/>
          </a:xfrm>
        </p:spPr>
        <p:txBody>
          <a:bodyPr>
            <a:normAutofit/>
          </a:bodyPr>
          <a:lstStyle/>
          <a:p>
            <a:r>
              <a:rPr lang="en-US" dirty="0"/>
              <a:t>Jar volume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8BF447B-23F6-8225-75A4-A01ED32E3515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913774" y="2044700"/>
                <a:ext cx="3935689" cy="4203700"/>
              </a:xfrm>
            </p:spPr>
            <p:txBody>
              <a:bodyPr>
                <a:no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cap="none" dirty="0"/>
                  <a:t> is less than the volume of the jar (4200 mL). This is because 6 phones were occupying the jar.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US" b="0" i="1" cap="none" smtClean="0">
                            <a:latin typeface="Cambria Math" panose="02040503050406030204" pitchFamily="18" charset="0"/>
                          </a:rPr>
                          <m:t>ar</m:t>
                        </m:r>
                      </m:sub>
                    </m:sSub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US" b="0" i="1" cap="none" smtClean="0">
                            <a:latin typeface="Cambria Math" panose="02040503050406030204" pitchFamily="18" charset="0"/>
                          </a:rPr>
                          <m:t>hones</m:t>
                        </m:r>
                      </m:sub>
                    </m:sSub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=0.0042</m:t>
                    </m:r>
                    <m:sSup>
                      <m:sSupPr>
                        <m:ctrlPr>
                          <a:rPr lang="en-US" b="0" i="1" cap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−0.000626</m:t>
                    </m:r>
                    <m:sSup>
                      <m:sSupPr>
                        <m:ctrlPr>
                          <a:rPr lang="en-US" b="0" i="1" cap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=0.003572</m:t>
                    </m:r>
                    <m:sSup>
                      <m:sSupPr>
                        <m:ctrlPr>
                          <a:rPr lang="en-US" b="0" i="1" cap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b="0" cap="none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b="0" cap="none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𝑝h𝑜𝑛𝑒𝑠</m:t>
                        </m:r>
                      </m:sub>
                    </m:sSub>
                  </m:oMath>
                </a14:m>
                <a:r>
                  <a:rPr lang="en-US" b="0" cap="none" dirty="0"/>
                  <a:t> was found by using the dimensions of my iPhone 16 Pro Max and multiplying by 6.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cap="none" dirty="0"/>
                  <a:t>No uncertainty in measurements because dimensions were found online, and models of other phones are unknown</a:t>
                </a:r>
                <a:r>
                  <a:rPr lang="en-US" b="0" cap="none" dirty="0"/>
                  <a:t> </a:t>
                </a:r>
                <a:endParaRPr lang="en-US" cap="none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E8BF447B-23F6-8225-75A4-A01ED32E3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913774" y="2044700"/>
                <a:ext cx="3935689" cy="4203700"/>
              </a:xfrm>
              <a:blipFill>
                <a:blip r:embed="rId2"/>
                <a:stretch>
                  <a:fillRect l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A204EAF-A97E-F121-B210-B2646A4D1AD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5078413" y="1519526"/>
            <a:ext cx="6199187" cy="336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52036-283E-3B55-F4AF-742576B28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5D96D-4211-2C13-7A30-2128DD6B8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1435100"/>
          </a:xfrm>
        </p:spPr>
        <p:txBody>
          <a:bodyPr>
            <a:normAutofit/>
          </a:bodyPr>
          <a:lstStyle/>
          <a:p>
            <a:r>
              <a:rPr lang="en-US" dirty="0"/>
              <a:t>Trend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9A70114E-C42B-9DF4-2D94-F4C078C1DE52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913774" y="2044700"/>
                <a:ext cx="3935689" cy="4203700"/>
              </a:xfrm>
            </p:spPr>
            <p:txBody>
              <a:bodyPr>
                <a:no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cap="none" dirty="0"/>
                  <a:t>As temperature decreased in the fridge, the pressure dropped linearly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cap="none" dirty="0"/>
                  <a:t>Using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cap="none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cap="none" dirty="0"/>
                  <a:t>, the slope was found to be 4.67 </a:t>
                </a:r>
                <a:r>
                  <a:rPr lang="en-US" cap="none" dirty="0" err="1"/>
                  <a:t>hPa</a:t>
                </a:r>
                <a:r>
                  <a:rPr lang="en-US" cap="none" dirty="0"/>
                  <a:t>/K and y intercept of -385.4775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cap="none" dirty="0"/>
                  <a:t>This confirms a direct proportionality between pressure and temperature at a constant volume (Gay-Lussac’s Law)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cap="none" dirty="0"/>
                  <a:t>Standard deviations of 0.06 </a:t>
                </a:r>
                <a:r>
                  <a:rPr lang="en-US" cap="none" dirty="0" err="1"/>
                  <a:t>hPa</a:t>
                </a:r>
                <a:r>
                  <a:rPr lang="en-US" cap="none" dirty="0"/>
                  <a:t> and 0.07 </a:t>
                </a:r>
                <a:r>
                  <a:rPr lang="en-US" cap="none" dirty="0" err="1"/>
                  <a:t>hPa</a:t>
                </a:r>
                <a:endParaRPr lang="en-US" cap="none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cap="none" dirty="0"/>
                  <a:t>The y intercept should be 0 as pressure is 0 when temperature is at absolute 0</a:t>
                </a:r>
                <a:br>
                  <a:rPr lang="en-US" cap="none" dirty="0"/>
                </a:br>
                <a:endParaRPr lang="en-US" cap="none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9A70114E-C42B-9DF4-2D94-F4C078C1DE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913774" y="2044700"/>
                <a:ext cx="3935689" cy="4203700"/>
              </a:xfrm>
              <a:blipFill>
                <a:blip r:embed="rId2"/>
                <a:stretch>
                  <a:fillRect l="-619" r="-20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77F3BF6-152E-39DB-DE11-4373C7DD7FB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5079038" y="1748126"/>
            <a:ext cx="6199187" cy="336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27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59F97-F69B-C143-F069-C6ED95BAD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D8BA2-EED1-D972-5D53-B05DC578F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1435100"/>
          </a:xfrm>
        </p:spPr>
        <p:txBody>
          <a:bodyPr>
            <a:normAutofit/>
          </a:bodyPr>
          <a:lstStyle/>
          <a:p>
            <a:r>
              <a:rPr lang="en-US" dirty="0"/>
              <a:t>Error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AEB7595-3968-F7E4-D8CE-1CA3ED02F3F8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913774" y="2044699"/>
                <a:ext cx="3935689" cy="4665193"/>
              </a:xfrm>
            </p:spPr>
            <p:txBody>
              <a:bodyPr>
                <a:no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cap="none" dirty="0"/>
                  <a:t>With finding V, we can find the number of moles using </a:t>
                </a:r>
                <a14:m>
                  <m:oMath xmlns:m="http://schemas.openxmlformats.org/officeDocument/2006/math">
                    <m:r>
                      <a:rPr lang="en-US" i="1" cap="none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cap="non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cap="none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en-US" i="1" cap="none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cap="none" dirty="0"/>
                  <a:t>, where </a:t>
                </a:r>
                <a14:m>
                  <m:oMath xmlns:m="http://schemas.openxmlformats.org/officeDocument/2006/math"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=0.003572</m:t>
                    </m:r>
                    <m:r>
                      <a:rPr lang="en-US" i="1" cap="none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cap="non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i="1" cap="none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cap="none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cap="none" dirty="0"/>
                  <a:t>We get </a:t>
                </a:r>
                <a14:m>
                  <m:oMath xmlns:m="http://schemas.openxmlformats.org/officeDocument/2006/math"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=0.2005 </m:t>
                    </m:r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𝑚𝑜𝑙</m:t>
                    </m:r>
                  </m:oMath>
                </a14:m>
                <a:r>
                  <a:rPr lang="en-US" b="0" cap="none" dirty="0"/>
                  <a:t> 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cap="none" dirty="0"/>
                  <a:t>The theoretical results were found by using ideal gas law 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cap="none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b="0" cap="non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cap="none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cap="none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b="0" cap="none" dirty="0"/>
                  <a:t>.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cap="none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b="0" cap="none" dirty="0"/>
                  <a:t> should be the same. We can take the mean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cap="none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cap="none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=0.1445</m:t>
                    </m:r>
                  </m:oMath>
                </a14:m>
                <a:endParaRPr lang="en-US" b="0" cap="none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cap="none" dirty="0"/>
                  <a:t>That is a percent error of </a:t>
                </a:r>
                <a14:m>
                  <m:oMath xmlns:m="http://schemas.openxmlformats.org/officeDocument/2006/math">
                    <m:r>
                      <a:rPr lang="en-US" b="0" i="1" cap="none" smtClean="0">
                        <a:latin typeface="Cambria Math" panose="02040503050406030204" pitchFamily="18" charset="0"/>
                      </a:rPr>
                      <m:t>38.88%</m:t>
                    </m:r>
                  </m:oMath>
                </a14:m>
                <a:r>
                  <a:rPr lang="en-US" b="0" cap="none" dirty="0"/>
                  <a:t> 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cap="none" dirty="0"/>
                  <a:t>This is likely due to the inaccurate measurements of the phone volume</a:t>
                </a:r>
                <a:endParaRPr lang="en-US" b="0" cap="none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endParaRPr lang="en-US" b="0" cap="none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endParaRPr lang="en-US" b="0" cap="none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endParaRPr lang="en-US" b="0" cap="none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endParaRPr lang="en-US" b="0" cap="none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endParaRPr lang="en-US" b="0" cap="none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endParaRPr lang="en-US" cap="none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FAEB7595-3968-F7E4-D8CE-1CA3ED02F3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913774" y="2044699"/>
                <a:ext cx="3935689" cy="4665193"/>
              </a:xfrm>
              <a:blipFill>
                <a:blip r:embed="rId2"/>
                <a:stretch>
                  <a:fillRect l="-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9C0608A-0C28-345C-6E68-E1E46241FA2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5078413" y="1519526"/>
            <a:ext cx="6199187" cy="336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045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7E23B-F539-C712-DA05-23023B656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30BC-FCB6-9890-EA9F-74540299DC6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cap="none" dirty="0"/>
              <a:t>The experiment successfully demonstrated the Ideal Gas Law, the pressure temperature relationship remained linear as predicted</a:t>
            </a:r>
          </a:p>
          <a:p>
            <a:r>
              <a:rPr lang="en-US" cap="none" dirty="0"/>
              <a:t>Result: the calculated number of moles was 0.2005 </a:t>
            </a:r>
          </a:p>
          <a:p>
            <a:r>
              <a:rPr lang="en-US" cap="none" dirty="0"/>
              <a:t>While there was a 38.9% error, the high correlation in the slope proves that a smartphone and a mason jar are effective tools for observing fundamental thermodynamic laws.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8A9A1F-D443-7281-85F3-29BC15D657E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343340186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0CEFF5852D694286F2BC0CE7A6C997" ma:contentTypeVersion="6" ma:contentTypeDescription="Create a new document." ma:contentTypeScope="" ma:versionID="526a12cdb4104c8474d1a1c7b98d28ce">
  <xsd:schema xmlns:xsd="http://www.w3.org/2001/XMLSchema" xmlns:xs="http://www.w3.org/2001/XMLSchema" xmlns:p="http://schemas.microsoft.com/office/2006/metadata/properties" xmlns:ns3="c64525cb-669c-474a-bb1c-a1df3ff42bd0" targetNamespace="http://schemas.microsoft.com/office/2006/metadata/properties" ma:root="true" ma:fieldsID="bbbd96e4c2bf71238f876c69fa445afd" ns3:_="">
    <xsd:import namespace="c64525cb-669c-474a-bb1c-a1df3ff42bd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4525cb-669c-474a-bb1c-a1df3ff42bd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64525cb-669c-474a-bb1c-a1df3ff42bd0" xsi:nil="true"/>
  </documentManagement>
</p:properties>
</file>

<file path=customXml/itemProps1.xml><?xml version="1.0" encoding="utf-8"?>
<ds:datastoreItem xmlns:ds="http://schemas.openxmlformats.org/officeDocument/2006/customXml" ds:itemID="{737607DC-AD28-4B6A-9497-E6CBE4D39B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4525cb-669c-474a-bb1c-a1df3ff42b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37C8FD-C768-4F57-B223-C8CB82EB09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12DD3B-FC0C-42E4-A0E5-A7F5E43A6E5A}">
  <ds:schemaRefs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www.w3.org/XML/1998/namespace"/>
    <ds:schemaRef ds:uri="http://purl.org/dc/dcmitype/"/>
    <ds:schemaRef ds:uri="http://schemas.microsoft.com/office/2006/metadata/properties"/>
    <ds:schemaRef ds:uri="c64525cb-669c-474a-bb1c-a1df3ff42bd0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atmosphere-presentation</Template>
  <TotalTime>132</TotalTime>
  <Words>375</Words>
  <Application>Microsoft Macintosh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 Math</vt:lpstr>
      <vt:lpstr>Tw Cen MT</vt:lpstr>
      <vt:lpstr>Droplet</vt:lpstr>
      <vt:lpstr>Lab 2 Pressure and temperature</vt:lpstr>
      <vt:lpstr>Objective and Experiment</vt:lpstr>
      <vt:lpstr>Raw data</vt:lpstr>
      <vt:lpstr>Jar volume</vt:lpstr>
      <vt:lpstr>Trend line</vt:lpstr>
      <vt:lpstr>Error 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 Khandelwal</dc:creator>
  <cp:lastModifiedBy>Daksh Khandelwal</cp:lastModifiedBy>
  <cp:revision>7</cp:revision>
  <dcterms:created xsi:type="dcterms:W3CDTF">2026-02-28T13:42:43Z</dcterms:created>
  <dcterms:modified xsi:type="dcterms:W3CDTF">2026-05-04T15:43:25Z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0x010100300CEFF5852D694286F2BC0CE7A6C997</vt:lpwstr>
  </property>
</Properties>
</file>